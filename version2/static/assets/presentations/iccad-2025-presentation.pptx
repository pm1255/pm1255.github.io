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1" r:id="rId8"/>
    <p:sldId id="262" r:id="rId9"/>
    <p:sldId id="263" r:id="rId10"/>
    <p:sldId id="264" r:id="rId11"/>
    <p:sldId id="266" r:id="rId12"/>
    <p:sldId id="265" r:id="rId13"/>
    <p:sldId id="267" r:id="rId14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7188"/>
    <a:srgbClr val="288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68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waves with gold dots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50831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30506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  <p:pic>
        <p:nvPicPr>
          <p:cNvPr id="12" name="Picture 11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24" y="976254"/>
            <a:ext cx="3466352" cy="24056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waves with gold dots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50831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30506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  <p:pic>
        <p:nvPicPr>
          <p:cNvPr id="12" name="Picture 11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24" y="976254"/>
            <a:ext cx="3466352" cy="24056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blue background&#10;&#10;AI-generated content may be incorrect.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9718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blue background&#10;&#10;AI-generated content may be incorrect.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16F49-4F4B-46FB-8805-F694C6E1DD2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19FA4-1B70-42EA-9153-BC39DA3B579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9718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2" Type="http://schemas.openxmlformats.org/officeDocument/2006/relationships/slideLayout" Target="../slideLayouts/slideLayout2.xml"/><Relationship Id="rId61" Type="http://schemas.openxmlformats.org/officeDocument/2006/relationships/tags" Target="../tags/tag59.xml"/><Relationship Id="rId60" Type="http://schemas.openxmlformats.org/officeDocument/2006/relationships/tags" Target="../tags/tag58.xml"/><Relationship Id="rId6" Type="http://schemas.openxmlformats.org/officeDocument/2006/relationships/tags" Target="../tags/tag4.xml"/><Relationship Id="rId59" Type="http://schemas.openxmlformats.org/officeDocument/2006/relationships/tags" Target="../tags/tag57.xml"/><Relationship Id="rId58" Type="http://schemas.openxmlformats.org/officeDocument/2006/relationships/tags" Target="../tags/tag56.xml"/><Relationship Id="rId57" Type="http://schemas.openxmlformats.org/officeDocument/2006/relationships/tags" Target="../tags/tag55.xml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3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tags" Target="../tags/tag2.xml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1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5.sv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image" Target="../media/image5.svg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7.svg"/><Relationship Id="rId11" Type="http://schemas.openxmlformats.org/officeDocument/2006/relationships/image" Target="../media/image6.png"/><Relationship Id="rId10" Type="http://schemas.openxmlformats.org/officeDocument/2006/relationships/tags" Target="../tags/tag6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6.png"/><Relationship Id="rId2" Type="http://schemas.openxmlformats.org/officeDocument/2006/relationships/image" Target="../media/image14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25700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zh-CN" sz="4400"/>
              <a:t>VERIRL: Boosting the LLM-based Verilog Code</a:t>
            </a:r>
            <a:br>
              <a:rPr lang="en-US" altLang="zh-CN" sz="4400"/>
            </a:br>
            <a:r>
              <a:rPr lang="en-US" altLang="zh-CN" sz="4400"/>
              <a:t>Generation via Reinforcement Learning</a:t>
            </a:r>
            <a:endParaRPr lang="en-US" altLang="zh-CN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197206"/>
            <a:ext cx="9144000" cy="1655762"/>
          </a:xfrm>
        </p:spPr>
        <p:txBody>
          <a:bodyPr>
            <a:no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 Teng, Miao Pan, Xuhong Zhang, Zhezhi He, Yiyao Yang, Xinyi Chai, Mengnan Qi, Liqiang Lu, Jianwei Yin</a:t>
            </a:r>
            <a:endParaRPr lang="en-US" altLang="zh-CN" sz="28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endParaRPr lang="en-US" altLang="zh-CN" sz="28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浙江大学-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1700" y="133350"/>
            <a:ext cx="956945" cy="95694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8" name="矩形 7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14673" y="178263"/>
            <a:ext cx="295211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Background</a:t>
            </a:r>
            <a:endParaRPr lang="en-US" altLang="zh-CN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0" name="Group 4"/>
          <p:cNvGrpSpPr>
            <a:grpSpLocks noChangeAspect="1"/>
          </p:cNvGrpSpPr>
          <p:nvPr>
            <p:custDataLst>
              <p:tags r:id="rId3"/>
            </p:custDataLst>
          </p:nvPr>
        </p:nvGrpSpPr>
        <p:grpSpPr bwMode="auto">
          <a:xfrm>
            <a:off x="2798841" y="1090000"/>
            <a:ext cx="5097689" cy="5095796"/>
            <a:chOff x="943" y="1000"/>
            <a:chExt cx="2696" cy="2695"/>
          </a:xfrm>
        </p:grpSpPr>
        <p:sp>
          <p:nvSpPr>
            <p:cNvPr id="51" name="Freeform 5"/>
            <p:cNvSpPr/>
            <p:nvPr>
              <p:custDataLst>
                <p:tags r:id="rId4"/>
              </p:custDataLst>
            </p:nvPr>
          </p:nvSpPr>
          <p:spPr bwMode="auto">
            <a:xfrm>
              <a:off x="2362" y="1002"/>
              <a:ext cx="1277" cy="1544"/>
            </a:xfrm>
            <a:custGeom>
              <a:avLst/>
              <a:gdLst>
                <a:gd name="T0" fmla="*/ 0 w 539"/>
                <a:gd name="T1" fmla="*/ 322 h 652"/>
                <a:gd name="T2" fmla="*/ 218 w 539"/>
                <a:gd name="T3" fmla="*/ 564 h 652"/>
                <a:gd name="T4" fmla="*/ 379 w 539"/>
                <a:gd name="T5" fmla="*/ 652 h 652"/>
                <a:gd name="T6" fmla="*/ 539 w 539"/>
                <a:gd name="T7" fmla="*/ 564 h 652"/>
                <a:gd name="T8" fmla="*/ 2 w 539"/>
                <a:gd name="T9" fmla="*/ 0 h 652"/>
                <a:gd name="T10" fmla="*/ 89 w 539"/>
                <a:gd name="T11" fmla="*/ 158 h 652"/>
                <a:gd name="T12" fmla="*/ 0 w 539"/>
                <a:gd name="T13" fmla="*/ 322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9" h="652">
                  <a:moveTo>
                    <a:pt x="0" y="322"/>
                  </a:moveTo>
                  <a:cubicBezTo>
                    <a:pt x="122" y="337"/>
                    <a:pt x="216" y="439"/>
                    <a:pt x="218" y="564"/>
                  </a:cubicBezTo>
                  <a:cubicBezTo>
                    <a:pt x="379" y="652"/>
                    <a:pt x="379" y="652"/>
                    <a:pt x="379" y="652"/>
                  </a:cubicBezTo>
                  <a:cubicBezTo>
                    <a:pt x="539" y="564"/>
                    <a:pt x="539" y="564"/>
                    <a:pt x="539" y="564"/>
                  </a:cubicBezTo>
                  <a:cubicBezTo>
                    <a:pt x="536" y="263"/>
                    <a:pt x="300" y="17"/>
                    <a:pt x="2" y="0"/>
                  </a:cubicBezTo>
                  <a:cubicBezTo>
                    <a:pt x="89" y="158"/>
                    <a:pt x="89" y="158"/>
                    <a:pt x="89" y="158"/>
                  </a:cubicBezTo>
                  <a:lnTo>
                    <a:pt x="0" y="32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52" name="Freeform 6"/>
            <p:cNvSpPr/>
            <p:nvPr>
              <p:custDataLst>
                <p:tags r:id="rId5"/>
              </p:custDataLst>
            </p:nvPr>
          </p:nvSpPr>
          <p:spPr bwMode="auto">
            <a:xfrm>
              <a:off x="943" y="1000"/>
              <a:ext cx="1545" cy="1276"/>
            </a:xfrm>
            <a:custGeom>
              <a:avLst/>
              <a:gdLst>
                <a:gd name="T0" fmla="*/ 322 w 652"/>
                <a:gd name="T1" fmla="*/ 539 h 539"/>
                <a:gd name="T2" fmla="*/ 564 w 652"/>
                <a:gd name="T3" fmla="*/ 321 h 539"/>
                <a:gd name="T4" fmla="*/ 652 w 652"/>
                <a:gd name="T5" fmla="*/ 160 h 539"/>
                <a:gd name="T6" fmla="*/ 564 w 652"/>
                <a:gd name="T7" fmla="*/ 0 h 539"/>
                <a:gd name="T8" fmla="*/ 0 w 652"/>
                <a:gd name="T9" fmla="*/ 537 h 539"/>
                <a:gd name="T10" fmla="*/ 159 w 652"/>
                <a:gd name="T11" fmla="*/ 450 h 539"/>
                <a:gd name="T12" fmla="*/ 322 w 652"/>
                <a:gd name="T13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539">
                  <a:moveTo>
                    <a:pt x="322" y="539"/>
                  </a:moveTo>
                  <a:cubicBezTo>
                    <a:pt x="337" y="417"/>
                    <a:pt x="439" y="323"/>
                    <a:pt x="564" y="321"/>
                  </a:cubicBezTo>
                  <a:cubicBezTo>
                    <a:pt x="652" y="160"/>
                    <a:pt x="652" y="160"/>
                    <a:pt x="652" y="160"/>
                  </a:cubicBezTo>
                  <a:cubicBezTo>
                    <a:pt x="564" y="0"/>
                    <a:pt x="564" y="0"/>
                    <a:pt x="564" y="0"/>
                  </a:cubicBezTo>
                  <a:cubicBezTo>
                    <a:pt x="263" y="3"/>
                    <a:pt x="17" y="239"/>
                    <a:pt x="0" y="537"/>
                  </a:cubicBezTo>
                  <a:cubicBezTo>
                    <a:pt x="159" y="450"/>
                    <a:pt x="159" y="450"/>
                    <a:pt x="159" y="450"/>
                  </a:cubicBezTo>
                  <a:lnTo>
                    <a:pt x="322" y="5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id-ID" dirty="0">
                <a:solidFill>
                  <a:prstClr val="black"/>
                </a:solidFill>
              </a:endParaRPr>
            </a:p>
          </p:txBody>
        </p:sp>
        <p:sp>
          <p:nvSpPr>
            <p:cNvPr id="53" name="Freeform 7"/>
            <p:cNvSpPr/>
            <p:nvPr>
              <p:custDataLst>
                <p:tags r:id="rId6"/>
              </p:custDataLst>
            </p:nvPr>
          </p:nvSpPr>
          <p:spPr bwMode="auto">
            <a:xfrm>
              <a:off x="2092" y="2421"/>
              <a:ext cx="1544" cy="1274"/>
            </a:xfrm>
            <a:custGeom>
              <a:avLst/>
              <a:gdLst>
                <a:gd name="T0" fmla="*/ 652 w 652"/>
                <a:gd name="T1" fmla="*/ 2 h 538"/>
                <a:gd name="T2" fmla="*/ 494 w 652"/>
                <a:gd name="T3" fmla="*/ 89 h 538"/>
                <a:gd name="T4" fmla="*/ 330 w 652"/>
                <a:gd name="T5" fmla="*/ 0 h 538"/>
                <a:gd name="T6" fmla="*/ 88 w 652"/>
                <a:gd name="T7" fmla="*/ 218 h 538"/>
                <a:gd name="T8" fmla="*/ 0 w 652"/>
                <a:gd name="T9" fmla="*/ 379 h 538"/>
                <a:gd name="T10" fmla="*/ 88 w 652"/>
                <a:gd name="T11" fmla="*/ 538 h 538"/>
                <a:gd name="T12" fmla="*/ 652 w 652"/>
                <a:gd name="T13" fmla="*/ 2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538">
                  <a:moveTo>
                    <a:pt x="652" y="2"/>
                  </a:moveTo>
                  <a:cubicBezTo>
                    <a:pt x="494" y="89"/>
                    <a:pt x="494" y="89"/>
                    <a:pt x="494" y="89"/>
                  </a:cubicBezTo>
                  <a:cubicBezTo>
                    <a:pt x="330" y="0"/>
                    <a:pt x="330" y="0"/>
                    <a:pt x="330" y="0"/>
                  </a:cubicBezTo>
                  <a:cubicBezTo>
                    <a:pt x="315" y="122"/>
                    <a:pt x="213" y="216"/>
                    <a:pt x="88" y="218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88" y="538"/>
                    <a:pt x="88" y="538"/>
                    <a:pt x="88" y="538"/>
                  </a:cubicBezTo>
                  <a:cubicBezTo>
                    <a:pt x="389" y="536"/>
                    <a:pt x="635" y="300"/>
                    <a:pt x="652" y="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54" name="Freeform 8"/>
            <p:cNvSpPr/>
            <p:nvPr>
              <p:custDataLst>
                <p:tags r:id="rId7"/>
              </p:custDataLst>
            </p:nvPr>
          </p:nvSpPr>
          <p:spPr bwMode="auto">
            <a:xfrm>
              <a:off x="943" y="2151"/>
              <a:ext cx="1275" cy="1544"/>
            </a:xfrm>
            <a:custGeom>
              <a:avLst/>
              <a:gdLst>
                <a:gd name="T0" fmla="*/ 538 w 538"/>
                <a:gd name="T1" fmla="*/ 330 h 652"/>
                <a:gd name="T2" fmla="*/ 320 w 538"/>
                <a:gd name="T3" fmla="*/ 88 h 652"/>
                <a:gd name="T4" fmla="*/ 159 w 538"/>
                <a:gd name="T5" fmla="*/ 0 h 652"/>
                <a:gd name="T6" fmla="*/ 0 w 538"/>
                <a:gd name="T7" fmla="*/ 88 h 652"/>
                <a:gd name="T8" fmla="*/ 536 w 538"/>
                <a:gd name="T9" fmla="*/ 652 h 652"/>
                <a:gd name="T10" fmla="*/ 449 w 538"/>
                <a:gd name="T11" fmla="*/ 493 h 652"/>
                <a:gd name="T12" fmla="*/ 538 w 538"/>
                <a:gd name="T13" fmla="*/ 330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8" h="652">
                  <a:moveTo>
                    <a:pt x="538" y="330"/>
                  </a:moveTo>
                  <a:cubicBezTo>
                    <a:pt x="416" y="315"/>
                    <a:pt x="322" y="213"/>
                    <a:pt x="320" y="88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2" y="389"/>
                    <a:pt x="238" y="635"/>
                    <a:pt x="536" y="652"/>
                  </a:cubicBezTo>
                  <a:cubicBezTo>
                    <a:pt x="449" y="493"/>
                    <a:pt x="449" y="493"/>
                    <a:pt x="449" y="493"/>
                  </a:cubicBezTo>
                  <a:lnTo>
                    <a:pt x="538" y="33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55" name="Group 22"/>
          <p:cNvGrpSpPr/>
          <p:nvPr>
            <p:custDataLst>
              <p:tags r:id="rId8"/>
            </p:custDataLst>
          </p:nvPr>
        </p:nvGrpSpPr>
        <p:grpSpPr>
          <a:xfrm>
            <a:off x="465700" y="1885494"/>
            <a:ext cx="3069657" cy="376607"/>
            <a:chOff x="1582038" y="2697524"/>
            <a:chExt cx="2577213" cy="316190"/>
          </a:xfrm>
        </p:grpSpPr>
        <p:cxnSp>
          <p:nvCxnSpPr>
            <p:cNvPr id="56" name="Straight Connector 23"/>
            <p:cNvCxnSpPr/>
            <p:nvPr>
              <p:custDataLst>
                <p:tags r:id="rId9"/>
              </p:custDataLst>
            </p:nvPr>
          </p:nvCxnSpPr>
          <p:spPr>
            <a:xfrm flipH="1" flipV="1">
              <a:off x="3661285" y="2697524"/>
              <a:ext cx="497966" cy="3161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24"/>
            <p:cNvCxnSpPr/>
            <p:nvPr>
              <p:custDataLst>
                <p:tags r:id="rId10"/>
              </p:custDataLst>
            </p:nvPr>
          </p:nvCxnSpPr>
          <p:spPr>
            <a:xfrm flipH="1">
              <a:off x="1582038" y="2697524"/>
              <a:ext cx="2079249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26"/>
          <p:cNvGrpSpPr/>
          <p:nvPr>
            <p:custDataLst>
              <p:tags r:id="rId11"/>
            </p:custDataLst>
          </p:nvPr>
        </p:nvGrpSpPr>
        <p:grpSpPr>
          <a:xfrm>
            <a:off x="602331" y="4839799"/>
            <a:ext cx="2970240" cy="376607"/>
            <a:chOff x="1804697" y="4994858"/>
            <a:chExt cx="2493744" cy="316190"/>
          </a:xfrm>
        </p:grpSpPr>
        <p:cxnSp>
          <p:nvCxnSpPr>
            <p:cNvPr id="59" name="Straight Connector 27"/>
            <p:cNvCxnSpPr/>
            <p:nvPr>
              <p:custDataLst>
                <p:tags r:id="rId12"/>
              </p:custDataLst>
            </p:nvPr>
          </p:nvCxnSpPr>
          <p:spPr>
            <a:xfrm flipH="1">
              <a:off x="3800475" y="4994858"/>
              <a:ext cx="497966" cy="3161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28"/>
            <p:cNvCxnSpPr/>
            <p:nvPr>
              <p:custDataLst>
                <p:tags r:id="rId13"/>
              </p:custDataLst>
            </p:nvPr>
          </p:nvCxnSpPr>
          <p:spPr>
            <a:xfrm flipH="1">
              <a:off x="1804697" y="5311048"/>
              <a:ext cx="1995779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29"/>
          <p:cNvGrpSpPr/>
          <p:nvPr>
            <p:custDataLst>
              <p:tags r:id="rId14"/>
            </p:custDataLst>
          </p:nvPr>
        </p:nvGrpSpPr>
        <p:grpSpPr>
          <a:xfrm>
            <a:off x="6752407" y="1640694"/>
            <a:ext cx="3338896" cy="376607"/>
            <a:chOff x="7528087" y="2680840"/>
            <a:chExt cx="2803259" cy="316190"/>
          </a:xfrm>
        </p:grpSpPr>
        <p:cxnSp>
          <p:nvCxnSpPr>
            <p:cNvPr id="62" name="Straight Connector 30"/>
            <p:cNvCxnSpPr/>
            <p:nvPr>
              <p:custDataLst>
                <p:tags r:id="rId15"/>
              </p:custDataLst>
            </p:nvPr>
          </p:nvCxnSpPr>
          <p:spPr>
            <a:xfrm flipV="1">
              <a:off x="7528087" y="2680840"/>
              <a:ext cx="497966" cy="3161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31"/>
            <p:cNvCxnSpPr/>
            <p:nvPr>
              <p:custDataLst>
                <p:tags r:id="rId16"/>
              </p:custDataLst>
            </p:nvPr>
          </p:nvCxnSpPr>
          <p:spPr>
            <a:xfrm>
              <a:off x="8026053" y="2680840"/>
              <a:ext cx="230529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32"/>
          <p:cNvGrpSpPr/>
          <p:nvPr>
            <p:custDataLst>
              <p:tags r:id="rId17"/>
            </p:custDataLst>
          </p:nvPr>
        </p:nvGrpSpPr>
        <p:grpSpPr>
          <a:xfrm>
            <a:off x="7467961" y="4907188"/>
            <a:ext cx="2846191" cy="241828"/>
            <a:chOff x="8125333" y="4745260"/>
            <a:chExt cx="2389596" cy="203034"/>
          </a:xfrm>
        </p:grpSpPr>
        <p:cxnSp>
          <p:nvCxnSpPr>
            <p:cNvPr id="65" name="Straight Connector 33"/>
            <p:cNvCxnSpPr/>
            <p:nvPr>
              <p:custDataLst>
                <p:tags r:id="rId18"/>
              </p:custDataLst>
            </p:nvPr>
          </p:nvCxnSpPr>
          <p:spPr>
            <a:xfrm>
              <a:off x="8125333" y="4745260"/>
              <a:ext cx="522140" cy="20303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34"/>
            <p:cNvCxnSpPr/>
            <p:nvPr>
              <p:custDataLst>
                <p:tags r:id="rId19"/>
              </p:custDataLst>
            </p:nvPr>
          </p:nvCxnSpPr>
          <p:spPr>
            <a:xfrm>
              <a:off x="8647472" y="4948294"/>
              <a:ext cx="186745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70"/>
          <p:cNvSpPr txBox="1"/>
          <p:nvPr>
            <p:custDataLst>
              <p:tags r:id="rId20"/>
            </p:custDataLst>
          </p:nvPr>
        </p:nvSpPr>
        <p:spPr>
          <a:xfrm>
            <a:off x="264795" y="1351280"/>
            <a:ext cx="319341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Concurrency &amp; Timing</a:t>
            </a:r>
            <a:endParaRPr lang="en-US" altLang="zh-CN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03" name="TextBox 71"/>
          <p:cNvSpPr txBox="1"/>
          <p:nvPr>
            <p:custDataLst>
              <p:tags r:id="rId21"/>
            </p:custDataLst>
          </p:nvPr>
        </p:nvSpPr>
        <p:spPr>
          <a:xfrm>
            <a:off x="234950" y="4693920"/>
            <a:ext cx="316484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Pattern Memorization</a:t>
            </a:r>
            <a:r>
              <a:rPr lang="en-US" altLang="zh-CN" b="1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endParaRPr lang="en-US" altLang="zh-CN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04" name="TextBox 72"/>
          <p:cNvSpPr txBox="1"/>
          <p:nvPr>
            <p:custDataLst>
              <p:tags r:id="rId22"/>
            </p:custDataLst>
          </p:nvPr>
        </p:nvSpPr>
        <p:spPr>
          <a:xfrm>
            <a:off x="6155055" y="1172845"/>
            <a:ext cx="418084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Strict Syntax &amp; Verification</a:t>
            </a:r>
            <a:endParaRPr lang="en-US" altLang="zh-CN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05" name="TextBox 73"/>
          <p:cNvSpPr txBox="1"/>
          <p:nvPr>
            <p:custDataLst>
              <p:tags r:id="rId23"/>
            </p:custDataLst>
          </p:nvPr>
        </p:nvSpPr>
        <p:spPr>
          <a:xfrm>
            <a:off x="7148195" y="4599305"/>
            <a:ext cx="321373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Generalization</a:t>
            </a:r>
            <a:endParaRPr lang="en-US" altLang="zh-CN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106" name="Group 74"/>
          <p:cNvGrpSpPr/>
          <p:nvPr>
            <p:custDataLst>
              <p:tags r:id="rId24"/>
            </p:custDataLst>
          </p:nvPr>
        </p:nvGrpSpPr>
        <p:grpSpPr>
          <a:xfrm>
            <a:off x="3649107" y="4385342"/>
            <a:ext cx="593522" cy="592153"/>
            <a:chOff x="6294438" y="-201813"/>
            <a:chExt cx="687387" cy="685801"/>
          </a:xfrm>
          <a:solidFill>
            <a:schemeClr val="bg1"/>
          </a:solidFill>
        </p:grpSpPr>
        <p:sp>
          <p:nvSpPr>
            <p:cNvPr id="107" name="Freeform 10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6294438" y="-201813"/>
              <a:ext cx="687387" cy="685801"/>
            </a:xfrm>
            <a:custGeom>
              <a:avLst/>
              <a:gdLst>
                <a:gd name="T0" fmla="*/ 163 w 180"/>
                <a:gd name="T1" fmla="*/ 0 h 180"/>
                <a:gd name="T2" fmla="*/ 39 w 180"/>
                <a:gd name="T3" fmla="*/ 0 h 180"/>
                <a:gd name="T4" fmla="*/ 23 w 180"/>
                <a:gd name="T5" fmla="*/ 17 h 180"/>
                <a:gd name="T6" fmla="*/ 23 w 180"/>
                <a:gd name="T7" fmla="*/ 28 h 180"/>
                <a:gd name="T8" fmla="*/ 17 w 180"/>
                <a:gd name="T9" fmla="*/ 28 h 180"/>
                <a:gd name="T10" fmla="*/ 0 w 180"/>
                <a:gd name="T11" fmla="*/ 45 h 180"/>
                <a:gd name="T12" fmla="*/ 0 w 180"/>
                <a:gd name="T13" fmla="*/ 158 h 180"/>
                <a:gd name="T14" fmla="*/ 23 w 180"/>
                <a:gd name="T15" fmla="*/ 180 h 180"/>
                <a:gd name="T16" fmla="*/ 158 w 180"/>
                <a:gd name="T17" fmla="*/ 180 h 180"/>
                <a:gd name="T18" fmla="*/ 180 w 180"/>
                <a:gd name="T19" fmla="*/ 158 h 180"/>
                <a:gd name="T20" fmla="*/ 180 w 180"/>
                <a:gd name="T21" fmla="*/ 17 h 180"/>
                <a:gd name="T22" fmla="*/ 163 w 180"/>
                <a:gd name="T23" fmla="*/ 0 h 180"/>
                <a:gd name="T24" fmla="*/ 169 w 180"/>
                <a:gd name="T25" fmla="*/ 158 h 180"/>
                <a:gd name="T26" fmla="*/ 158 w 180"/>
                <a:gd name="T27" fmla="*/ 169 h 180"/>
                <a:gd name="T28" fmla="*/ 23 w 180"/>
                <a:gd name="T29" fmla="*/ 169 h 180"/>
                <a:gd name="T30" fmla="*/ 11 w 180"/>
                <a:gd name="T31" fmla="*/ 158 h 180"/>
                <a:gd name="T32" fmla="*/ 11 w 180"/>
                <a:gd name="T33" fmla="*/ 45 h 180"/>
                <a:gd name="T34" fmla="*/ 17 w 180"/>
                <a:gd name="T35" fmla="*/ 39 h 180"/>
                <a:gd name="T36" fmla="*/ 23 w 180"/>
                <a:gd name="T37" fmla="*/ 39 h 180"/>
                <a:gd name="T38" fmla="*/ 23 w 180"/>
                <a:gd name="T39" fmla="*/ 152 h 180"/>
                <a:gd name="T40" fmla="*/ 28 w 180"/>
                <a:gd name="T41" fmla="*/ 158 h 180"/>
                <a:gd name="T42" fmla="*/ 34 w 180"/>
                <a:gd name="T43" fmla="*/ 152 h 180"/>
                <a:gd name="T44" fmla="*/ 34 w 180"/>
                <a:gd name="T45" fmla="*/ 17 h 180"/>
                <a:gd name="T46" fmla="*/ 39 w 180"/>
                <a:gd name="T47" fmla="*/ 11 h 180"/>
                <a:gd name="T48" fmla="*/ 163 w 180"/>
                <a:gd name="T49" fmla="*/ 11 h 180"/>
                <a:gd name="T50" fmla="*/ 169 w 180"/>
                <a:gd name="T51" fmla="*/ 17 h 180"/>
                <a:gd name="T52" fmla="*/ 169 w 180"/>
                <a:gd name="T53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0" h="180">
                  <a:moveTo>
                    <a:pt x="163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0" y="0"/>
                    <a:pt x="23" y="8"/>
                    <a:pt x="23" y="17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8" y="28"/>
                    <a:pt x="0" y="36"/>
                    <a:pt x="0" y="45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0"/>
                    <a:pt x="10" y="180"/>
                    <a:pt x="23" y="180"/>
                  </a:cubicBezTo>
                  <a:cubicBezTo>
                    <a:pt x="158" y="180"/>
                    <a:pt x="158" y="180"/>
                    <a:pt x="158" y="180"/>
                  </a:cubicBezTo>
                  <a:cubicBezTo>
                    <a:pt x="170" y="180"/>
                    <a:pt x="180" y="170"/>
                    <a:pt x="180" y="158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80" y="8"/>
                    <a:pt x="172" y="0"/>
                    <a:pt x="163" y="0"/>
                  </a:cubicBezTo>
                  <a:close/>
                  <a:moveTo>
                    <a:pt x="169" y="158"/>
                  </a:moveTo>
                  <a:cubicBezTo>
                    <a:pt x="169" y="164"/>
                    <a:pt x="164" y="169"/>
                    <a:pt x="158" y="16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16" y="169"/>
                    <a:pt x="11" y="164"/>
                    <a:pt x="11" y="158"/>
                  </a:cubicBezTo>
                  <a:cubicBezTo>
                    <a:pt x="11" y="45"/>
                    <a:pt x="11" y="45"/>
                    <a:pt x="11" y="45"/>
                  </a:cubicBezTo>
                  <a:cubicBezTo>
                    <a:pt x="11" y="42"/>
                    <a:pt x="14" y="39"/>
                    <a:pt x="17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152"/>
                    <a:pt x="23" y="152"/>
                    <a:pt x="23" y="152"/>
                  </a:cubicBezTo>
                  <a:cubicBezTo>
                    <a:pt x="23" y="155"/>
                    <a:pt x="25" y="158"/>
                    <a:pt x="28" y="158"/>
                  </a:cubicBezTo>
                  <a:cubicBezTo>
                    <a:pt x="31" y="158"/>
                    <a:pt x="34" y="155"/>
                    <a:pt x="34" y="152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14"/>
                    <a:pt x="36" y="11"/>
                    <a:pt x="39" y="11"/>
                  </a:cubicBezTo>
                  <a:cubicBezTo>
                    <a:pt x="163" y="11"/>
                    <a:pt x="163" y="11"/>
                    <a:pt x="163" y="11"/>
                  </a:cubicBezTo>
                  <a:cubicBezTo>
                    <a:pt x="166" y="11"/>
                    <a:pt x="169" y="14"/>
                    <a:pt x="169" y="17"/>
                  </a:cubicBezTo>
                  <a:lnTo>
                    <a:pt x="169" y="1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08" name="Freeform 11"/>
            <p:cNvSpPr/>
            <p:nvPr>
              <p:custDataLst>
                <p:tags r:id="rId26"/>
              </p:custDataLst>
            </p:nvPr>
          </p:nvSpPr>
          <p:spPr bwMode="auto">
            <a:xfrm>
              <a:off x="6702425" y="58737"/>
              <a:ext cx="192087" cy="19050"/>
            </a:xfrm>
            <a:custGeom>
              <a:avLst/>
              <a:gdLst>
                <a:gd name="T0" fmla="*/ 3 w 50"/>
                <a:gd name="T1" fmla="*/ 5 h 5"/>
                <a:gd name="T2" fmla="*/ 48 w 50"/>
                <a:gd name="T3" fmla="*/ 5 h 5"/>
                <a:gd name="T4" fmla="*/ 50 w 50"/>
                <a:gd name="T5" fmla="*/ 2 h 5"/>
                <a:gd name="T6" fmla="*/ 48 w 50"/>
                <a:gd name="T7" fmla="*/ 0 h 5"/>
                <a:gd name="T8" fmla="*/ 3 w 50"/>
                <a:gd name="T9" fmla="*/ 0 h 5"/>
                <a:gd name="T10" fmla="*/ 0 w 50"/>
                <a:gd name="T11" fmla="*/ 2 h 5"/>
                <a:gd name="T12" fmla="*/ 3 w 50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">
                  <a:moveTo>
                    <a:pt x="3" y="5"/>
                  </a:moveTo>
                  <a:cubicBezTo>
                    <a:pt x="48" y="5"/>
                    <a:pt x="48" y="5"/>
                    <a:pt x="48" y="5"/>
                  </a:cubicBezTo>
                  <a:cubicBezTo>
                    <a:pt x="49" y="5"/>
                    <a:pt x="50" y="4"/>
                    <a:pt x="50" y="2"/>
                  </a:cubicBezTo>
                  <a:cubicBezTo>
                    <a:pt x="50" y="1"/>
                    <a:pt x="49" y="0"/>
                    <a:pt x="4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09" name="Freeform 12"/>
            <p:cNvSpPr/>
            <p:nvPr>
              <p:custDataLst>
                <p:tags r:id="rId27"/>
              </p:custDataLst>
            </p:nvPr>
          </p:nvSpPr>
          <p:spPr bwMode="auto">
            <a:xfrm>
              <a:off x="6702425" y="-6350"/>
              <a:ext cx="192087" cy="19050"/>
            </a:xfrm>
            <a:custGeom>
              <a:avLst/>
              <a:gdLst>
                <a:gd name="T0" fmla="*/ 3 w 50"/>
                <a:gd name="T1" fmla="*/ 5 h 5"/>
                <a:gd name="T2" fmla="*/ 48 w 50"/>
                <a:gd name="T3" fmla="*/ 5 h 5"/>
                <a:gd name="T4" fmla="*/ 50 w 50"/>
                <a:gd name="T5" fmla="*/ 2 h 5"/>
                <a:gd name="T6" fmla="*/ 48 w 50"/>
                <a:gd name="T7" fmla="*/ 0 h 5"/>
                <a:gd name="T8" fmla="*/ 3 w 50"/>
                <a:gd name="T9" fmla="*/ 0 h 5"/>
                <a:gd name="T10" fmla="*/ 0 w 50"/>
                <a:gd name="T11" fmla="*/ 2 h 5"/>
                <a:gd name="T12" fmla="*/ 3 w 50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">
                  <a:moveTo>
                    <a:pt x="3" y="5"/>
                  </a:moveTo>
                  <a:cubicBezTo>
                    <a:pt x="48" y="5"/>
                    <a:pt x="48" y="5"/>
                    <a:pt x="48" y="5"/>
                  </a:cubicBezTo>
                  <a:cubicBezTo>
                    <a:pt x="49" y="5"/>
                    <a:pt x="50" y="4"/>
                    <a:pt x="50" y="2"/>
                  </a:cubicBezTo>
                  <a:cubicBezTo>
                    <a:pt x="50" y="1"/>
                    <a:pt x="49" y="0"/>
                    <a:pt x="4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10" name="Freeform 13"/>
            <p:cNvSpPr/>
            <p:nvPr>
              <p:custDataLst>
                <p:tags r:id="rId28"/>
              </p:custDataLst>
            </p:nvPr>
          </p:nvSpPr>
          <p:spPr bwMode="auto">
            <a:xfrm>
              <a:off x="6702425" y="-71438"/>
              <a:ext cx="192087" cy="19050"/>
            </a:xfrm>
            <a:custGeom>
              <a:avLst/>
              <a:gdLst>
                <a:gd name="T0" fmla="*/ 3 w 50"/>
                <a:gd name="T1" fmla="*/ 5 h 5"/>
                <a:gd name="T2" fmla="*/ 48 w 50"/>
                <a:gd name="T3" fmla="*/ 5 h 5"/>
                <a:gd name="T4" fmla="*/ 50 w 50"/>
                <a:gd name="T5" fmla="*/ 3 h 5"/>
                <a:gd name="T6" fmla="*/ 48 w 50"/>
                <a:gd name="T7" fmla="*/ 0 h 5"/>
                <a:gd name="T8" fmla="*/ 3 w 50"/>
                <a:gd name="T9" fmla="*/ 0 h 5"/>
                <a:gd name="T10" fmla="*/ 0 w 50"/>
                <a:gd name="T11" fmla="*/ 3 h 5"/>
                <a:gd name="T12" fmla="*/ 3 w 50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">
                  <a:moveTo>
                    <a:pt x="3" y="5"/>
                  </a:moveTo>
                  <a:cubicBezTo>
                    <a:pt x="48" y="5"/>
                    <a:pt x="48" y="5"/>
                    <a:pt x="48" y="5"/>
                  </a:cubicBezTo>
                  <a:cubicBezTo>
                    <a:pt x="49" y="5"/>
                    <a:pt x="50" y="4"/>
                    <a:pt x="50" y="3"/>
                  </a:cubicBezTo>
                  <a:cubicBezTo>
                    <a:pt x="50" y="1"/>
                    <a:pt x="49" y="0"/>
                    <a:pt x="4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11" name="Freeform 14"/>
            <p:cNvSpPr/>
            <p:nvPr>
              <p:custDataLst>
                <p:tags r:id="rId29"/>
              </p:custDataLst>
            </p:nvPr>
          </p:nvSpPr>
          <p:spPr bwMode="auto">
            <a:xfrm>
              <a:off x="6465888" y="377825"/>
              <a:ext cx="195262" cy="23813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12" name="Freeform 15"/>
            <p:cNvSpPr/>
            <p:nvPr>
              <p:custDataLst>
                <p:tags r:id="rId30"/>
              </p:custDataLst>
            </p:nvPr>
          </p:nvSpPr>
          <p:spPr bwMode="auto">
            <a:xfrm>
              <a:off x="6465888" y="312738"/>
              <a:ext cx="195262" cy="23813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13" name="Freeform 16"/>
            <p:cNvSpPr/>
            <p:nvPr>
              <p:custDataLst>
                <p:tags r:id="rId31"/>
              </p:custDataLst>
            </p:nvPr>
          </p:nvSpPr>
          <p:spPr bwMode="auto">
            <a:xfrm>
              <a:off x="6465888" y="249238"/>
              <a:ext cx="195262" cy="22225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5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14" name="Freeform 17"/>
            <p:cNvSpPr/>
            <p:nvPr>
              <p:custDataLst>
                <p:tags r:id="rId32"/>
              </p:custDataLst>
            </p:nvPr>
          </p:nvSpPr>
          <p:spPr bwMode="auto">
            <a:xfrm>
              <a:off x="6702425" y="377825"/>
              <a:ext cx="195262" cy="23813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15" name="Freeform 18"/>
            <p:cNvSpPr/>
            <p:nvPr>
              <p:custDataLst>
                <p:tags r:id="rId33"/>
              </p:custDataLst>
            </p:nvPr>
          </p:nvSpPr>
          <p:spPr bwMode="auto">
            <a:xfrm>
              <a:off x="6702425" y="312738"/>
              <a:ext cx="195262" cy="23813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16" name="Freeform 19"/>
            <p:cNvSpPr/>
            <p:nvPr>
              <p:custDataLst>
                <p:tags r:id="rId34"/>
              </p:custDataLst>
            </p:nvPr>
          </p:nvSpPr>
          <p:spPr bwMode="auto">
            <a:xfrm>
              <a:off x="6702425" y="249238"/>
              <a:ext cx="195262" cy="22225"/>
            </a:xfrm>
            <a:custGeom>
              <a:avLst/>
              <a:gdLst>
                <a:gd name="T0" fmla="*/ 48 w 51"/>
                <a:gd name="T1" fmla="*/ 0 h 6"/>
                <a:gd name="T2" fmla="*/ 3 w 51"/>
                <a:gd name="T3" fmla="*/ 0 h 6"/>
                <a:gd name="T4" fmla="*/ 0 w 51"/>
                <a:gd name="T5" fmla="*/ 3 h 6"/>
                <a:gd name="T6" fmla="*/ 3 w 51"/>
                <a:gd name="T7" fmla="*/ 6 h 6"/>
                <a:gd name="T8" fmla="*/ 48 w 51"/>
                <a:gd name="T9" fmla="*/ 6 h 6"/>
                <a:gd name="T10" fmla="*/ 51 w 51"/>
                <a:gd name="T11" fmla="*/ 3 h 6"/>
                <a:gd name="T12" fmla="*/ 48 w 51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4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1" y="5"/>
                    <a:pt x="51" y="3"/>
                  </a:cubicBezTo>
                  <a:cubicBezTo>
                    <a:pt x="51" y="1"/>
                    <a:pt x="49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17" name="Freeform 20"/>
            <p:cNvSpPr/>
            <p:nvPr>
              <p:custDataLst>
                <p:tags r:id="rId35"/>
              </p:custDataLst>
            </p:nvPr>
          </p:nvSpPr>
          <p:spPr bwMode="auto">
            <a:xfrm>
              <a:off x="6465888" y="119062"/>
              <a:ext cx="431800" cy="22225"/>
            </a:xfrm>
            <a:custGeom>
              <a:avLst/>
              <a:gdLst>
                <a:gd name="T0" fmla="*/ 110 w 113"/>
                <a:gd name="T1" fmla="*/ 0 h 6"/>
                <a:gd name="T2" fmla="*/ 3 w 113"/>
                <a:gd name="T3" fmla="*/ 0 h 6"/>
                <a:gd name="T4" fmla="*/ 0 w 113"/>
                <a:gd name="T5" fmla="*/ 3 h 6"/>
                <a:gd name="T6" fmla="*/ 3 w 113"/>
                <a:gd name="T7" fmla="*/ 6 h 6"/>
                <a:gd name="T8" fmla="*/ 110 w 113"/>
                <a:gd name="T9" fmla="*/ 6 h 6"/>
                <a:gd name="T10" fmla="*/ 113 w 113"/>
                <a:gd name="T11" fmla="*/ 3 h 6"/>
                <a:gd name="T12" fmla="*/ 110 w 11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6">
                  <a:moveTo>
                    <a:pt x="11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1" y="6"/>
                    <a:pt x="113" y="5"/>
                    <a:pt x="113" y="3"/>
                  </a:cubicBezTo>
                  <a:cubicBezTo>
                    <a:pt x="113" y="2"/>
                    <a:pt x="111" y="0"/>
                    <a:pt x="1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18" name="Freeform 21"/>
            <p:cNvSpPr/>
            <p:nvPr>
              <p:custDataLst>
                <p:tags r:id="rId36"/>
              </p:custDataLst>
            </p:nvPr>
          </p:nvSpPr>
          <p:spPr bwMode="auto">
            <a:xfrm>
              <a:off x="6465888" y="184150"/>
              <a:ext cx="431800" cy="22225"/>
            </a:xfrm>
            <a:custGeom>
              <a:avLst/>
              <a:gdLst>
                <a:gd name="T0" fmla="*/ 110 w 113"/>
                <a:gd name="T1" fmla="*/ 0 h 6"/>
                <a:gd name="T2" fmla="*/ 3 w 113"/>
                <a:gd name="T3" fmla="*/ 0 h 6"/>
                <a:gd name="T4" fmla="*/ 0 w 113"/>
                <a:gd name="T5" fmla="*/ 3 h 6"/>
                <a:gd name="T6" fmla="*/ 3 w 113"/>
                <a:gd name="T7" fmla="*/ 6 h 6"/>
                <a:gd name="T8" fmla="*/ 110 w 113"/>
                <a:gd name="T9" fmla="*/ 6 h 6"/>
                <a:gd name="T10" fmla="*/ 113 w 113"/>
                <a:gd name="T11" fmla="*/ 3 h 6"/>
                <a:gd name="T12" fmla="*/ 110 w 11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6">
                  <a:moveTo>
                    <a:pt x="11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1" y="6"/>
                    <a:pt x="113" y="5"/>
                    <a:pt x="113" y="3"/>
                  </a:cubicBezTo>
                  <a:cubicBezTo>
                    <a:pt x="113" y="2"/>
                    <a:pt x="111" y="0"/>
                    <a:pt x="1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19" name="Freeform 22"/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6465888" y="-112713"/>
              <a:ext cx="195262" cy="190500"/>
            </a:xfrm>
            <a:custGeom>
              <a:avLst/>
              <a:gdLst>
                <a:gd name="T0" fmla="*/ 6 w 51"/>
                <a:gd name="T1" fmla="*/ 50 h 50"/>
                <a:gd name="T2" fmla="*/ 45 w 51"/>
                <a:gd name="T3" fmla="*/ 50 h 50"/>
                <a:gd name="T4" fmla="*/ 51 w 51"/>
                <a:gd name="T5" fmla="*/ 44 h 50"/>
                <a:gd name="T6" fmla="*/ 51 w 51"/>
                <a:gd name="T7" fmla="*/ 5 h 50"/>
                <a:gd name="T8" fmla="*/ 45 w 51"/>
                <a:gd name="T9" fmla="*/ 0 h 50"/>
                <a:gd name="T10" fmla="*/ 6 w 51"/>
                <a:gd name="T11" fmla="*/ 0 h 50"/>
                <a:gd name="T12" fmla="*/ 0 w 51"/>
                <a:gd name="T13" fmla="*/ 5 h 50"/>
                <a:gd name="T14" fmla="*/ 0 w 51"/>
                <a:gd name="T15" fmla="*/ 44 h 50"/>
                <a:gd name="T16" fmla="*/ 6 w 51"/>
                <a:gd name="T17" fmla="*/ 50 h 50"/>
                <a:gd name="T18" fmla="*/ 11 w 51"/>
                <a:gd name="T19" fmla="*/ 11 h 50"/>
                <a:gd name="T20" fmla="*/ 39 w 51"/>
                <a:gd name="T21" fmla="*/ 11 h 50"/>
                <a:gd name="T22" fmla="*/ 39 w 51"/>
                <a:gd name="T23" fmla="*/ 39 h 50"/>
                <a:gd name="T24" fmla="*/ 11 w 51"/>
                <a:gd name="T25" fmla="*/ 39 h 50"/>
                <a:gd name="T26" fmla="*/ 11 w 51"/>
                <a:gd name="T27" fmla="*/ 1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0">
                  <a:moveTo>
                    <a:pt x="6" y="50"/>
                  </a:moveTo>
                  <a:cubicBezTo>
                    <a:pt x="45" y="50"/>
                    <a:pt x="45" y="50"/>
                    <a:pt x="45" y="50"/>
                  </a:cubicBezTo>
                  <a:cubicBezTo>
                    <a:pt x="48" y="50"/>
                    <a:pt x="51" y="48"/>
                    <a:pt x="51" y="44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2"/>
                    <a:pt x="48" y="0"/>
                    <a:pt x="4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8"/>
                    <a:pt x="3" y="50"/>
                    <a:pt x="6" y="50"/>
                  </a:cubicBezTo>
                  <a:close/>
                  <a:moveTo>
                    <a:pt x="11" y="11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11" y="39"/>
                    <a:pt x="11" y="39"/>
                    <a:pt x="11" y="39"/>
                  </a:cubicBezTo>
                  <a:lnTo>
                    <a:pt x="11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sp>
        <p:nvSpPr>
          <p:cNvPr id="120" name="Freeform 26"/>
          <p:cNvSpPr>
            <a:spLocks noEditPoints="1"/>
          </p:cNvSpPr>
          <p:nvPr>
            <p:custDataLst>
              <p:tags r:id="rId38"/>
            </p:custDataLst>
          </p:nvPr>
        </p:nvSpPr>
        <p:spPr bwMode="auto">
          <a:xfrm>
            <a:off x="4020327" y="1845519"/>
            <a:ext cx="751920" cy="730402"/>
          </a:xfrm>
          <a:custGeom>
            <a:avLst/>
            <a:gdLst>
              <a:gd name="T0" fmla="*/ 188 w 263"/>
              <a:gd name="T1" fmla="*/ 0 h 256"/>
              <a:gd name="T2" fmla="*/ 111 w 263"/>
              <a:gd name="T3" fmla="*/ 54 h 256"/>
              <a:gd name="T4" fmla="*/ 111 w 263"/>
              <a:gd name="T5" fmla="*/ 55 h 256"/>
              <a:gd name="T6" fmla="*/ 28 w 263"/>
              <a:gd name="T7" fmla="*/ 138 h 256"/>
              <a:gd name="T8" fmla="*/ 1 w 263"/>
              <a:gd name="T9" fmla="*/ 220 h 256"/>
              <a:gd name="T10" fmla="*/ 28 w 263"/>
              <a:gd name="T11" fmla="*/ 256 h 256"/>
              <a:gd name="T12" fmla="*/ 105 w 263"/>
              <a:gd name="T13" fmla="*/ 237 h 256"/>
              <a:gd name="T14" fmla="*/ 241 w 263"/>
              <a:gd name="T15" fmla="*/ 105 h 256"/>
              <a:gd name="T16" fmla="*/ 128 w 263"/>
              <a:gd name="T17" fmla="*/ 190 h 256"/>
              <a:gd name="T18" fmla="*/ 198 w 263"/>
              <a:gd name="T19" fmla="*/ 94 h 256"/>
              <a:gd name="T20" fmla="*/ 190 w 263"/>
              <a:gd name="T21" fmla="*/ 134 h 256"/>
              <a:gd name="T22" fmla="*/ 128 w 263"/>
              <a:gd name="T23" fmla="*/ 196 h 256"/>
              <a:gd name="T24" fmla="*/ 118 w 263"/>
              <a:gd name="T25" fmla="*/ 162 h 256"/>
              <a:gd name="T26" fmla="*/ 91 w 263"/>
              <a:gd name="T27" fmla="*/ 136 h 256"/>
              <a:gd name="T28" fmla="*/ 184 w 263"/>
              <a:gd name="T29" fmla="*/ 72 h 256"/>
              <a:gd name="T30" fmla="*/ 118 w 263"/>
              <a:gd name="T31" fmla="*/ 162 h 256"/>
              <a:gd name="T32" fmla="*/ 61 w 263"/>
              <a:gd name="T33" fmla="*/ 128 h 256"/>
              <a:gd name="T34" fmla="*/ 159 w 263"/>
              <a:gd name="T35" fmla="*/ 57 h 256"/>
              <a:gd name="T36" fmla="*/ 33 w 263"/>
              <a:gd name="T37" fmla="*/ 239 h 256"/>
              <a:gd name="T38" fmla="*/ 16 w 263"/>
              <a:gd name="T39" fmla="*/ 228 h 256"/>
              <a:gd name="T40" fmla="*/ 25 w 263"/>
              <a:gd name="T41" fmla="*/ 193 h 256"/>
              <a:gd name="T42" fmla="*/ 63 w 263"/>
              <a:gd name="T43" fmla="*/ 231 h 256"/>
              <a:gd name="T44" fmla="*/ 71 w 263"/>
              <a:gd name="T45" fmla="*/ 229 h 256"/>
              <a:gd name="T46" fmla="*/ 27 w 263"/>
              <a:gd name="T47" fmla="*/ 185 h 256"/>
              <a:gd name="T48" fmla="*/ 39 w 263"/>
              <a:gd name="T49" fmla="*/ 150 h 256"/>
              <a:gd name="T50" fmla="*/ 103 w 263"/>
              <a:gd name="T51" fmla="*/ 220 h 256"/>
              <a:gd name="T52" fmla="*/ 71 w 263"/>
              <a:gd name="T53" fmla="*/ 229 h 256"/>
              <a:gd name="T54" fmla="*/ 216 w 263"/>
              <a:gd name="T55" fmla="*/ 108 h 256"/>
              <a:gd name="T56" fmla="*/ 196 w 263"/>
              <a:gd name="T57" fmla="*/ 60 h 256"/>
              <a:gd name="T58" fmla="*/ 162 w 263"/>
              <a:gd name="T59" fmla="*/ 26 h 256"/>
              <a:gd name="T60" fmla="*/ 224 w 263"/>
              <a:gd name="T61" fmla="*/ 32 h 256"/>
              <a:gd name="T62" fmla="*/ 230 w 263"/>
              <a:gd name="T63" fmla="*/ 94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63" h="256">
                <a:moveTo>
                  <a:pt x="235" y="21"/>
                </a:moveTo>
                <a:cubicBezTo>
                  <a:pt x="222" y="8"/>
                  <a:pt x="205" y="0"/>
                  <a:pt x="188" y="0"/>
                </a:cubicBezTo>
                <a:cubicBezTo>
                  <a:pt x="173" y="0"/>
                  <a:pt x="160" y="5"/>
                  <a:pt x="150" y="15"/>
                </a:cubicBezTo>
                <a:cubicBezTo>
                  <a:pt x="111" y="54"/>
                  <a:pt x="111" y="54"/>
                  <a:pt x="111" y="54"/>
                </a:cubicBezTo>
                <a:cubicBezTo>
                  <a:pt x="111" y="54"/>
                  <a:pt x="111" y="54"/>
                  <a:pt x="111" y="55"/>
                </a:cubicBezTo>
                <a:cubicBezTo>
                  <a:pt x="111" y="55"/>
                  <a:pt x="111" y="55"/>
                  <a:pt x="111" y="55"/>
                </a:cubicBezTo>
                <a:cubicBezTo>
                  <a:pt x="111" y="55"/>
                  <a:pt x="111" y="55"/>
                  <a:pt x="111" y="55"/>
                </a:cubicBezTo>
                <a:cubicBezTo>
                  <a:pt x="28" y="138"/>
                  <a:pt x="28" y="138"/>
                  <a:pt x="28" y="138"/>
                </a:cubicBezTo>
                <a:cubicBezTo>
                  <a:pt x="24" y="142"/>
                  <a:pt x="22" y="147"/>
                  <a:pt x="20" y="152"/>
                </a:cubicBezTo>
                <a:cubicBezTo>
                  <a:pt x="1" y="220"/>
                  <a:pt x="1" y="220"/>
                  <a:pt x="1" y="220"/>
                </a:cubicBezTo>
                <a:cubicBezTo>
                  <a:pt x="1" y="220"/>
                  <a:pt x="0" y="225"/>
                  <a:pt x="0" y="228"/>
                </a:cubicBezTo>
                <a:cubicBezTo>
                  <a:pt x="0" y="243"/>
                  <a:pt x="13" y="256"/>
                  <a:pt x="28" y="256"/>
                </a:cubicBezTo>
                <a:cubicBezTo>
                  <a:pt x="31" y="256"/>
                  <a:pt x="37" y="255"/>
                  <a:pt x="37" y="255"/>
                </a:cubicBezTo>
                <a:cubicBezTo>
                  <a:pt x="105" y="237"/>
                  <a:pt x="105" y="237"/>
                  <a:pt x="105" y="237"/>
                </a:cubicBezTo>
                <a:cubicBezTo>
                  <a:pt x="110" y="235"/>
                  <a:pt x="115" y="232"/>
                  <a:pt x="119" y="229"/>
                </a:cubicBezTo>
                <a:cubicBezTo>
                  <a:pt x="241" y="105"/>
                  <a:pt x="241" y="105"/>
                  <a:pt x="241" y="105"/>
                </a:cubicBezTo>
                <a:cubicBezTo>
                  <a:pt x="263" y="83"/>
                  <a:pt x="261" y="46"/>
                  <a:pt x="235" y="21"/>
                </a:cubicBezTo>
                <a:close/>
                <a:moveTo>
                  <a:pt x="128" y="190"/>
                </a:moveTo>
                <a:cubicBezTo>
                  <a:pt x="127" y="183"/>
                  <a:pt x="125" y="176"/>
                  <a:pt x="122" y="169"/>
                </a:cubicBezTo>
                <a:cubicBezTo>
                  <a:pt x="198" y="94"/>
                  <a:pt x="198" y="94"/>
                  <a:pt x="198" y="94"/>
                </a:cubicBezTo>
                <a:cubicBezTo>
                  <a:pt x="203" y="108"/>
                  <a:pt x="200" y="124"/>
                  <a:pt x="190" y="134"/>
                </a:cubicBezTo>
                <a:cubicBezTo>
                  <a:pt x="190" y="134"/>
                  <a:pt x="190" y="134"/>
                  <a:pt x="190" y="134"/>
                </a:cubicBezTo>
                <a:cubicBezTo>
                  <a:pt x="190" y="134"/>
                  <a:pt x="190" y="134"/>
                  <a:pt x="190" y="134"/>
                </a:cubicBezTo>
                <a:cubicBezTo>
                  <a:pt x="128" y="196"/>
                  <a:pt x="128" y="196"/>
                  <a:pt x="128" y="196"/>
                </a:cubicBezTo>
                <a:cubicBezTo>
                  <a:pt x="128" y="194"/>
                  <a:pt x="128" y="192"/>
                  <a:pt x="128" y="190"/>
                </a:cubicBezTo>
                <a:close/>
                <a:moveTo>
                  <a:pt x="118" y="162"/>
                </a:moveTo>
                <a:cubicBezTo>
                  <a:pt x="115" y="157"/>
                  <a:pt x="112" y="152"/>
                  <a:pt x="108" y="148"/>
                </a:cubicBezTo>
                <a:cubicBezTo>
                  <a:pt x="103" y="143"/>
                  <a:pt x="97" y="140"/>
                  <a:pt x="91" y="136"/>
                </a:cubicBezTo>
                <a:cubicBezTo>
                  <a:pt x="168" y="60"/>
                  <a:pt x="168" y="60"/>
                  <a:pt x="168" y="60"/>
                </a:cubicBezTo>
                <a:cubicBezTo>
                  <a:pt x="174" y="63"/>
                  <a:pt x="179" y="66"/>
                  <a:pt x="184" y="72"/>
                </a:cubicBezTo>
                <a:cubicBezTo>
                  <a:pt x="189" y="76"/>
                  <a:pt x="192" y="81"/>
                  <a:pt x="195" y="86"/>
                </a:cubicBezTo>
                <a:lnTo>
                  <a:pt x="118" y="162"/>
                </a:lnTo>
                <a:close/>
                <a:moveTo>
                  <a:pt x="84" y="133"/>
                </a:moveTo>
                <a:cubicBezTo>
                  <a:pt x="76" y="130"/>
                  <a:pt x="69" y="128"/>
                  <a:pt x="61" y="128"/>
                </a:cubicBezTo>
                <a:cubicBezTo>
                  <a:pt x="123" y="66"/>
                  <a:pt x="123" y="66"/>
                  <a:pt x="123" y="66"/>
                </a:cubicBezTo>
                <a:cubicBezTo>
                  <a:pt x="132" y="56"/>
                  <a:pt x="146" y="54"/>
                  <a:pt x="159" y="57"/>
                </a:cubicBezTo>
                <a:lnTo>
                  <a:pt x="84" y="133"/>
                </a:lnTo>
                <a:close/>
                <a:moveTo>
                  <a:pt x="33" y="239"/>
                </a:moveTo>
                <a:cubicBezTo>
                  <a:pt x="32" y="239"/>
                  <a:pt x="30" y="240"/>
                  <a:pt x="28" y="240"/>
                </a:cubicBezTo>
                <a:cubicBezTo>
                  <a:pt x="21" y="240"/>
                  <a:pt x="16" y="235"/>
                  <a:pt x="16" y="228"/>
                </a:cubicBezTo>
                <a:cubicBezTo>
                  <a:pt x="16" y="227"/>
                  <a:pt x="17" y="224"/>
                  <a:pt x="17" y="224"/>
                </a:cubicBezTo>
                <a:cubicBezTo>
                  <a:pt x="25" y="193"/>
                  <a:pt x="25" y="193"/>
                  <a:pt x="25" y="193"/>
                </a:cubicBezTo>
                <a:cubicBezTo>
                  <a:pt x="34" y="193"/>
                  <a:pt x="44" y="196"/>
                  <a:pt x="52" y="204"/>
                </a:cubicBezTo>
                <a:cubicBezTo>
                  <a:pt x="60" y="212"/>
                  <a:pt x="64" y="222"/>
                  <a:pt x="63" y="231"/>
                </a:cubicBezTo>
                <a:lnTo>
                  <a:pt x="33" y="239"/>
                </a:lnTo>
                <a:close/>
                <a:moveTo>
                  <a:pt x="71" y="229"/>
                </a:moveTo>
                <a:cubicBezTo>
                  <a:pt x="71" y="218"/>
                  <a:pt x="66" y="207"/>
                  <a:pt x="58" y="198"/>
                </a:cubicBezTo>
                <a:cubicBezTo>
                  <a:pt x="49" y="190"/>
                  <a:pt x="38" y="185"/>
                  <a:pt x="27" y="185"/>
                </a:cubicBezTo>
                <a:cubicBezTo>
                  <a:pt x="35" y="156"/>
                  <a:pt x="35" y="156"/>
                  <a:pt x="35" y="156"/>
                </a:cubicBezTo>
                <a:cubicBezTo>
                  <a:pt x="36" y="154"/>
                  <a:pt x="37" y="152"/>
                  <a:pt x="39" y="150"/>
                </a:cubicBezTo>
                <a:cubicBezTo>
                  <a:pt x="55" y="139"/>
                  <a:pt x="79" y="142"/>
                  <a:pt x="96" y="160"/>
                </a:cubicBezTo>
                <a:cubicBezTo>
                  <a:pt x="115" y="178"/>
                  <a:pt x="117" y="204"/>
                  <a:pt x="103" y="220"/>
                </a:cubicBezTo>
                <a:cubicBezTo>
                  <a:pt x="103" y="221"/>
                  <a:pt x="102" y="221"/>
                  <a:pt x="101" y="221"/>
                </a:cubicBezTo>
                <a:lnTo>
                  <a:pt x="71" y="229"/>
                </a:lnTo>
                <a:close/>
                <a:moveTo>
                  <a:pt x="230" y="94"/>
                </a:moveTo>
                <a:cubicBezTo>
                  <a:pt x="216" y="108"/>
                  <a:pt x="216" y="108"/>
                  <a:pt x="216" y="108"/>
                </a:cubicBezTo>
                <a:cubicBezTo>
                  <a:pt x="216" y="106"/>
                  <a:pt x="216" y="104"/>
                  <a:pt x="216" y="102"/>
                </a:cubicBezTo>
                <a:cubicBezTo>
                  <a:pt x="215" y="87"/>
                  <a:pt x="207" y="72"/>
                  <a:pt x="196" y="60"/>
                </a:cubicBezTo>
                <a:cubicBezTo>
                  <a:pt x="183" y="47"/>
                  <a:pt x="165" y="40"/>
                  <a:pt x="148" y="40"/>
                </a:cubicBezTo>
                <a:cubicBezTo>
                  <a:pt x="162" y="26"/>
                  <a:pt x="162" y="26"/>
                  <a:pt x="162" y="26"/>
                </a:cubicBezTo>
                <a:cubicBezTo>
                  <a:pt x="168" y="20"/>
                  <a:pt x="177" y="16"/>
                  <a:pt x="188" y="16"/>
                </a:cubicBezTo>
                <a:cubicBezTo>
                  <a:pt x="200" y="16"/>
                  <a:pt x="214" y="22"/>
                  <a:pt x="224" y="32"/>
                </a:cubicBezTo>
                <a:cubicBezTo>
                  <a:pt x="233" y="41"/>
                  <a:pt x="239" y="53"/>
                  <a:pt x="240" y="65"/>
                </a:cubicBezTo>
                <a:cubicBezTo>
                  <a:pt x="241" y="76"/>
                  <a:pt x="237" y="87"/>
                  <a:pt x="230" y="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121" name="Group 89"/>
          <p:cNvGrpSpPr/>
          <p:nvPr>
            <p:custDataLst>
              <p:tags r:id="rId39"/>
            </p:custDataLst>
          </p:nvPr>
        </p:nvGrpSpPr>
        <p:grpSpPr>
          <a:xfrm>
            <a:off x="6511121" y="2337748"/>
            <a:ext cx="686201" cy="752105"/>
            <a:chOff x="6980238" y="-342900"/>
            <a:chExt cx="1150937" cy="1311275"/>
          </a:xfrm>
          <a:solidFill>
            <a:schemeClr val="bg1"/>
          </a:solidFill>
        </p:grpSpPr>
        <p:sp>
          <p:nvSpPr>
            <p:cNvPr id="122" name="Freeform 30"/>
            <p:cNvSpPr>
              <a:spLocks noEditPoints="1"/>
            </p:cNvSpPr>
            <p:nvPr>
              <p:custDataLst>
                <p:tags r:id="rId40"/>
              </p:custDataLst>
            </p:nvPr>
          </p:nvSpPr>
          <p:spPr bwMode="auto">
            <a:xfrm>
              <a:off x="6980238" y="-342900"/>
              <a:ext cx="1150937" cy="1311275"/>
            </a:xfrm>
            <a:custGeom>
              <a:avLst/>
              <a:gdLst>
                <a:gd name="T0" fmla="*/ 152 w 304"/>
                <a:gd name="T1" fmla="*/ 0 h 347"/>
                <a:gd name="T2" fmla="*/ 0 w 304"/>
                <a:gd name="T3" fmla="*/ 71 h 347"/>
                <a:gd name="T4" fmla="*/ 0 w 304"/>
                <a:gd name="T5" fmla="*/ 277 h 347"/>
                <a:gd name="T6" fmla="*/ 152 w 304"/>
                <a:gd name="T7" fmla="*/ 347 h 347"/>
                <a:gd name="T8" fmla="*/ 304 w 304"/>
                <a:gd name="T9" fmla="*/ 277 h 347"/>
                <a:gd name="T10" fmla="*/ 304 w 304"/>
                <a:gd name="T11" fmla="*/ 71 h 347"/>
                <a:gd name="T12" fmla="*/ 152 w 304"/>
                <a:gd name="T13" fmla="*/ 0 h 347"/>
                <a:gd name="T14" fmla="*/ 282 w 304"/>
                <a:gd name="T15" fmla="*/ 277 h 347"/>
                <a:gd name="T16" fmla="*/ 152 w 304"/>
                <a:gd name="T17" fmla="*/ 326 h 347"/>
                <a:gd name="T18" fmla="*/ 22 w 304"/>
                <a:gd name="T19" fmla="*/ 277 h 347"/>
                <a:gd name="T20" fmla="*/ 22 w 304"/>
                <a:gd name="T21" fmla="*/ 236 h 347"/>
                <a:gd name="T22" fmla="*/ 152 w 304"/>
                <a:gd name="T23" fmla="*/ 271 h 347"/>
                <a:gd name="T24" fmla="*/ 282 w 304"/>
                <a:gd name="T25" fmla="*/ 236 h 347"/>
                <a:gd name="T26" fmla="*/ 282 w 304"/>
                <a:gd name="T27" fmla="*/ 277 h 347"/>
                <a:gd name="T28" fmla="*/ 282 w 304"/>
                <a:gd name="T29" fmla="*/ 212 h 347"/>
                <a:gd name="T30" fmla="*/ 282 w 304"/>
                <a:gd name="T31" fmla="*/ 212 h 347"/>
                <a:gd name="T32" fmla="*/ 282 w 304"/>
                <a:gd name="T33" fmla="*/ 212 h 347"/>
                <a:gd name="T34" fmla="*/ 152 w 304"/>
                <a:gd name="T35" fmla="*/ 261 h 347"/>
                <a:gd name="T36" fmla="*/ 22 w 304"/>
                <a:gd name="T37" fmla="*/ 212 h 347"/>
                <a:gd name="T38" fmla="*/ 22 w 304"/>
                <a:gd name="T39" fmla="*/ 212 h 347"/>
                <a:gd name="T40" fmla="*/ 22 w 304"/>
                <a:gd name="T41" fmla="*/ 212 h 347"/>
                <a:gd name="T42" fmla="*/ 22 w 304"/>
                <a:gd name="T43" fmla="*/ 171 h 347"/>
                <a:gd name="T44" fmla="*/ 152 w 304"/>
                <a:gd name="T45" fmla="*/ 206 h 347"/>
                <a:gd name="T46" fmla="*/ 282 w 304"/>
                <a:gd name="T47" fmla="*/ 171 h 347"/>
                <a:gd name="T48" fmla="*/ 282 w 304"/>
                <a:gd name="T49" fmla="*/ 212 h 347"/>
                <a:gd name="T50" fmla="*/ 282 w 304"/>
                <a:gd name="T51" fmla="*/ 147 h 347"/>
                <a:gd name="T52" fmla="*/ 282 w 304"/>
                <a:gd name="T53" fmla="*/ 147 h 347"/>
                <a:gd name="T54" fmla="*/ 282 w 304"/>
                <a:gd name="T55" fmla="*/ 147 h 347"/>
                <a:gd name="T56" fmla="*/ 152 w 304"/>
                <a:gd name="T57" fmla="*/ 195 h 347"/>
                <a:gd name="T58" fmla="*/ 22 w 304"/>
                <a:gd name="T59" fmla="*/ 147 h 347"/>
                <a:gd name="T60" fmla="*/ 22 w 304"/>
                <a:gd name="T61" fmla="*/ 147 h 347"/>
                <a:gd name="T62" fmla="*/ 22 w 304"/>
                <a:gd name="T63" fmla="*/ 147 h 347"/>
                <a:gd name="T64" fmla="*/ 22 w 304"/>
                <a:gd name="T65" fmla="*/ 109 h 347"/>
                <a:gd name="T66" fmla="*/ 152 w 304"/>
                <a:gd name="T67" fmla="*/ 141 h 347"/>
                <a:gd name="T68" fmla="*/ 282 w 304"/>
                <a:gd name="T69" fmla="*/ 109 h 347"/>
                <a:gd name="T70" fmla="*/ 282 w 304"/>
                <a:gd name="T71" fmla="*/ 147 h 347"/>
                <a:gd name="T72" fmla="*/ 152 w 304"/>
                <a:gd name="T73" fmla="*/ 119 h 347"/>
                <a:gd name="T74" fmla="*/ 22 w 304"/>
                <a:gd name="T75" fmla="*/ 71 h 347"/>
                <a:gd name="T76" fmla="*/ 152 w 304"/>
                <a:gd name="T77" fmla="*/ 22 h 347"/>
                <a:gd name="T78" fmla="*/ 282 w 304"/>
                <a:gd name="T79" fmla="*/ 71 h 347"/>
                <a:gd name="T80" fmla="*/ 152 w 304"/>
                <a:gd name="T81" fmla="*/ 119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04" h="347">
                  <a:moveTo>
                    <a:pt x="152" y="0"/>
                  </a:moveTo>
                  <a:cubicBezTo>
                    <a:pt x="79" y="0"/>
                    <a:pt x="0" y="22"/>
                    <a:pt x="0" y="71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0" y="325"/>
                    <a:pt x="79" y="347"/>
                    <a:pt x="152" y="347"/>
                  </a:cubicBezTo>
                  <a:cubicBezTo>
                    <a:pt x="225" y="347"/>
                    <a:pt x="304" y="325"/>
                    <a:pt x="304" y="277"/>
                  </a:cubicBezTo>
                  <a:cubicBezTo>
                    <a:pt x="304" y="71"/>
                    <a:pt x="304" y="71"/>
                    <a:pt x="304" y="71"/>
                  </a:cubicBezTo>
                  <a:cubicBezTo>
                    <a:pt x="304" y="22"/>
                    <a:pt x="225" y="0"/>
                    <a:pt x="152" y="0"/>
                  </a:cubicBezTo>
                  <a:close/>
                  <a:moveTo>
                    <a:pt x="282" y="277"/>
                  </a:moveTo>
                  <a:cubicBezTo>
                    <a:pt x="282" y="304"/>
                    <a:pt x="224" y="326"/>
                    <a:pt x="152" y="326"/>
                  </a:cubicBezTo>
                  <a:cubicBezTo>
                    <a:pt x="80" y="326"/>
                    <a:pt x="22" y="304"/>
                    <a:pt x="22" y="277"/>
                  </a:cubicBezTo>
                  <a:cubicBezTo>
                    <a:pt x="22" y="236"/>
                    <a:pt x="22" y="236"/>
                    <a:pt x="22" y="236"/>
                  </a:cubicBezTo>
                  <a:cubicBezTo>
                    <a:pt x="44" y="259"/>
                    <a:pt x="98" y="271"/>
                    <a:pt x="152" y="271"/>
                  </a:cubicBezTo>
                  <a:cubicBezTo>
                    <a:pt x="206" y="271"/>
                    <a:pt x="260" y="259"/>
                    <a:pt x="282" y="236"/>
                  </a:cubicBezTo>
                  <a:lnTo>
                    <a:pt x="282" y="277"/>
                  </a:lnTo>
                  <a:close/>
                  <a:moveTo>
                    <a:pt x="282" y="212"/>
                  </a:moveTo>
                  <a:cubicBezTo>
                    <a:pt x="282" y="212"/>
                    <a:pt x="282" y="212"/>
                    <a:pt x="282" y="212"/>
                  </a:cubicBezTo>
                  <a:cubicBezTo>
                    <a:pt x="282" y="212"/>
                    <a:pt x="282" y="212"/>
                    <a:pt x="282" y="212"/>
                  </a:cubicBezTo>
                  <a:cubicBezTo>
                    <a:pt x="282" y="239"/>
                    <a:pt x="224" y="261"/>
                    <a:pt x="152" y="261"/>
                  </a:cubicBezTo>
                  <a:cubicBezTo>
                    <a:pt x="80" y="261"/>
                    <a:pt x="22" y="239"/>
                    <a:pt x="22" y="212"/>
                  </a:cubicBezTo>
                  <a:cubicBezTo>
                    <a:pt x="22" y="212"/>
                    <a:pt x="22" y="212"/>
                    <a:pt x="22" y="212"/>
                  </a:cubicBezTo>
                  <a:cubicBezTo>
                    <a:pt x="22" y="212"/>
                    <a:pt x="22" y="212"/>
                    <a:pt x="22" y="212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44" y="194"/>
                    <a:pt x="98" y="206"/>
                    <a:pt x="152" y="206"/>
                  </a:cubicBezTo>
                  <a:cubicBezTo>
                    <a:pt x="206" y="206"/>
                    <a:pt x="260" y="194"/>
                    <a:pt x="282" y="171"/>
                  </a:cubicBezTo>
                  <a:lnTo>
                    <a:pt x="282" y="212"/>
                  </a:lnTo>
                  <a:close/>
                  <a:moveTo>
                    <a:pt x="282" y="147"/>
                  </a:moveTo>
                  <a:cubicBezTo>
                    <a:pt x="282" y="147"/>
                    <a:pt x="282" y="147"/>
                    <a:pt x="282" y="147"/>
                  </a:cubicBezTo>
                  <a:cubicBezTo>
                    <a:pt x="282" y="147"/>
                    <a:pt x="282" y="147"/>
                    <a:pt x="282" y="147"/>
                  </a:cubicBezTo>
                  <a:cubicBezTo>
                    <a:pt x="282" y="174"/>
                    <a:pt x="224" y="195"/>
                    <a:pt x="152" y="195"/>
                  </a:cubicBezTo>
                  <a:cubicBezTo>
                    <a:pt x="80" y="195"/>
                    <a:pt x="22" y="174"/>
                    <a:pt x="22" y="147"/>
                  </a:cubicBezTo>
                  <a:cubicBezTo>
                    <a:pt x="22" y="147"/>
                    <a:pt x="22" y="147"/>
                    <a:pt x="22" y="147"/>
                  </a:cubicBezTo>
                  <a:cubicBezTo>
                    <a:pt x="22" y="147"/>
                    <a:pt x="22" y="147"/>
                    <a:pt x="22" y="147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50" y="131"/>
                    <a:pt x="102" y="141"/>
                    <a:pt x="152" y="141"/>
                  </a:cubicBezTo>
                  <a:cubicBezTo>
                    <a:pt x="202" y="141"/>
                    <a:pt x="254" y="131"/>
                    <a:pt x="282" y="109"/>
                  </a:cubicBezTo>
                  <a:lnTo>
                    <a:pt x="282" y="147"/>
                  </a:lnTo>
                  <a:close/>
                  <a:moveTo>
                    <a:pt x="152" y="119"/>
                  </a:moveTo>
                  <a:cubicBezTo>
                    <a:pt x="80" y="119"/>
                    <a:pt x="22" y="98"/>
                    <a:pt x="22" y="71"/>
                  </a:cubicBezTo>
                  <a:cubicBezTo>
                    <a:pt x="22" y="44"/>
                    <a:pt x="80" y="22"/>
                    <a:pt x="152" y="22"/>
                  </a:cubicBezTo>
                  <a:cubicBezTo>
                    <a:pt x="224" y="22"/>
                    <a:pt x="282" y="44"/>
                    <a:pt x="282" y="71"/>
                  </a:cubicBezTo>
                  <a:cubicBezTo>
                    <a:pt x="282" y="98"/>
                    <a:pt x="224" y="119"/>
                    <a:pt x="152" y="1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23" name="Oval 31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7885113" y="681038"/>
              <a:ext cx="82550" cy="8413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24" name="Oval 32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885113" y="434975"/>
              <a:ext cx="82550" cy="8413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25" name="Oval 33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885113" y="190500"/>
              <a:ext cx="82550" cy="82550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126" name="Group 94"/>
          <p:cNvGrpSpPr/>
          <p:nvPr>
            <p:custDataLst>
              <p:tags r:id="rId44"/>
            </p:custDataLst>
          </p:nvPr>
        </p:nvGrpSpPr>
        <p:grpSpPr>
          <a:xfrm>
            <a:off x="6010560" y="4483493"/>
            <a:ext cx="979070" cy="922161"/>
            <a:chOff x="5899150" y="-1111250"/>
            <a:chExt cx="2832101" cy="2832100"/>
          </a:xfrm>
          <a:solidFill>
            <a:schemeClr val="bg1"/>
          </a:solidFill>
        </p:grpSpPr>
        <p:sp>
          <p:nvSpPr>
            <p:cNvPr id="127" name="Freeform 37"/>
            <p:cNvSpPr>
              <a:spLocks noEditPoints="1"/>
            </p:cNvSpPr>
            <p:nvPr>
              <p:custDataLst>
                <p:tags r:id="rId45"/>
              </p:custDataLst>
            </p:nvPr>
          </p:nvSpPr>
          <p:spPr bwMode="auto">
            <a:xfrm>
              <a:off x="5899150" y="-1111250"/>
              <a:ext cx="2832101" cy="2832100"/>
            </a:xfrm>
            <a:custGeom>
              <a:avLst/>
              <a:gdLst>
                <a:gd name="T0" fmla="*/ 499 w 752"/>
                <a:gd name="T1" fmla="*/ 68 h 752"/>
                <a:gd name="T2" fmla="*/ 68 w 752"/>
                <a:gd name="T3" fmla="*/ 253 h 752"/>
                <a:gd name="T4" fmla="*/ 253 w 752"/>
                <a:gd name="T5" fmla="*/ 684 h 752"/>
                <a:gd name="T6" fmla="*/ 684 w 752"/>
                <a:gd name="T7" fmla="*/ 499 h 752"/>
                <a:gd name="T8" fmla="*/ 499 w 752"/>
                <a:gd name="T9" fmla="*/ 68 h 752"/>
                <a:gd name="T10" fmla="*/ 268 w 752"/>
                <a:gd name="T11" fmla="*/ 646 h 752"/>
                <a:gd name="T12" fmla="*/ 106 w 752"/>
                <a:gd name="T13" fmla="*/ 268 h 752"/>
                <a:gd name="T14" fmla="*/ 484 w 752"/>
                <a:gd name="T15" fmla="*/ 106 h 752"/>
                <a:gd name="T16" fmla="*/ 646 w 752"/>
                <a:gd name="T17" fmla="*/ 484 h 752"/>
                <a:gd name="T18" fmla="*/ 268 w 752"/>
                <a:gd name="T19" fmla="*/ 646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52" h="752">
                  <a:moveTo>
                    <a:pt x="499" y="68"/>
                  </a:moveTo>
                  <a:cubicBezTo>
                    <a:pt x="329" y="0"/>
                    <a:pt x="136" y="82"/>
                    <a:pt x="68" y="253"/>
                  </a:cubicBezTo>
                  <a:cubicBezTo>
                    <a:pt x="0" y="423"/>
                    <a:pt x="82" y="616"/>
                    <a:pt x="253" y="684"/>
                  </a:cubicBezTo>
                  <a:cubicBezTo>
                    <a:pt x="423" y="752"/>
                    <a:pt x="616" y="670"/>
                    <a:pt x="684" y="499"/>
                  </a:cubicBezTo>
                  <a:cubicBezTo>
                    <a:pt x="752" y="329"/>
                    <a:pt x="670" y="136"/>
                    <a:pt x="499" y="68"/>
                  </a:cubicBezTo>
                  <a:close/>
                  <a:moveTo>
                    <a:pt x="268" y="646"/>
                  </a:moveTo>
                  <a:cubicBezTo>
                    <a:pt x="119" y="586"/>
                    <a:pt x="47" y="417"/>
                    <a:pt x="106" y="268"/>
                  </a:cubicBezTo>
                  <a:cubicBezTo>
                    <a:pt x="166" y="119"/>
                    <a:pt x="335" y="47"/>
                    <a:pt x="484" y="106"/>
                  </a:cubicBezTo>
                  <a:cubicBezTo>
                    <a:pt x="633" y="166"/>
                    <a:pt x="705" y="335"/>
                    <a:pt x="646" y="484"/>
                  </a:cubicBezTo>
                  <a:cubicBezTo>
                    <a:pt x="586" y="633"/>
                    <a:pt x="417" y="705"/>
                    <a:pt x="268" y="6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28" name="Freeform 38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7137400" y="127000"/>
              <a:ext cx="354013" cy="354013"/>
            </a:xfrm>
            <a:custGeom>
              <a:avLst/>
              <a:gdLst>
                <a:gd name="T0" fmla="*/ 62 w 94"/>
                <a:gd name="T1" fmla="*/ 9 h 94"/>
                <a:gd name="T2" fmla="*/ 9 w 94"/>
                <a:gd name="T3" fmla="*/ 32 h 94"/>
                <a:gd name="T4" fmla="*/ 32 w 94"/>
                <a:gd name="T5" fmla="*/ 86 h 94"/>
                <a:gd name="T6" fmla="*/ 86 w 94"/>
                <a:gd name="T7" fmla="*/ 62 h 94"/>
                <a:gd name="T8" fmla="*/ 62 w 94"/>
                <a:gd name="T9" fmla="*/ 9 h 94"/>
                <a:gd name="T10" fmla="*/ 39 w 94"/>
                <a:gd name="T11" fmla="*/ 66 h 94"/>
                <a:gd name="T12" fmla="*/ 28 w 94"/>
                <a:gd name="T13" fmla="*/ 39 h 94"/>
                <a:gd name="T14" fmla="*/ 55 w 94"/>
                <a:gd name="T15" fmla="*/ 28 h 94"/>
                <a:gd name="T16" fmla="*/ 66 w 94"/>
                <a:gd name="T17" fmla="*/ 55 h 94"/>
                <a:gd name="T18" fmla="*/ 39 w 94"/>
                <a:gd name="T19" fmla="*/ 6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" h="94">
                  <a:moveTo>
                    <a:pt x="62" y="9"/>
                  </a:moveTo>
                  <a:cubicBezTo>
                    <a:pt x="41" y="0"/>
                    <a:pt x="17" y="10"/>
                    <a:pt x="9" y="32"/>
                  </a:cubicBezTo>
                  <a:cubicBezTo>
                    <a:pt x="0" y="53"/>
                    <a:pt x="10" y="77"/>
                    <a:pt x="32" y="86"/>
                  </a:cubicBezTo>
                  <a:cubicBezTo>
                    <a:pt x="53" y="94"/>
                    <a:pt x="77" y="84"/>
                    <a:pt x="86" y="62"/>
                  </a:cubicBezTo>
                  <a:cubicBezTo>
                    <a:pt x="94" y="41"/>
                    <a:pt x="84" y="17"/>
                    <a:pt x="62" y="9"/>
                  </a:cubicBezTo>
                  <a:close/>
                  <a:moveTo>
                    <a:pt x="39" y="66"/>
                  </a:moveTo>
                  <a:cubicBezTo>
                    <a:pt x="29" y="62"/>
                    <a:pt x="24" y="50"/>
                    <a:pt x="28" y="39"/>
                  </a:cubicBezTo>
                  <a:cubicBezTo>
                    <a:pt x="32" y="29"/>
                    <a:pt x="44" y="24"/>
                    <a:pt x="55" y="28"/>
                  </a:cubicBezTo>
                  <a:cubicBezTo>
                    <a:pt x="65" y="32"/>
                    <a:pt x="71" y="44"/>
                    <a:pt x="66" y="55"/>
                  </a:cubicBezTo>
                  <a:cubicBezTo>
                    <a:pt x="62" y="65"/>
                    <a:pt x="50" y="71"/>
                    <a:pt x="39" y="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29" name="Freeform 39"/>
            <p:cNvSpPr>
              <a:spLocks noEditPoints="1"/>
            </p:cNvSpPr>
            <p:nvPr>
              <p:custDataLst>
                <p:tags r:id="rId47"/>
              </p:custDataLst>
            </p:nvPr>
          </p:nvSpPr>
          <p:spPr bwMode="auto">
            <a:xfrm>
              <a:off x="6783388" y="-225425"/>
              <a:ext cx="1062038" cy="1060450"/>
            </a:xfrm>
            <a:custGeom>
              <a:avLst/>
              <a:gdLst>
                <a:gd name="T0" fmla="*/ 187 w 282"/>
                <a:gd name="T1" fmla="*/ 25 h 282"/>
                <a:gd name="T2" fmla="*/ 25 w 282"/>
                <a:gd name="T3" fmla="*/ 95 h 282"/>
                <a:gd name="T4" fmla="*/ 95 w 282"/>
                <a:gd name="T5" fmla="*/ 257 h 282"/>
                <a:gd name="T6" fmla="*/ 257 w 282"/>
                <a:gd name="T7" fmla="*/ 187 h 282"/>
                <a:gd name="T8" fmla="*/ 187 w 282"/>
                <a:gd name="T9" fmla="*/ 25 h 282"/>
                <a:gd name="T10" fmla="*/ 110 w 282"/>
                <a:gd name="T11" fmla="*/ 218 h 282"/>
                <a:gd name="T12" fmla="*/ 64 w 282"/>
                <a:gd name="T13" fmla="*/ 110 h 282"/>
                <a:gd name="T14" fmla="*/ 172 w 282"/>
                <a:gd name="T15" fmla="*/ 64 h 282"/>
                <a:gd name="T16" fmla="*/ 218 w 282"/>
                <a:gd name="T17" fmla="*/ 172 h 282"/>
                <a:gd name="T18" fmla="*/ 110 w 282"/>
                <a:gd name="T19" fmla="*/ 21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2" h="282">
                  <a:moveTo>
                    <a:pt x="187" y="25"/>
                  </a:moveTo>
                  <a:cubicBezTo>
                    <a:pt x="123" y="0"/>
                    <a:pt x="51" y="31"/>
                    <a:pt x="25" y="95"/>
                  </a:cubicBezTo>
                  <a:cubicBezTo>
                    <a:pt x="0" y="159"/>
                    <a:pt x="31" y="231"/>
                    <a:pt x="95" y="257"/>
                  </a:cubicBezTo>
                  <a:cubicBezTo>
                    <a:pt x="159" y="282"/>
                    <a:pt x="231" y="251"/>
                    <a:pt x="257" y="187"/>
                  </a:cubicBezTo>
                  <a:cubicBezTo>
                    <a:pt x="282" y="123"/>
                    <a:pt x="251" y="51"/>
                    <a:pt x="187" y="25"/>
                  </a:cubicBezTo>
                  <a:close/>
                  <a:moveTo>
                    <a:pt x="110" y="218"/>
                  </a:moveTo>
                  <a:cubicBezTo>
                    <a:pt x="68" y="201"/>
                    <a:pt x="47" y="153"/>
                    <a:pt x="64" y="110"/>
                  </a:cubicBezTo>
                  <a:cubicBezTo>
                    <a:pt x="81" y="68"/>
                    <a:pt x="129" y="47"/>
                    <a:pt x="172" y="64"/>
                  </a:cubicBezTo>
                  <a:cubicBezTo>
                    <a:pt x="214" y="81"/>
                    <a:pt x="235" y="129"/>
                    <a:pt x="218" y="172"/>
                  </a:cubicBezTo>
                  <a:cubicBezTo>
                    <a:pt x="201" y="214"/>
                    <a:pt x="153" y="235"/>
                    <a:pt x="110" y="2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0" name="Freeform 40"/>
            <p:cNvSpPr/>
            <p:nvPr>
              <p:custDataLst>
                <p:tags r:id="rId48"/>
              </p:custDataLst>
            </p:nvPr>
          </p:nvSpPr>
          <p:spPr bwMode="auto">
            <a:xfrm>
              <a:off x="7499350" y="477838"/>
              <a:ext cx="403225" cy="411163"/>
            </a:xfrm>
            <a:custGeom>
              <a:avLst/>
              <a:gdLst>
                <a:gd name="T0" fmla="*/ 105 w 107"/>
                <a:gd name="T1" fmla="*/ 16 h 109"/>
                <a:gd name="T2" fmla="*/ 99 w 107"/>
                <a:gd name="T3" fmla="*/ 2 h 109"/>
                <a:gd name="T4" fmla="*/ 86 w 107"/>
                <a:gd name="T5" fmla="*/ 8 h 109"/>
                <a:gd name="T6" fmla="*/ 86 w 107"/>
                <a:gd name="T7" fmla="*/ 8 h 109"/>
                <a:gd name="T8" fmla="*/ 8 w 107"/>
                <a:gd name="T9" fmla="*/ 88 h 109"/>
                <a:gd name="T10" fmla="*/ 3 w 107"/>
                <a:gd name="T11" fmla="*/ 101 h 109"/>
                <a:gd name="T12" fmla="*/ 16 w 107"/>
                <a:gd name="T13" fmla="*/ 107 h 109"/>
                <a:gd name="T14" fmla="*/ 17 w 107"/>
                <a:gd name="T15" fmla="*/ 106 h 109"/>
                <a:gd name="T16" fmla="*/ 105 w 107"/>
                <a:gd name="T17" fmla="*/ 1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7" h="109">
                  <a:moveTo>
                    <a:pt x="105" y="16"/>
                  </a:moveTo>
                  <a:cubicBezTo>
                    <a:pt x="107" y="10"/>
                    <a:pt x="105" y="4"/>
                    <a:pt x="99" y="2"/>
                  </a:cubicBezTo>
                  <a:cubicBezTo>
                    <a:pt x="94" y="0"/>
                    <a:pt x="88" y="3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71" y="45"/>
                    <a:pt x="42" y="73"/>
                    <a:pt x="8" y="88"/>
                  </a:cubicBezTo>
                  <a:cubicBezTo>
                    <a:pt x="3" y="90"/>
                    <a:pt x="0" y="96"/>
                    <a:pt x="3" y="101"/>
                  </a:cubicBezTo>
                  <a:cubicBezTo>
                    <a:pt x="5" y="106"/>
                    <a:pt x="11" y="109"/>
                    <a:pt x="16" y="107"/>
                  </a:cubicBezTo>
                  <a:cubicBezTo>
                    <a:pt x="17" y="107"/>
                    <a:pt x="17" y="106"/>
                    <a:pt x="17" y="106"/>
                  </a:cubicBezTo>
                  <a:cubicBezTo>
                    <a:pt x="56" y="89"/>
                    <a:pt x="88" y="58"/>
                    <a:pt x="105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1" name="Freeform 41"/>
            <p:cNvSpPr/>
            <p:nvPr>
              <p:custDataLst>
                <p:tags r:id="rId49"/>
              </p:custDataLst>
            </p:nvPr>
          </p:nvSpPr>
          <p:spPr bwMode="auto">
            <a:xfrm>
              <a:off x="7623175" y="595313"/>
              <a:ext cx="569913" cy="579438"/>
            </a:xfrm>
            <a:custGeom>
              <a:avLst/>
              <a:gdLst>
                <a:gd name="T0" fmla="*/ 143 w 151"/>
                <a:gd name="T1" fmla="*/ 2 h 154"/>
                <a:gd name="T2" fmla="*/ 130 w 151"/>
                <a:gd name="T3" fmla="*/ 8 h 154"/>
                <a:gd name="T4" fmla="*/ 8 w 151"/>
                <a:gd name="T5" fmla="*/ 133 h 154"/>
                <a:gd name="T6" fmla="*/ 2 w 151"/>
                <a:gd name="T7" fmla="*/ 146 h 154"/>
                <a:gd name="T8" fmla="*/ 16 w 151"/>
                <a:gd name="T9" fmla="*/ 152 h 154"/>
                <a:gd name="T10" fmla="*/ 17 w 151"/>
                <a:gd name="T11" fmla="*/ 151 h 154"/>
                <a:gd name="T12" fmla="*/ 149 w 151"/>
                <a:gd name="T13" fmla="*/ 16 h 154"/>
                <a:gd name="T14" fmla="*/ 143 w 151"/>
                <a:gd name="T15" fmla="*/ 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54">
                  <a:moveTo>
                    <a:pt x="143" y="2"/>
                  </a:moveTo>
                  <a:cubicBezTo>
                    <a:pt x="138" y="0"/>
                    <a:pt x="132" y="3"/>
                    <a:pt x="130" y="8"/>
                  </a:cubicBezTo>
                  <a:cubicBezTo>
                    <a:pt x="106" y="66"/>
                    <a:pt x="61" y="110"/>
                    <a:pt x="8" y="133"/>
                  </a:cubicBezTo>
                  <a:cubicBezTo>
                    <a:pt x="3" y="135"/>
                    <a:pt x="0" y="141"/>
                    <a:pt x="2" y="146"/>
                  </a:cubicBezTo>
                  <a:cubicBezTo>
                    <a:pt x="5" y="152"/>
                    <a:pt x="11" y="154"/>
                    <a:pt x="16" y="152"/>
                  </a:cubicBezTo>
                  <a:cubicBezTo>
                    <a:pt x="16" y="152"/>
                    <a:pt x="16" y="152"/>
                    <a:pt x="17" y="151"/>
                  </a:cubicBezTo>
                  <a:cubicBezTo>
                    <a:pt x="75" y="126"/>
                    <a:pt x="124" y="79"/>
                    <a:pt x="149" y="16"/>
                  </a:cubicBezTo>
                  <a:cubicBezTo>
                    <a:pt x="151" y="10"/>
                    <a:pt x="149" y="4"/>
                    <a:pt x="14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2" name="Freeform 42"/>
            <p:cNvSpPr/>
            <p:nvPr>
              <p:custDataLst>
                <p:tags r:id="rId50"/>
              </p:custDataLst>
            </p:nvPr>
          </p:nvSpPr>
          <p:spPr bwMode="auto">
            <a:xfrm>
              <a:off x="7562850" y="538163"/>
              <a:ext cx="485775" cy="493713"/>
            </a:xfrm>
            <a:custGeom>
              <a:avLst/>
              <a:gdLst>
                <a:gd name="T0" fmla="*/ 121 w 129"/>
                <a:gd name="T1" fmla="*/ 2 h 131"/>
                <a:gd name="T2" fmla="*/ 107 w 129"/>
                <a:gd name="T3" fmla="*/ 7 h 131"/>
                <a:gd name="T4" fmla="*/ 7 w 129"/>
                <a:gd name="T5" fmla="*/ 110 h 131"/>
                <a:gd name="T6" fmla="*/ 7 w 129"/>
                <a:gd name="T7" fmla="*/ 110 h 131"/>
                <a:gd name="T8" fmla="*/ 2 w 129"/>
                <a:gd name="T9" fmla="*/ 123 h 131"/>
                <a:gd name="T10" fmla="*/ 16 w 129"/>
                <a:gd name="T11" fmla="*/ 129 h 131"/>
                <a:gd name="T12" fmla="*/ 16 w 129"/>
                <a:gd name="T13" fmla="*/ 128 h 131"/>
                <a:gd name="T14" fmla="*/ 127 w 129"/>
                <a:gd name="T15" fmla="*/ 15 h 131"/>
                <a:gd name="T16" fmla="*/ 121 w 129"/>
                <a:gd name="T17" fmla="*/ 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1">
                  <a:moveTo>
                    <a:pt x="121" y="2"/>
                  </a:moveTo>
                  <a:cubicBezTo>
                    <a:pt x="115" y="0"/>
                    <a:pt x="109" y="2"/>
                    <a:pt x="107" y="7"/>
                  </a:cubicBezTo>
                  <a:cubicBezTo>
                    <a:pt x="88" y="55"/>
                    <a:pt x="51" y="91"/>
                    <a:pt x="7" y="110"/>
                  </a:cubicBezTo>
                  <a:cubicBezTo>
                    <a:pt x="7" y="110"/>
                    <a:pt x="7" y="110"/>
                    <a:pt x="7" y="110"/>
                  </a:cubicBezTo>
                  <a:cubicBezTo>
                    <a:pt x="2" y="112"/>
                    <a:pt x="0" y="118"/>
                    <a:pt x="2" y="123"/>
                  </a:cubicBezTo>
                  <a:cubicBezTo>
                    <a:pt x="4" y="129"/>
                    <a:pt x="10" y="131"/>
                    <a:pt x="16" y="129"/>
                  </a:cubicBezTo>
                  <a:cubicBezTo>
                    <a:pt x="16" y="129"/>
                    <a:pt x="16" y="128"/>
                    <a:pt x="16" y="128"/>
                  </a:cubicBezTo>
                  <a:cubicBezTo>
                    <a:pt x="65" y="107"/>
                    <a:pt x="105" y="68"/>
                    <a:pt x="127" y="15"/>
                  </a:cubicBezTo>
                  <a:cubicBezTo>
                    <a:pt x="129" y="10"/>
                    <a:pt x="126" y="4"/>
                    <a:pt x="1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" name="Freeform 43"/>
            <p:cNvSpPr/>
            <p:nvPr>
              <p:custDataLst>
                <p:tags r:id="rId51"/>
              </p:custDataLst>
            </p:nvPr>
          </p:nvSpPr>
          <p:spPr bwMode="auto">
            <a:xfrm>
              <a:off x="6727825" y="-279400"/>
              <a:ext cx="401638" cy="411163"/>
            </a:xfrm>
            <a:custGeom>
              <a:avLst/>
              <a:gdLst>
                <a:gd name="T0" fmla="*/ 104 w 107"/>
                <a:gd name="T1" fmla="*/ 8 h 109"/>
                <a:gd name="T2" fmla="*/ 91 w 107"/>
                <a:gd name="T3" fmla="*/ 2 h 109"/>
                <a:gd name="T4" fmla="*/ 90 w 107"/>
                <a:gd name="T5" fmla="*/ 3 h 109"/>
                <a:gd name="T6" fmla="*/ 2 w 107"/>
                <a:gd name="T7" fmla="*/ 93 h 109"/>
                <a:gd name="T8" fmla="*/ 2 w 107"/>
                <a:gd name="T9" fmla="*/ 93 h 109"/>
                <a:gd name="T10" fmla="*/ 8 w 107"/>
                <a:gd name="T11" fmla="*/ 107 h 109"/>
                <a:gd name="T12" fmla="*/ 21 w 107"/>
                <a:gd name="T13" fmla="*/ 101 h 109"/>
                <a:gd name="T14" fmla="*/ 21 w 107"/>
                <a:gd name="T15" fmla="*/ 101 h 109"/>
                <a:gd name="T16" fmla="*/ 99 w 107"/>
                <a:gd name="T17" fmla="*/ 22 h 109"/>
                <a:gd name="T18" fmla="*/ 104 w 107"/>
                <a:gd name="T19" fmla="*/ 8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109">
                  <a:moveTo>
                    <a:pt x="104" y="8"/>
                  </a:moveTo>
                  <a:cubicBezTo>
                    <a:pt x="102" y="3"/>
                    <a:pt x="96" y="0"/>
                    <a:pt x="91" y="2"/>
                  </a:cubicBezTo>
                  <a:cubicBezTo>
                    <a:pt x="91" y="3"/>
                    <a:pt x="90" y="3"/>
                    <a:pt x="90" y="3"/>
                  </a:cubicBezTo>
                  <a:cubicBezTo>
                    <a:pt x="51" y="20"/>
                    <a:pt x="19" y="51"/>
                    <a:pt x="2" y="93"/>
                  </a:cubicBezTo>
                  <a:cubicBezTo>
                    <a:pt x="2" y="93"/>
                    <a:pt x="2" y="93"/>
                    <a:pt x="2" y="93"/>
                  </a:cubicBezTo>
                  <a:cubicBezTo>
                    <a:pt x="0" y="99"/>
                    <a:pt x="2" y="105"/>
                    <a:pt x="8" y="107"/>
                  </a:cubicBezTo>
                  <a:cubicBezTo>
                    <a:pt x="13" y="109"/>
                    <a:pt x="19" y="106"/>
                    <a:pt x="21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36" y="64"/>
                    <a:pt x="65" y="36"/>
                    <a:pt x="99" y="22"/>
                  </a:cubicBezTo>
                  <a:cubicBezTo>
                    <a:pt x="104" y="19"/>
                    <a:pt x="107" y="13"/>
                    <a:pt x="104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4" name="Freeform 44"/>
            <p:cNvSpPr/>
            <p:nvPr>
              <p:custDataLst>
                <p:tags r:id="rId52"/>
              </p:custDataLst>
            </p:nvPr>
          </p:nvSpPr>
          <p:spPr bwMode="auto">
            <a:xfrm>
              <a:off x="6437313" y="-565150"/>
              <a:ext cx="568325" cy="579438"/>
            </a:xfrm>
            <a:custGeom>
              <a:avLst/>
              <a:gdLst>
                <a:gd name="T0" fmla="*/ 149 w 151"/>
                <a:gd name="T1" fmla="*/ 8 h 154"/>
                <a:gd name="T2" fmla="*/ 135 w 151"/>
                <a:gd name="T3" fmla="*/ 2 h 154"/>
                <a:gd name="T4" fmla="*/ 134 w 151"/>
                <a:gd name="T5" fmla="*/ 3 h 154"/>
                <a:gd name="T6" fmla="*/ 2 w 151"/>
                <a:gd name="T7" fmla="*/ 138 h 154"/>
                <a:gd name="T8" fmla="*/ 8 w 151"/>
                <a:gd name="T9" fmla="*/ 152 h 154"/>
                <a:gd name="T10" fmla="*/ 21 w 151"/>
                <a:gd name="T11" fmla="*/ 146 h 154"/>
                <a:gd name="T12" fmla="*/ 143 w 151"/>
                <a:gd name="T13" fmla="*/ 21 h 154"/>
                <a:gd name="T14" fmla="*/ 149 w 151"/>
                <a:gd name="T15" fmla="*/ 8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54">
                  <a:moveTo>
                    <a:pt x="149" y="8"/>
                  </a:moveTo>
                  <a:cubicBezTo>
                    <a:pt x="146" y="2"/>
                    <a:pt x="140" y="0"/>
                    <a:pt x="135" y="2"/>
                  </a:cubicBezTo>
                  <a:cubicBezTo>
                    <a:pt x="135" y="2"/>
                    <a:pt x="135" y="2"/>
                    <a:pt x="134" y="3"/>
                  </a:cubicBezTo>
                  <a:cubicBezTo>
                    <a:pt x="76" y="28"/>
                    <a:pt x="27" y="75"/>
                    <a:pt x="2" y="138"/>
                  </a:cubicBezTo>
                  <a:cubicBezTo>
                    <a:pt x="0" y="144"/>
                    <a:pt x="2" y="150"/>
                    <a:pt x="8" y="152"/>
                  </a:cubicBezTo>
                  <a:cubicBezTo>
                    <a:pt x="13" y="154"/>
                    <a:pt x="19" y="152"/>
                    <a:pt x="21" y="146"/>
                  </a:cubicBezTo>
                  <a:cubicBezTo>
                    <a:pt x="45" y="88"/>
                    <a:pt x="90" y="44"/>
                    <a:pt x="143" y="21"/>
                  </a:cubicBezTo>
                  <a:cubicBezTo>
                    <a:pt x="148" y="19"/>
                    <a:pt x="151" y="13"/>
                    <a:pt x="149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5" name="Freeform 45"/>
            <p:cNvSpPr/>
            <p:nvPr>
              <p:custDataLst>
                <p:tags r:id="rId53"/>
              </p:custDataLst>
            </p:nvPr>
          </p:nvSpPr>
          <p:spPr bwMode="auto">
            <a:xfrm>
              <a:off x="6580188" y="-422275"/>
              <a:ext cx="485775" cy="496888"/>
            </a:xfrm>
            <a:custGeom>
              <a:avLst/>
              <a:gdLst>
                <a:gd name="T0" fmla="*/ 122 w 129"/>
                <a:gd name="T1" fmla="*/ 21 h 132"/>
                <a:gd name="T2" fmla="*/ 127 w 129"/>
                <a:gd name="T3" fmla="*/ 8 h 132"/>
                <a:gd name="T4" fmla="*/ 113 w 129"/>
                <a:gd name="T5" fmla="*/ 2 h 132"/>
                <a:gd name="T6" fmla="*/ 113 w 129"/>
                <a:gd name="T7" fmla="*/ 3 h 132"/>
                <a:gd name="T8" fmla="*/ 2 w 129"/>
                <a:gd name="T9" fmla="*/ 116 h 132"/>
                <a:gd name="T10" fmla="*/ 8 w 129"/>
                <a:gd name="T11" fmla="*/ 129 h 132"/>
                <a:gd name="T12" fmla="*/ 22 w 129"/>
                <a:gd name="T13" fmla="*/ 124 h 132"/>
                <a:gd name="T14" fmla="*/ 122 w 129"/>
                <a:gd name="T15" fmla="*/ 2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" h="132">
                  <a:moveTo>
                    <a:pt x="122" y="21"/>
                  </a:moveTo>
                  <a:cubicBezTo>
                    <a:pt x="127" y="19"/>
                    <a:pt x="129" y="13"/>
                    <a:pt x="127" y="8"/>
                  </a:cubicBezTo>
                  <a:cubicBezTo>
                    <a:pt x="125" y="2"/>
                    <a:pt x="119" y="0"/>
                    <a:pt x="113" y="2"/>
                  </a:cubicBezTo>
                  <a:cubicBezTo>
                    <a:pt x="113" y="2"/>
                    <a:pt x="113" y="3"/>
                    <a:pt x="113" y="3"/>
                  </a:cubicBezTo>
                  <a:cubicBezTo>
                    <a:pt x="64" y="24"/>
                    <a:pt x="24" y="63"/>
                    <a:pt x="2" y="116"/>
                  </a:cubicBezTo>
                  <a:cubicBezTo>
                    <a:pt x="0" y="121"/>
                    <a:pt x="3" y="127"/>
                    <a:pt x="8" y="129"/>
                  </a:cubicBezTo>
                  <a:cubicBezTo>
                    <a:pt x="14" y="132"/>
                    <a:pt x="20" y="129"/>
                    <a:pt x="22" y="124"/>
                  </a:cubicBezTo>
                  <a:cubicBezTo>
                    <a:pt x="41" y="76"/>
                    <a:pt x="78" y="40"/>
                    <a:pt x="122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136" name="Group 104"/>
          <p:cNvGrpSpPr/>
          <p:nvPr>
            <p:custDataLst>
              <p:tags r:id="rId54"/>
            </p:custDataLst>
          </p:nvPr>
        </p:nvGrpSpPr>
        <p:grpSpPr>
          <a:xfrm>
            <a:off x="4383733" y="2674969"/>
            <a:ext cx="1929544" cy="1929544"/>
            <a:chOff x="6964641" y="2706230"/>
            <a:chExt cx="1620000" cy="1620000"/>
          </a:xfrm>
        </p:grpSpPr>
        <p:sp>
          <p:nvSpPr>
            <p:cNvPr id="137" name="Oval 105"/>
            <p:cNvSpPr>
              <a:spLocks noChangeAspect="1" noChangeArrowheads="1"/>
            </p:cNvSpPr>
            <p:nvPr>
              <p:custDataLst>
                <p:tags r:id="rId55"/>
              </p:custDataLst>
            </p:nvPr>
          </p:nvSpPr>
          <p:spPr bwMode="auto">
            <a:xfrm flipV="1">
              <a:off x="6964641" y="2706230"/>
              <a:ext cx="1620000" cy="1620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8" name="Oval 106"/>
            <p:cNvSpPr>
              <a:spLocks noChangeAspect="1" noChangeArrowheads="1"/>
            </p:cNvSpPr>
            <p:nvPr>
              <p:custDataLst>
                <p:tags r:id="rId56"/>
              </p:custDataLst>
            </p:nvPr>
          </p:nvSpPr>
          <p:spPr bwMode="auto">
            <a:xfrm flipV="1">
              <a:off x="7084503" y="2832230"/>
              <a:ext cx="1368000" cy="1368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139" name="Group 107"/>
          <p:cNvGrpSpPr/>
          <p:nvPr>
            <p:custDataLst>
              <p:tags r:id="rId57"/>
            </p:custDataLst>
          </p:nvPr>
        </p:nvGrpSpPr>
        <p:grpSpPr>
          <a:xfrm>
            <a:off x="4855983" y="3091641"/>
            <a:ext cx="970422" cy="1038108"/>
            <a:chOff x="7148350" y="5290017"/>
            <a:chExt cx="271233" cy="269186"/>
          </a:xfrm>
          <a:solidFill>
            <a:schemeClr val="accent5"/>
          </a:solidFill>
        </p:grpSpPr>
        <p:sp>
          <p:nvSpPr>
            <p:cNvPr id="140" name="Freeform 921"/>
            <p:cNvSpPr/>
            <p:nvPr>
              <p:custDataLst>
                <p:tags r:id="rId58"/>
              </p:custDataLst>
            </p:nvPr>
          </p:nvSpPr>
          <p:spPr bwMode="auto">
            <a:xfrm>
              <a:off x="7309395" y="5424609"/>
              <a:ext cx="28253" cy="106553"/>
            </a:xfrm>
            <a:custGeom>
              <a:avLst/>
              <a:gdLst>
                <a:gd name="T0" fmla="*/ 9 w 19"/>
                <a:gd name="T1" fmla="*/ 73 h 73"/>
                <a:gd name="T2" fmla="*/ 0 w 19"/>
                <a:gd name="T3" fmla="*/ 64 h 73"/>
                <a:gd name="T4" fmla="*/ 0 w 19"/>
                <a:gd name="T5" fmla="*/ 9 h 73"/>
                <a:gd name="T6" fmla="*/ 9 w 19"/>
                <a:gd name="T7" fmla="*/ 0 h 73"/>
                <a:gd name="T8" fmla="*/ 19 w 19"/>
                <a:gd name="T9" fmla="*/ 9 h 73"/>
                <a:gd name="T10" fmla="*/ 19 w 19"/>
                <a:gd name="T11" fmla="*/ 64 h 73"/>
                <a:gd name="T12" fmla="*/ 9 w 19"/>
                <a:gd name="T1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73">
                  <a:moveTo>
                    <a:pt x="9" y="73"/>
                  </a:moveTo>
                  <a:cubicBezTo>
                    <a:pt x="4" y="73"/>
                    <a:pt x="0" y="69"/>
                    <a:pt x="0" y="6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9" y="4"/>
                    <a:pt x="19" y="9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9"/>
                    <a:pt x="14" y="73"/>
                    <a:pt x="9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41" name="Freeform 922"/>
            <p:cNvSpPr/>
            <p:nvPr>
              <p:custDataLst>
                <p:tags r:id="rId59"/>
              </p:custDataLst>
            </p:nvPr>
          </p:nvSpPr>
          <p:spPr bwMode="auto">
            <a:xfrm>
              <a:off x="7230285" y="5424609"/>
              <a:ext cx="28253" cy="106553"/>
            </a:xfrm>
            <a:custGeom>
              <a:avLst/>
              <a:gdLst>
                <a:gd name="T0" fmla="*/ 9 w 19"/>
                <a:gd name="T1" fmla="*/ 73 h 73"/>
                <a:gd name="T2" fmla="*/ 0 w 19"/>
                <a:gd name="T3" fmla="*/ 64 h 73"/>
                <a:gd name="T4" fmla="*/ 0 w 19"/>
                <a:gd name="T5" fmla="*/ 9 h 73"/>
                <a:gd name="T6" fmla="*/ 9 w 19"/>
                <a:gd name="T7" fmla="*/ 0 h 73"/>
                <a:gd name="T8" fmla="*/ 19 w 19"/>
                <a:gd name="T9" fmla="*/ 9 h 73"/>
                <a:gd name="T10" fmla="*/ 19 w 19"/>
                <a:gd name="T11" fmla="*/ 64 h 73"/>
                <a:gd name="T12" fmla="*/ 9 w 19"/>
                <a:gd name="T1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73">
                  <a:moveTo>
                    <a:pt x="9" y="73"/>
                  </a:moveTo>
                  <a:cubicBezTo>
                    <a:pt x="4" y="73"/>
                    <a:pt x="0" y="69"/>
                    <a:pt x="0" y="6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9" y="4"/>
                    <a:pt x="19" y="9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9"/>
                    <a:pt x="14" y="73"/>
                    <a:pt x="9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42" name="Freeform 923"/>
            <p:cNvSpPr/>
            <p:nvPr>
              <p:custDataLst>
                <p:tags r:id="rId60"/>
              </p:custDataLst>
            </p:nvPr>
          </p:nvSpPr>
          <p:spPr bwMode="auto">
            <a:xfrm>
              <a:off x="7269840" y="5449846"/>
              <a:ext cx="28253" cy="109357"/>
            </a:xfrm>
            <a:custGeom>
              <a:avLst/>
              <a:gdLst>
                <a:gd name="T0" fmla="*/ 9 w 18"/>
                <a:gd name="T1" fmla="*/ 74 h 74"/>
                <a:gd name="T2" fmla="*/ 0 w 18"/>
                <a:gd name="T3" fmla="*/ 65 h 74"/>
                <a:gd name="T4" fmla="*/ 0 w 18"/>
                <a:gd name="T5" fmla="*/ 9 h 74"/>
                <a:gd name="T6" fmla="*/ 9 w 18"/>
                <a:gd name="T7" fmla="*/ 0 h 74"/>
                <a:gd name="T8" fmla="*/ 18 w 18"/>
                <a:gd name="T9" fmla="*/ 9 h 74"/>
                <a:gd name="T10" fmla="*/ 18 w 18"/>
                <a:gd name="T11" fmla="*/ 65 h 74"/>
                <a:gd name="T12" fmla="*/ 9 w 18"/>
                <a:gd name="T1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4">
                  <a:moveTo>
                    <a:pt x="9" y="74"/>
                  </a:moveTo>
                  <a:cubicBezTo>
                    <a:pt x="4" y="74"/>
                    <a:pt x="0" y="70"/>
                    <a:pt x="0" y="6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18" y="70"/>
                    <a:pt x="14" y="74"/>
                    <a:pt x="9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43" name="Freeform 924"/>
            <p:cNvSpPr/>
            <p:nvPr>
              <p:custDataLst>
                <p:tags r:id="rId61"/>
              </p:custDataLst>
            </p:nvPr>
          </p:nvSpPr>
          <p:spPr bwMode="auto">
            <a:xfrm>
              <a:off x="7148350" y="5290017"/>
              <a:ext cx="271233" cy="187870"/>
            </a:xfrm>
            <a:custGeom>
              <a:avLst/>
              <a:gdLst>
                <a:gd name="T0" fmla="*/ 37 w 184"/>
                <a:gd name="T1" fmla="*/ 129 h 129"/>
                <a:gd name="T2" fmla="*/ 0 w 184"/>
                <a:gd name="T3" fmla="*/ 92 h 129"/>
                <a:gd name="T4" fmla="*/ 28 w 184"/>
                <a:gd name="T5" fmla="*/ 56 h 129"/>
                <a:gd name="T6" fmla="*/ 28 w 184"/>
                <a:gd name="T7" fmla="*/ 55 h 129"/>
                <a:gd name="T8" fmla="*/ 83 w 184"/>
                <a:gd name="T9" fmla="*/ 0 h 129"/>
                <a:gd name="T10" fmla="*/ 135 w 184"/>
                <a:gd name="T11" fmla="*/ 37 h 129"/>
                <a:gd name="T12" fmla="*/ 184 w 184"/>
                <a:gd name="T13" fmla="*/ 83 h 129"/>
                <a:gd name="T14" fmla="*/ 150 w 184"/>
                <a:gd name="T15" fmla="*/ 127 h 129"/>
                <a:gd name="T16" fmla="*/ 139 w 184"/>
                <a:gd name="T17" fmla="*/ 121 h 129"/>
                <a:gd name="T18" fmla="*/ 145 w 184"/>
                <a:gd name="T19" fmla="*/ 109 h 129"/>
                <a:gd name="T20" fmla="*/ 165 w 184"/>
                <a:gd name="T21" fmla="*/ 83 h 129"/>
                <a:gd name="T22" fmla="*/ 138 w 184"/>
                <a:gd name="T23" fmla="*/ 55 h 129"/>
                <a:gd name="T24" fmla="*/ 130 w 184"/>
                <a:gd name="T25" fmla="*/ 56 h 129"/>
                <a:gd name="T26" fmla="*/ 120 w 184"/>
                <a:gd name="T27" fmla="*/ 59 h 129"/>
                <a:gd name="T28" fmla="*/ 119 w 184"/>
                <a:gd name="T29" fmla="*/ 49 h 129"/>
                <a:gd name="T30" fmla="*/ 83 w 184"/>
                <a:gd name="T31" fmla="*/ 18 h 129"/>
                <a:gd name="T32" fmla="*/ 46 w 184"/>
                <a:gd name="T33" fmla="*/ 55 h 129"/>
                <a:gd name="T34" fmla="*/ 47 w 184"/>
                <a:gd name="T35" fmla="*/ 63 h 129"/>
                <a:gd name="T36" fmla="*/ 49 w 184"/>
                <a:gd name="T37" fmla="*/ 74 h 129"/>
                <a:gd name="T38" fmla="*/ 36 w 184"/>
                <a:gd name="T39" fmla="*/ 73 h 129"/>
                <a:gd name="T40" fmla="*/ 18 w 184"/>
                <a:gd name="T41" fmla="*/ 92 h 129"/>
                <a:gd name="T42" fmla="*/ 37 w 184"/>
                <a:gd name="T43" fmla="*/ 110 h 129"/>
                <a:gd name="T44" fmla="*/ 46 w 184"/>
                <a:gd name="T45" fmla="*/ 119 h 129"/>
                <a:gd name="T46" fmla="*/ 37 w 184"/>
                <a:gd name="T47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4" h="129">
                  <a:moveTo>
                    <a:pt x="37" y="129"/>
                  </a:moveTo>
                  <a:cubicBezTo>
                    <a:pt x="16" y="129"/>
                    <a:pt x="0" y="112"/>
                    <a:pt x="0" y="92"/>
                  </a:cubicBezTo>
                  <a:cubicBezTo>
                    <a:pt x="0" y="75"/>
                    <a:pt x="12" y="60"/>
                    <a:pt x="28" y="56"/>
                  </a:cubicBezTo>
                  <a:cubicBezTo>
                    <a:pt x="28" y="56"/>
                    <a:pt x="28" y="56"/>
                    <a:pt x="28" y="55"/>
                  </a:cubicBezTo>
                  <a:cubicBezTo>
                    <a:pt x="28" y="25"/>
                    <a:pt x="52" y="0"/>
                    <a:pt x="83" y="0"/>
                  </a:cubicBezTo>
                  <a:cubicBezTo>
                    <a:pt x="106" y="0"/>
                    <a:pt x="127" y="15"/>
                    <a:pt x="135" y="37"/>
                  </a:cubicBezTo>
                  <a:cubicBezTo>
                    <a:pt x="162" y="35"/>
                    <a:pt x="184" y="56"/>
                    <a:pt x="184" y="83"/>
                  </a:cubicBezTo>
                  <a:cubicBezTo>
                    <a:pt x="184" y="103"/>
                    <a:pt x="170" y="121"/>
                    <a:pt x="150" y="127"/>
                  </a:cubicBezTo>
                  <a:cubicBezTo>
                    <a:pt x="145" y="128"/>
                    <a:pt x="140" y="125"/>
                    <a:pt x="139" y="121"/>
                  </a:cubicBezTo>
                  <a:cubicBezTo>
                    <a:pt x="137" y="116"/>
                    <a:pt x="140" y="111"/>
                    <a:pt x="145" y="109"/>
                  </a:cubicBezTo>
                  <a:cubicBezTo>
                    <a:pt x="157" y="106"/>
                    <a:pt x="165" y="95"/>
                    <a:pt x="165" y="83"/>
                  </a:cubicBezTo>
                  <a:cubicBezTo>
                    <a:pt x="165" y="68"/>
                    <a:pt x="153" y="55"/>
                    <a:pt x="138" y="55"/>
                  </a:cubicBezTo>
                  <a:cubicBezTo>
                    <a:pt x="136" y="55"/>
                    <a:pt x="133" y="56"/>
                    <a:pt x="130" y="56"/>
                  </a:cubicBezTo>
                  <a:cubicBezTo>
                    <a:pt x="120" y="59"/>
                    <a:pt x="120" y="59"/>
                    <a:pt x="120" y="59"/>
                  </a:cubicBezTo>
                  <a:cubicBezTo>
                    <a:pt x="119" y="49"/>
                    <a:pt x="119" y="49"/>
                    <a:pt x="119" y="49"/>
                  </a:cubicBezTo>
                  <a:cubicBezTo>
                    <a:pt x="116" y="31"/>
                    <a:pt x="101" y="18"/>
                    <a:pt x="83" y="18"/>
                  </a:cubicBezTo>
                  <a:cubicBezTo>
                    <a:pt x="62" y="18"/>
                    <a:pt x="46" y="35"/>
                    <a:pt x="46" y="55"/>
                  </a:cubicBezTo>
                  <a:cubicBezTo>
                    <a:pt x="46" y="58"/>
                    <a:pt x="46" y="60"/>
                    <a:pt x="47" y="63"/>
                  </a:cubicBezTo>
                  <a:cubicBezTo>
                    <a:pt x="49" y="74"/>
                    <a:pt x="49" y="74"/>
                    <a:pt x="49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27" y="74"/>
                    <a:pt x="18" y="82"/>
                    <a:pt x="18" y="92"/>
                  </a:cubicBezTo>
                  <a:cubicBezTo>
                    <a:pt x="18" y="102"/>
                    <a:pt x="27" y="110"/>
                    <a:pt x="37" y="110"/>
                  </a:cubicBezTo>
                  <a:cubicBezTo>
                    <a:pt x="42" y="110"/>
                    <a:pt x="46" y="114"/>
                    <a:pt x="46" y="119"/>
                  </a:cubicBezTo>
                  <a:cubicBezTo>
                    <a:pt x="46" y="125"/>
                    <a:pt x="42" y="129"/>
                    <a:pt x="37" y="1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64795" y="2017395"/>
            <a:ext cx="2691765" cy="1938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/>
              <a:t>Parallel execution and precise timing semantics exceed the linear generation capability of typical LLMs.</a:t>
            </a:r>
            <a:endParaRPr lang="en-US" altLang="zh-CN" sz="2000"/>
          </a:p>
        </p:txBody>
      </p:sp>
      <p:sp>
        <p:nvSpPr>
          <p:cNvPr id="13" name="文本框 12"/>
          <p:cNvSpPr txBox="1"/>
          <p:nvPr/>
        </p:nvSpPr>
        <p:spPr>
          <a:xfrm>
            <a:off x="7891145" y="1713865"/>
            <a:ext cx="2752725" cy="1938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/>
              <a:t>Verilog has extremely low tolerance for syntax errors, and correctness must be validated through simulation.</a:t>
            </a:r>
            <a:endParaRPr lang="en-US" altLang="zh-CN" sz="2000"/>
          </a:p>
        </p:txBody>
      </p:sp>
      <p:sp>
        <p:nvSpPr>
          <p:cNvPr id="14" name="文本框 13"/>
          <p:cNvSpPr txBox="1"/>
          <p:nvPr/>
        </p:nvSpPr>
        <p:spPr>
          <a:xfrm>
            <a:off x="352425" y="5309870"/>
            <a:ext cx="3183255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/>
              <a:t>SFT-based models tend to memorize surface patterns rather than ensure executable correctness.</a:t>
            </a:r>
            <a:endParaRPr lang="en-US" altLang="zh-CN" sz="2000"/>
          </a:p>
        </p:txBody>
      </p:sp>
      <p:sp>
        <p:nvSpPr>
          <p:cNvPr id="15" name="文本框 14"/>
          <p:cNvSpPr txBox="1"/>
          <p:nvPr/>
        </p:nvSpPr>
        <p:spPr>
          <a:xfrm>
            <a:off x="7891145" y="5227955"/>
            <a:ext cx="2911475" cy="16300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/>
              <a:t>Models struggle to generalize to new tasks, complex circuits, or unseen module structures.</a:t>
            </a:r>
            <a:endParaRPr lang="en-US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267843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Challenges</a:t>
            </a:r>
            <a:endParaRPr lang="en-US" altLang="zh-CN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浙江大学-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1700" y="133350"/>
            <a:ext cx="956945" cy="95694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2374236" y="2212845"/>
            <a:ext cx="6049067" cy="2163818"/>
            <a:chOff x="2686385" y="1983722"/>
            <a:chExt cx="6049067" cy="2163818"/>
          </a:xfrm>
        </p:grpSpPr>
        <p:sp>
          <p:nvSpPr>
            <p:cNvPr id="11" name="任意多边形 10"/>
            <p:cNvSpPr/>
            <p:nvPr/>
          </p:nvSpPr>
          <p:spPr>
            <a:xfrm rot="19320000">
              <a:off x="2686385" y="3256449"/>
              <a:ext cx="6049067" cy="891091"/>
            </a:xfrm>
            <a:custGeom>
              <a:avLst/>
              <a:gdLst>
                <a:gd name="connsiteX0" fmla="*/ 5871090 w 6049067"/>
                <a:gd name="connsiteY0" fmla="*/ 665132 h 891091"/>
                <a:gd name="connsiteX1" fmla="*/ 6049067 w 6049067"/>
                <a:gd name="connsiteY1" fmla="*/ 804183 h 891091"/>
                <a:gd name="connsiteX2" fmla="*/ 6013780 w 6049067"/>
                <a:gd name="connsiteY2" fmla="*/ 836246 h 891091"/>
                <a:gd name="connsiteX3" fmla="*/ 5834230 w 6049067"/>
                <a:gd name="connsiteY3" fmla="*/ 891091 h 891091"/>
                <a:gd name="connsiteX4" fmla="*/ 321135 w 6049067"/>
                <a:gd name="connsiteY4" fmla="*/ 891091 h 891091"/>
                <a:gd name="connsiteX5" fmla="*/ 0 w 6049067"/>
                <a:gd name="connsiteY5" fmla="*/ 569956 h 891091"/>
                <a:gd name="connsiteX6" fmla="*/ 0 w 6049067"/>
                <a:gd name="connsiteY6" fmla="*/ 199220 h 891091"/>
                <a:gd name="connsiteX7" fmla="*/ 113866 w 6049067"/>
                <a:gd name="connsiteY7" fmla="*/ 120214 h 891091"/>
                <a:gd name="connsiteX8" fmla="*/ 228972 w 6049067"/>
                <a:gd name="connsiteY8" fmla="*/ 0 h 891091"/>
                <a:gd name="connsiteX9" fmla="*/ 228972 w 6049067"/>
                <a:gd name="connsiteY9" fmla="*/ 372117 h 891091"/>
                <a:gd name="connsiteX10" fmla="*/ 521987 w 6049067"/>
                <a:gd name="connsiteY10" fmla="*/ 665133 h 891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49067" h="891091">
                  <a:moveTo>
                    <a:pt x="5871090" y="665132"/>
                  </a:moveTo>
                  <a:lnTo>
                    <a:pt x="6049067" y="804183"/>
                  </a:lnTo>
                  <a:lnTo>
                    <a:pt x="6013780" y="836246"/>
                  </a:lnTo>
                  <a:cubicBezTo>
                    <a:pt x="5962527" y="870873"/>
                    <a:pt x="5900740" y="891091"/>
                    <a:pt x="5834230" y="891091"/>
                  </a:cubicBezTo>
                  <a:lnTo>
                    <a:pt x="321135" y="891091"/>
                  </a:lnTo>
                  <a:cubicBezTo>
                    <a:pt x="143777" y="891091"/>
                    <a:pt x="0" y="747314"/>
                    <a:pt x="0" y="569956"/>
                  </a:cubicBezTo>
                  <a:lnTo>
                    <a:pt x="0" y="199220"/>
                  </a:lnTo>
                  <a:lnTo>
                    <a:pt x="113866" y="120214"/>
                  </a:lnTo>
                  <a:lnTo>
                    <a:pt x="228972" y="0"/>
                  </a:lnTo>
                  <a:lnTo>
                    <a:pt x="228972" y="372117"/>
                  </a:lnTo>
                  <a:cubicBezTo>
                    <a:pt x="228972" y="533945"/>
                    <a:pt x="360159" y="665132"/>
                    <a:pt x="521987" y="665133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2633485">
              <a:off x="7988013" y="1983722"/>
              <a:ext cx="539138" cy="286028"/>
            </a:xfrm>
            <a:prstGeom prst="triangle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3" name="椭圆 32"/>
          <p:cNvSpPr>
            <a:spLocks noChangeAspect="1"/>
          </p:cNvSpPr>
          <p:nvPr/>
        </p:nvSpPr>
        <p:spPr>
          <a:xfrm>
            <a:off x="1226820" y="4064000"/>
            <a:ext cx="1855470" cy="1855470"/>
          </a:xfrm>
          <a:prstGeom prst="ellipse">
            <a:avLst/>
          </a:prstGeom>
          <a:solidFill>
            <a:srgbClr val="C0010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8185223" y="2641314"/>
            <a:ext cx="4006850" cy="586740"/>
            <a:chOff x="8185223" y="2308574"/>
            <a:chExt cx="4006850" cy="586740"/>
          </a:xfrm>
        </p:grpSpPr>
        <p:grpSp>
          <p:nvGrpSpPr>
            <p:cNvPr id="14" name="组合 13"/>
            <p:cNvGrpSpPr/>
            <p:nvPr/>
          </p:nvGrpSpPr>
          <p:grpSpPr>
            <a:xfrm>
              <a:off x="8185223" y="2308574"/>
              <a:ext cx="4006850" cy="586740"/>
              <a:chOff x="8374465" y="1875448"/>
              <a:chExt cx="4006850" cy="586740"/>
            </a:xfrm>
          </p:grpSpPr>
          <p:sp>
            <p:nvSpPr>
              <p:cNvPr id="29" name="五边形 28"/>
              <p:cNvSpPr/>
              <p:nvPr>
                <p:custDataLst>
                  <p:tags r:id="rId4"/>
                </p:custDataLst>
              </p:nvPr>
            </p:nvSpPr>
            <p:spPr>
              <a:xfrm>
                <a:off x="8374465" y="1875448"/>
                <a:ext cx="4006850" cy="586740"/>
              </a:xfrm>
              <a:prstGeom prst="homePlate">
                <a:avLst/>
              </a:prstGeom>
              <a:solidFill>
                <a:srgbClr val="3E41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461307" y="1947331"/>
                <a:ext cx="539750" cy="460375"/>
              </a:xfrm>
              <a:prstGeom prst="rect">
                <a:avLst/>
              </a:prstGeom>
              <a:solidFill>
                <a:srgbClr val="3E4150"/>
              </a:solidFill>
            </p:spPr>
            <p:txBody>
              <a:bodyPr wrap="none" rtlCol="0">
                <a:spAutoFit/>
              </a:bodyPr>
              <a:p>
                <a:r>
                  <a:rPr lang="en-US" altLang="zh-CN" sz="2400" dirty="0">
                    <a:solidFill>
                      <a:schemeClr val="bg1"/>
                    </a:solidFill>
                    <a:effectLst>
                      <a:outerShdw blurRad="50800" dist="254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effectLst>
                    <a:outerShdw blurRad="50800" dist="254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51" name="矩形 50"/>
            <p:cNvSpPr/>
            <p:nvPr>
              <p:custDataLst>
                <p:tags r:id="rId6"/>
              </p:custDataLst>
            </p:nvPr>
          </p:nvSpPr>
          <p:spPr>
            <a:xfrm>
              <a:off x="8947793" y="2402736"/>
              <a:ext cx="2919095" cy="368300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/>
              <a:r>
                <a:rPr lang="en-US" altLang="zh-CN" b="1" noProof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Catastrophic Forgetting</a:t>
              </a:r>
              <a:endParaRPr lang="en-US" altLang="zh-CN" b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5641412" y="4579655"/>
            <a:ext cx="3904615" cy="586740"/>
            <a:chOff x="5641412" y="4246915"/>
            <a:chExt cx="3904615" cy="586740"/>
          </a:xfrm>
        </p:grpSpPr>
        <p:grpSp>
          <p:nvGrpSpPr>
            <p:cNvPr id="49" name="组合 48"/>
            <p:cNvGrpSpPr/>
            <p:nvPr/>
          </p:nvGrpSpPr>
          <p:grpSpPr>
            <a:xfrm>
              <a:off x="5641412" y="4246915"/>
              <a:ext cx="3904615" cy="586740"/>
              <a:chOff x="5955991" y="3974937"/>
              <a:chExt cx="3904615" cy="586740"/>
            </a:xfrm>
          </p:grpSpPr>
          <p:sp>
            <p:nvSpPr>
              <p:cNvPr id="41" name="五边形 40"/>
              <p:cNvSpPr/>
              <p:nvPr>
                <p:custDataLst>
                  <p:tags r:id="rId8"/>
                </p:custDataLst>
              </p:nvPr>
            </p:nvSpPr>
            <p:spPr>
              <a:xfrm>
                <a:off x="5955991" y="3974937"/>
                <a:ext cx="3904615" cy="586740"/>
              </a:xfrm>
              <a:prstGeom prst="homePlate">
                <a:avLst/>
              </a:prstGeom>
              <a:solidFill>
                <a:srgbClr val="3E41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042833" y="4046820"/>
                <a:ext cx="539750" cy="460375"/>
              </a:xfrm>
              <a:prstGeom prst="rect">
                <a:avLst/>
              </a:prstGeom>
              <a:solidFill>
                <a:srgbClr val="3E4150"/>
              </a:solidFill>
            </p:spPr>
            <p:txBody>
              <a:bodyPr wrap="none" rtlCol="0">
                <a:spAutoFit/>
              </a:bodyPr>
              <a:p>
                <a:r>
                  <a:rPr lang="en-US" altLang="zh-CN" sz="2400" dirty="0">
                    <a:solidFill>
                      <a:schemeClr val="bg1"/>
                    </a:solidFill>
                    <a:effectLst>
                      <a:outerShdw blurRad="50800" dist="254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effectLst>
                    <a:outerShdw blurRad="50800" dist="254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53" name="矩形 52"/>
            <p:cNvSpPr/>
            <p:nvPr>
              <p:custDataLst>
                <p:tags r:id="rId10"/>
              </p:custDataLst>
            </p:nvPr>
          </p:nvSpPr>
          <p:spPr>
            <a:xfrm>
              <a:off x="6357421" y="4357189"/>
              <a:ext cx="2989580" cy="368300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/>
              <a:r>
                <a:rPr lang="en-US" altLang="zh-CN" b="1" noProof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Sparse &amp; Noisy Rewards</a:t>
              </a:r>
              <a:endParaRPr lang="en-US" altLang="zh-CN" b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21035" y="1007919"/>
            <a:ext cx="6396355" cy="2375535"/>
            <a:chOff x="1255120" y="1536057"/>
            <a:chExt cx="6396355" cy="2375535"/>
          </a:xfrm>
        </p:grpSpPr>
        <p:sp>
          <p:nvSpPr>
            <p:cNvPr id="48" name="矩形 47"/>
            <p:cNvSpPr/>
            <p:nvPr/>
          </p:nvSpPr>
          <p:spPr>
            <a:xfrm>
              <a:off x="1255120" y="2080252"/>
              <a:ext cx="6396355" cy="1831340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New RL-based approaches such as GRPO highlight the shift from pattern memorization to simulation-driven learning. They show promising directions but also expose key challenges.</a:t>
              </a:r>
              <a:endParaRPr lang="en-US" altLang="zh-CN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1349006" y="1536057"/>
              <a:ext cx="5720080" cy="544195"/>
              <a:chOff x="1349006" y="1536057"/>
              <a:chExt cx="5720080" cy="544195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1349006" y="1536057"/>
                <a:ext cx="5720080" cy="544195"/>
              </a:xfrm>
              <a:prstGeom prst="rect">
                <a:avLst/>
              </a:prstGeom>
              <a:solidFill>
                <a:srgbClr val="CF01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1372279" y="1536057"/>
                <a:ext cx="5696585" cy="52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:pPr algn="l"/>
                <a:r>
                  <a:rPr lang="en-US" altLang="zh-CN" sz="2800" b="1" noProof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Rise of RL for Code Generation</a:t>
                </a:r>
                <a:endParaRPr lang="de-DE" altLang="zh-CN" sz="2800" b="1" noProof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9" name="图片 18" descr="地图位置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17980" y="4344670"/>
            <a:ext cx="1127760" cy="112776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601335" y="5255895"/>
            <a:ext cx="43313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Simulation feedback is often binary (pass/fail) and hard to obtain which leads to unstable reward modeling and poor training signals.</a:t>
            </a:r>
            <a:endParaRPr lang="en-US" altLang="zh-CN" sz="2000"/>
          </a:p>
        </p:txBody>
      </p:sp>
      <p:sp>
        <p:nvSpPr>
          <p:cNvPr id="21" name="文本框 20"/>
          <p:cNvSpPr txBox="1"/>
          <p:nvPr/>
        </p:nvSpPr>
        <p:spPr>
          <a:xfrm>
            <a:off x="7202805" y="3332480"/>
            <a:ext cx="49898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Model easily overfits to recent rewards. Meanwhile, KL regularization from GRPO is not sufficient to stabilize learning.</a:t>
            </a:r>
            <a:endParaRPr lang="en-US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14673" y="178263"/>
            <a:ext cx="744791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Overview of VERIRL Framework</a:t>
            </a:r>
            <a:endParaRPr lang="en-US" altLang="zh-CN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 descr="浙江大学-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1700" y="133350"/>
            <a:ext cx="956945" cy="956945"/>
          </a:xfrm>
          <a:prstGeom prst="rect">
            <a:avLst/>
          </a:prstGeom>
        </p:spPr>
      </p:pic>
      <p:pic>
        <p:nvPicPr>
          <p:cNvPr id="11" name="图片 10" descr="framework_overview_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" y="1090295"/>
            <a:ext cx="11671935" cy="4543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5535930"/>
            <a:ext cx="104178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 </a:t>
            </a:r>
            <a:r>
              <a:rPr lang="en-US" altLang="zh-CN" sz="20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Dense reward modeling</a:t>
            </a:r>
            <a:r>
              <a:rPr lang="en-US" altLang="zh-CN" sz="2000"/>
              <a:t> with </a:t>
            </a:r>
            <a:r>
              <a:rPr lang="en-US" altLang="zh-CN" sz="20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Trace-back based Rescore</a:t>
            </a:r>
            <a:r>
              <a:rPr lang="en-US" altLang="zh-CN" sz="2000"/>
              <a:t> ensuring fine-grained functional feedback.</a:t>
            </a:r>
            <a:endParaRPr lang="en-US" altLang="zh-CN" sz="2000"/>
          </a:p>
          <a:p>
            <a:r>
              <a:rPr lang="en-US" altLang="zh-CN" sz="2000"/>
              <a:t>2. </a:t>
            </a:r>
            <a:r>
              <a:rPr lang="en-US" altLang="zh-CN" sz="20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Rigorous sample filtering</a:t>
            </a:r>
            <a:r>
              <a:rPr lang="en-US" altLang="zh-CN" sz="2000"/>
              <a:t> via </a:t>
            </a:r>
            <a:r>
              <a:rPr lang="en-US" altLang="zh-CN" sz="20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Sample-balanced Weighting</a:t>
            </a:r>
            <a:r>
              <a:rPr lang="en-US" altLang="zh-CN" sz="2000"/>
              <a:t>, yielding high-quality reasoning data for stable RL training.</a:t>
            </a:r>
            <a:endParaRPr lang="en-US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545655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VeriBench-53K Dataset</a:t>
            </a:r>
            <a:endParaRPr lang="en-US" altLang="zh-CN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浙江大学-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1700" y="133350"/>
            <a:ext cx="956945" cy="956945"/>
          </a:xfrm>
          <a:prstGeom prst="rect">
            <a:avLst/>
          </a:prstGeom>
        </p:spPr>
      </p:pic>
      <p:pic>
        <p:nvPicPr>
          <p:cNvPr id="10" name="图片 9" descr="Veribench_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3595"/>
            <a:ext cx="6356350" cy="603440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503670" y="586105"/>
            <a:ext cx="551497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1. Deduplication &amp; Filtering</a:t>
            </a:r>
            <a:endParaRPr lang="en-US" altLang="zh-CN" sz="2400" b="1"/>
          </a:p>
          <a:p>
            <a:r>
              <a:rPr lang="en-US" altLang="zh-CN" sz="2400"/>
              <a:t>Start from PyraNet (700K problems) and then remove duplicates, non-compilable, and low-quality entries.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 b="1"/>
              <a:t>2. Problem Rewriting</a:t>
            </a:r>
            <a:endParaRPr lang="en-US" altLang="zh-CN" sz="2400" b="1"/>
          </a:p>
          <a:p>
            <a:r>
              <a:rPr lang="en-US" altLang="zh-CN" sz="2400"/>
              <a:t>Use GPT-4o-mini to convert functional descriptions </a:t>
            </a:r>
            <a:r>
              <a:rPr lang="en-US" altLang="en-US" sz="2400"/>
              <a:t>→</a:t>
            </a:r>
            <a:r>
              <a:rPr lang="en-US" altLang="zh-CN" sz="2400"/>
              <a:t> structured, VerilogEval-style questions.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 b="1"/>
              <a:t>3. Testbench Generation</a:t>
            </a:r>
            <a:endParaRPr lang="en-US" altLang="zh-CN" sz="2400" b="1"/>
          </a:p>
          <a:p>
            <a:r>
              <a:rPr lang="en-US" altLang="zh-CN" sz="2400"/>
              <a:t>GPT-4o-mini generates 5–10 diverse testbenches per problem, which enables simulation-based correctness checking.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608393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Trace-back based Rescore</a:t>
            </a:r>
            <a:endParaRPr lang="en-US" altLang="zh-CN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浙江大学-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1700" y="133350"/>
            <a:ext cx="956945" cy="956945"/>
          </a:xfrm>
          <a:prstGeom prst="rect">
            <a:avLst/>
          </a:prstGeom>
        </p:spPr>
      </p:pic>
      <p:pic>
        <p:nvPicPr>
          <p:cNvPr id="10" name="图片 9" descr="preference_data_generation_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295"/>
            <a:ext cx="12192000" cy="32448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0" y="4482465"/>
            <a:ext cx="104667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1. Reward-tree construction: generate multiple answers, flag low-reward ones, refine via self-reflection.</a:t>
            </a:r>
            <a:endParaRPr lang="en-US" altLang="zh-CN" sz="2400"/>
          </a:p>
          <a:p>
            <a:r>
              <a:rPr lang="en-US" altLang="zh-CN" sz="2400"/>
              <a:t>2. TbR: rescore parent nodes by averaging child rewards, backpropagating improvements.</a:t>
            </a:r>
            <a:endParaRPr lang="en-US" altLang="zh-CN" sz="2400"/>
          </a:p>
          <a:p>
            <a:r>
              <a:rPr lang="en-US" altLang="zh-CN" sz="2400"/>
              <a:t>3. Preference pair selection: choose answer pairs with large reward gaps (Δ&gt;0.4, positive&gt;0.8).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668083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Sample-balanced Weighting</a:t>
            </a:r>
            <a:endParaRPr lang="en-US" altLang="zh-CN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浙江大学-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1700" y="133350"/>
            <a:ext cx="956945" cy="9569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1550"/>
            <a:ext cx="10949940" cy="28213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0" y="4065905"/>
                <a:ext cx="10449560" cy="267589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p>
                <a:r>
                  <a:rPr lang="en-US" altLang="zh-CN" sz="2400">
                    <a:sym typeface="+mn-ea"/>
                  </a:rPr>
                  <a:t>Goal: Balance diverse sample qualities → stable RL training</a:t>
                </a:r>
                <a:endParaRPr lang="en-US" altLang="zh-CN" sz="2400"/>
              </a:p>
              <a:p>
                <a:endParaRPr lang="en-US" altLang="zh-CN" sz="2400"/>
              </a:p>
              <a:p>
                <a:r>
                  <a:rPr lang="en-US" altLang="zh-CN" sz="2400"/>
                  <a:t>Step 1: Categorize samples by generation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/>
                  <a:t> and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US" altLang="zh-CN" sz="2400"/>
                  <a:t>​: High-quality, Overfitting, High-capacity, Noisy, Normal</a:t>
                </a:r>
                <a:endParaRPr lang="en-US" altLang="zh-CN" sz="2400"/>
              </a:p>
              <a:p>
                <a:pPr indent="0">
                  <a:buFont typeface="Arial" panose="020B0604020202020204"/>
                  <a:buNone/>
                </a:pPr>
                <a:r>
                  <a:rPr lang="en-US" altLang="zh-CN" sz="2400"/>
                  <a:t>Step 2:Dynamic weighting strategy:</a:t>
                </a:r>
                <a:endParaRPr lang="en-US" altLang="zh-CN" sz="2400"/>
              </a:p>
              <a:p>
                <a:pPr indent="0">
                  <a:buFont typeface="Arial" panose="020B0604020202020204"/>
                  <a:buNone/>
                </a:pPr>
                <a:r>
                  <a:rPr lang="en-US" altLang="zh-CN" sz="2400"/>
                  <a:t>α (advantage weight) ↑ encourages learning</a:t>
                </a:r>
                <a:endParaRPr lang="en-US" altLang="zh-CN" sz="2400"/>
              </a:p>
              <a:p>
                <a:pPr indent="0">
                  <a:buFont typeface="Arial" panose="020B0604020202020204"/>
                  <a:buNone/>
                </a:pPr>
                <a:r>
                  <a:rPr lang="en-US" altLang="zh-CN" sz="2400"/>
                  <a:t>β (regularization weight) ↓ constrains unstable updates</a:t>
                </a:r>
                <a:endParaRPr lang="en-US" altLang="zh-CN" sz="2400"/>
              </a:p>
              <a:p>
                <a:pPr lvl="1">
                  <a:buFont typeface="Arial" panose="020B0604020202020204"/>
                  <a:buChar char="◦"/>
                </a:pPr>
                <a:endParaRPr lang="en-US" altLang="zh-CN" sz="2400"/>
              </a:p>
              <a:p>
                <a:pPr indent="0">
                  <a:buFont typeface="Arial" panose="020B0604020202020204"/>
                  <a:buNone/>
                </a:pPr>
                <a:endParaRPr lang="en-US" altLang="zh-CN" sz="24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65905"/>
                <a:ext cx="10449560" cy="2675890"/>
              </a:xfrm>
              <a:prstGeom prst="rect">
                <a:avLst/>
              </a:prstGeom>
              <a:blipFill rotWithShape="1">
                <a:blip r:embed="rId4"/>
                <a:stretch>
                  <a:fillRect b="-250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290385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Main Result</a:t>
            </a:r>
            <a:endParaRPr lang="en-US" altLang="zh-CN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浙江大学-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1700" y="133350"/>
            <a:ext cx="956945" cy="9569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6300"/>
            <a:ext cx="8963660" cy="48190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5790565"/>
            <a:ext cx="968883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/>
              <a:t>Our VeriRL achieves SOTA on both benchmarks and o</a:t>
            </a:r>
            <a:r>
              <a:rPr lang="en-US" altLang="zh-CN" sz="2400">
                <a:sym typeface="+mn-ea"/>
              </a:rPr>
              <a:t>utperforms prior best Verilog-specific models.</a:t>
            </a:r>
            <a:endParaRPr lang="en-US" altLang="zh-CN" sz="2400"/>
          </a:p>
        </p:txBody>
      </p:sp>
      <p:sp>
        <p:nvSpPr>
          <p:cNvPr id="11" name="文本框 10"/>
          <p:cNvSpPr txBox="1"/>
          <p:nvPr/>
        </p:nvSpPr>
        <p:spPr>
          <a:xfrm>
            <a:off x="9243060" y="2040890"/>
            <a:ext cx="294894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ym typeface="+mn-ea"/>
              </a:rPr>
              <a:t>VerilogEval-Human</a:t>
            </a:r>
            <a:r>
              <a:rPr lang="en-US" altLang="zh-CN" sz="2400">
                <a:sym typeface="+mn-ea"/>
              </a:rPr>
              <a:t>: 69.3% (pass@1), 78.1% (pass@5)</a:t>
            </a:r>
            <a:endParaRPr lang="en-US" altLang="zh-CN" sz="2400">
              <a:sym typeface="+mn-ea"/>
            </a:endParaRPr>
          </a:p>
          <a:p>
            <a:endParaRPr lang="en-US" altLang="zh-CN" sz="2400"/>
          </a:p>
          <a:p>
            <a:pPr indent="0">
              <a:buFont typeface="Arial" panose="020B0604020202020204"/>
              <a:buNone/>
            </a:pPr>
            <a:r>
              <a:rPr lang="en-US" altLang="zh-CN" sz="2400" b="1">
                <a:sym typeface="+mn-ea"/>
              </a:rPr>
              <a:t>RTLLM v1.1</a:t>
            </a:r>
            <a:r>
              <a:rPr lang="en-US" altLang="zh-CN" sz="2400">
                <a:sym typeface="+mn-ea"/>
              </a:rPr>
              <a:t>: </a:t>
            </a:r>
            <a:endParaRPr lang="en-US" altLang="zh-CN" sz="2400">
              <a:sym typeface="+mn-ea"/>
            </a:endParaRPr>
          </a:p>
          <a:p>
            <a:pPr indent="0">
              <a:buFont typeface="Arial" panose="020B0604020202020204"/>
              <a:buNone/>
            </a:pPr>
            <a:r>
              <a:rPr lang="en-US" altLang="zh-CN" sz="2400">
                <a:sym typeface="+mn-ea"/>
              </a:rPr>
              <a:t>58.2% (pass@1), 66.0% (pass@5)</a:t>
            </a:r>
            <a:endParaRPr lang="en-US" altLang="zh-CN" sz="2400"/>
          </a:p>
          <a:p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360108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Ablation Study</a:t>
            </a:r>
            <a:endParaRPr lang="en-US" altLang="zh-CN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浙江大学-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1700" y="133350"/>
            <a:ext cx="956945" cy="9569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223645"/>
            <a:ext cx="11394440" cy="27139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0" y="4070985"/>
            <a:ext cx="10095865" cy="23069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 b="1"/>
              <a:t>Ablation Study on VerilogEval v1</a:t>
            </a:r>
            <a:endParaRPr lang="en-US" altLang="zh-CN" sz="2400"/>
          </a:p>
          <a:p>
            <a:pPr>
              <a:buFont typeface="Arial" panose="020B0604020202020204"/>
              <a:buChar char="•"/>
            </a:pPr>
            <a:r>
              <a:rPr lang="en-US" altLang="zh-CN" sz="2400"/>
              <a:t>Baseline (Reinforce++ only): 53.2% / 61.5%</a:t>
            </a:r>
            <a:endParaRPr lang="en-US" altLang="zh-CN" sz="2400"/>
          </a:p>
          <a:p>
            <a:pPr>
              <a:buFont typeface="Arial" panose="020B0604020202020204"/>
              <a:buChar char="•"/>
            </a:pPr>
            <a:endParaRPr lang="en-US" altLang="zh-CN" sz="2400"/>
          </a:p>
          <a:p>
            <a:pPr>
              <a:buFont typeface="Arial" panose="020B0604020202020204"/>
              <a:buChar char="•"/>
            </a:pPr>
            <a:r>
              <a:rPr lang="en-US" altLang="zh-CN" sz="2400"/>
              <a:t>+ TbR: +12.1% pass@1 → leverages partially correct samples</a:t>
            </a:r>
            <a:endParaRPr lang="en-US" altLang="zh-CN" sz="2400"/>
          </a:p>
          <a:p>
            <a:pPr>
              <a:buFont typeface="Arial" panose="020B0604020202020204"/>
              <a:buChar char="•"/>
            </a:pPr>
            <a:r>
              <a:rPr lang="en-US" altLang="zh-CN" sz="2400"/>
              <a:t>+ SbW: +11.5% pass@1 → stabilizes training via adaptive weighting</a:t>
            </a:r>
            <a:endParaRPr lang="en-US" altLang="zh-CN" sz="2400"/>
          </a:p>
          <a:p>
            <a:pPr>
              <a:buFont typeface="Arial" panose="020B0604020202020204"/>
              <a:buChar char="•"/>
            </a:pPr>
            <a:r>
              <a:rPr lang="en-US" altLang="zh-CN" sz="2400"/>
              <a:t>+ TbR + SbW (Ours): 69.3% / 78.1% → complementary gains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483743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Analysis Experiment</a:t>
            </a:r>
            <a:endParaRPr lang="en-US" altLang="zh-CN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浙江大学-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1700" y="133350"/>
            <a:ext cx="956945" cy="956945"/>
          </a:xfrm>
          <a:prstGeom prst="rect">
            <a:avLst/>
          </a:prstGeom>
        </p:spPr>
      </p:pic>
      <p:pic>
        <p:nvPicPr>
          <p:cNvPr id="2" name="图片 1" descr="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4865"/>
            <a:ext cx="7233285" cy="60159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322185" y="1386840"/>
            <a:ext cx="486918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Analysis of TbR &amp; SbW</a:t>
            </a:r>
            <a:endParaRPr lang="en-US" altLang="zh-CN" sz="2400" b="1"/>
          </a:p>
          <a:p>
            <a:endParaRPr lang="en-US" altLang="zh-CN" sz="2400"/>
          </a:p>
          <a:p>
            <a:r>
              <a:rPr lang="en-US" altLang="zh-CN" sz="2400"/>
              <a:t>Trace-back Rescore: </a:t>
            </a:r>
            <a:endParaRPr lang="en-US" altLang="zh-CN" sz="2400"/>
          </a:p>
          <a:p>
            <a:r>
              <a:rPr lang="en-US" altLang="zh-CN" sz="2400"/>
              <a:t>Recovers partially correct samples </a:t>
            </a:r>
            <a:r>
              <a:rPr lang="en-US" altLang="en-US" sz="2400"/>
              <a:t>→</a:t>
            </a:r>
            <a:r>
              <a:rPr lang="en-US" altLang="zh-CN" sz="2400"/>
              <a:t> increases proportion of effective rewards.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Sample-balanced Weighting: </a:t>
            </a:r>
            <a:endParaRPr lang="en-US" altLang="zh-CN" sz="2400"/>
          </a:p>
          <a:p>
            <a:r>
              <a:rPr lang="en-US" altLang="zh-CN" sz="2400"/>
              <a:t>Re-weights sample categories </a:t>
            </a:r>
            <a:r>
              <a:rPr lang="en-US" altLang="en-US" sz="2400"/>
              <a:t>→</a:t>
            </a:r>
            <a:r>
              <a:rPr lang="en-US" altLang="zh-CN" sz="2400"/>
              <a:t> reshapes distribution for balanced and stable RL training.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25700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zh-CN" sz="8000"/>
              <a:t>Thanks</a:t>
            </a:r>
            <a:endParaRPr lang="en-US" altLang="zh-CN" sz="8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6.7541732283465,&quot;left&quot;:6.429291338582675,&quot;top&quot;:105.65354330708658,&quot;width&quot;:944.7796062992127}"/>
</p:tagLst>
</file>

<file path=ppt/tags/tag2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3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4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5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6.xml><?xml version="1.0" encoding="utf-8"?>
<p:tagLst xmlns:p="http://schemas.openxmlformats.org/presentationml/2006/main">
  <p:tag name="KSO_WM_DIAGRAM_VIRTUALLY_FRAME" val="{&quot;height&quot;:426.7541732283465,&quot;left&quot;:6.429291338582675,&quot;top&quot;:105.65354330708658,&quot;width&quot;:944.7796062992127}"/>
</p:tagLst>
</file>

<file path=ppt/tags/tag7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8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9.xml><?xml version="1.0" encoding="utf-8"?>
<p:tagLst xmlns:p="http://schemas.openxmlformats.org/presentationml/2006/main">
  <p:tag name="KSO_WM_DIAGRAM_VIRTUALLY_FRAME" val="{&quot;height&quot;:426.7541732283465,&quot;left&quot;:6.429291338582675,&quot;top&quot;:105.65354330708658,&quot;width&quot;:944.7796062992127}"/>
</p:tagLst>
</file>

<file path=ppt/tags/tag10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11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12.xml><?xml version="1.0" encoding="utf-8"?>
<p:tagLst xmlns:p="http://schemas.openxmlformats.org/presentationml/2006/main">
  <p:tag name="KSO_WM_DIAGRAM_VIRTUALLY_FRAME" val="{&quot;height&quot;:426.7541732283465,&quot;left&quot;:6.429291338582675,&quot;top&quot;:105.65354330708658,&quot;width&quot;:944.7796062992127}"/>
</p:tagLst>
</file>

<file path=ppt/tags/tag13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14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15.xml><?xml version="1.0" encoding="utf-8"?>
<p:tagLst xmlns:p="http://schemas.openxmlformats.org/presentationml/2006/main">
  <p:tag name="KSO_WM_DIAGRAM_VIRTUALLY_FRAME" val="{&quot;height&quot;:426.7541732283465,&quot;left&quot;:6.429291338582675,&quot;top&quot;:105.65354330708658,&quot;width&quot;:944.7796062992127}"/>
</p:tagLst>
</file>

<file path=ppt/tags/tag16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17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18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19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20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21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22.xml><?xml version="1.0" encoding="utf-8"?>
<p:tagLst xmlns:p="http://schemas.openxmlformats.org/presentationml/2006/main">
  <p:tag name="KSO_WM_DIAGRAM_VIRTUALLY_FRAME" val="{&quot;height&quot;:426.7541732283465,&quot;left&quot;:6.429291338582675,&quot;top&quot;:105.65354330708658,&quot;width&quot;:944.7796062992127}"/>
</p:tagLst>
</file>

<file path=ppt/tags/tag23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24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25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26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27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28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29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30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31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32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33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34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35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36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37.xml><?xml version="1.0" encoding="utf-8"?>
<p:tagLst xmlns:p="http://schemas.openxmlformats.org/presentationml/2006/main">
  <p:tag name="KSO_WM_DIAGRAM_VIRTUALLY_FRAME" val="{&quot;height&quot;:426.7541732283465,&quot;left&quot;:6.429291338582675,&quot;top&quot;:105.65354330708658,&quot;width&quot;:944.7796062992127}"/>
</p:tagLst>
</file>

<file path=ppt/tags/tag38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39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40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41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42.xml><?xml version="1.0" encoding="utf-8"?>
<p:tagLst xmlns:p="http://schemas.openxmlformats.org/presentationml/2006/main">
  <p:tag name="KSO_WM_DIAGRAM_VIRTUALLY_FRAME" val="{&quot;height&quot;:426.7541732283465,&quot;left&quot;:6.429291338582675,&quot;top&quot;:105.65354330708658,&quot;width&quot;:944.7796062992127}"/>
</p:tagLst>
</file>

<file path=ppt/tags/tag43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44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45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46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47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48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49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50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51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52.xml><?xml version="1.0" encoding="utf-8"?>
<p:tagLst xmlns:p="http://schemas.openxmlformats.org/presentationml/2006/main">
  <p:tag name="KSO_WM_DIAGRAM_VIRTUALLY_FRAME" val="{&quot;height&quot;:426.7541732283465,&quot;left&quot;:6.429291338582675,&quot;top&quot;:105.65354330708658,&quot;width&quot;:944.7796062992127}"/>
</p:tagLst>
</file>

<file path=ppt/tags/tag53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54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55.xml><?xml version="1.0" encoding="utf-8"?>
<p:tagLst xmlns:p="http://schemas.openxmlformats.org/presentationml/2006/main">
  <p:tag name="KSO_WM_DIAGRAM_VIRTUALLY_FRAME" val="{&quot;height&quot;:426.7541732283465,&quot;left&quot;:6.429291338582675,&quot;top&quot;:105.65354330708658,&quot;width&quot;:944.7796062992127}"/>
</p:tagLst>
</file>

<file path=ppt/tags/tag56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57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58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59.xml><?xml version="1.0" encoding="utf-8"?>
<p:tagLst xmlns:p="http://schemas.openxmlformats.org/presentationml/2006/main">
  <p:tag name="KSO_WM_DIAGRAM_VIRTUALLY_FRAME" val="{&quot;height&quot;:426.7541732283465,&quot;left&quot;:6.429291338582675,&quot;top&quot;:89.90354330708658,&quot;width&quot;:944.7796062992127}"/>
</p:tagLst>
</file>

<file path=ppt/tags/tag60.xml><?xml version="1.0" encoding="utf-8"?>
<p:tagLst xmlns:p="http://schemas.openxmlformats.org/presentationml/2006/main">
  <p:tag name="KSO_WM_DIAGRAM_VIRTUALLY_FRAME" val="{&quot;height&quot;:198.82094488188977,&quot;left&quot;:444.20566929133855,&quot;top&quot;:181.77748031496063,&quot;width&quot;:402.9218110236219}"/>
</p:tagLst>
</file>

<file path=ppt/tags/tag61.xml><?xml version="1.0" encoding="utf-8"?>
<p:tagLst xmlns:p="http://schemas.openxmlformats.org/presentationml/2006/main">
  <p:tag name="KSO_WM_DIAGRAM_VIRTUALLY_FRAME" val="{&quot;height&quot;:198.82094488188977,&quot;left&quot;:444.20566929133855,&quot;top&quot;:181.77748031496063,&quot;width&quot;:402.9218110236219}"/>
</p:tagLst>
</file>

<file path=ppt/tags/tag62.xml><?xml version="1.0" encoding="utf-8"?>
<p:tagLst xmlns:p="http://schemas.openxmlformats.org/presentationml/2006/main">
  <p:tag name="KSO_WM_DIAGRAM_VIRTUALLY_FRAME" val="{&quot;height&quot;:198.82094488188977,&quot;left&quot;:444.20566929133855,&quot;top&quot;:181.77748031496063,&quot;width&quot;:402.9218110236219}"/>
</p:tagLst>
</file>

<file path=ppt/tags/tag63.xml><?xml version="1.0" encoding="utf-8"?>
<p:tagLst xmlns:p="http://schemas.openxmlformats.org/presentationml/2006/main">
  <p:tag name="KSO_WM_DIAGRAM_VIRTUALLY_FRAME" val="{&quot;height&quot;:198.82094488188977,&quot;left&quot;:444.20566929133855,&quot;top&quot;:181.77748031496063,&quot;width&quot;:402.9218110236219}"/>
</p:tagLst>
</file>

<file path=ppt/tags/tag64.xml><?xml version="1.0" encoding="utf-8"?>
<p:tagLst xmlns:p="http://schemas.openxmlformats.org/presentationml/2006/main">
  <p:tag name="KSO_WM_DIAGRAM_VIRTUALLY_FRAME" val="{&quot;height&quot;:198.82094488188977,&quot;left&quot;:444.20566929133855,&quot;top&quot;:181.77748031496063,&quot;width&quot;:402.9218110236219}"/>
</p:tagLst>
</file>

<file path=ppt/tags/tag65.xml><?xml version="1.0" encoding="utf-8"?>
<p:tagLst xmlns:p="http://schemas.openxmlformats.org/presentationml/2006/main">
  <p:tag name="KSO_WM_DIAGRAM_VIRTUALLY_FRAME" val="{&quot;height&quot;:198.82094488188977,&quot;left&quot;:444.20566929133855,&quot;top&quot;:181.77748031496063,&quot;width&quot;:402.9218110236219}"/>
</p:tagLst>
</file>

<file path=ppt/tags/tag66.xml><?xml version="1.0" encoding="utf-8"?>
<p:tagLst xmlns:p="http://schemas.openxmlformats.org/presentationml/2006/main">
  <p:tag name="KSO_WM_DIAGRAM_VIRTUALLY_FRAME" val="{&quot;height&quot;:198.82094488188977,&quot;left&quot;:444.20566929133855,&quot;top&quot;:181.77748031496063,&quot;width&quot;:402.9218110236219}"/>
</p:tagLst>
</file>

<file path=ppt/tags/tag67.xml><?xml version="1.0" encoding="utf-8"?>
<p:tagLst xmlns:p="http://schemas.openxmlformats.org/presentationml/2006/main">
  <p:tag name="KSO_WM_DIAGRAM_VIRTUALLY_FRAME" val="{&quot;height&quot;:198.82094488188977,&quot;left&quot;:444.20566929133855,&quot;top&quot;:181.77748031496063,&quot;width&quot;:402.9218110236219}"/>
</p:tagLst>
</file>

<file path=ppt/tags/tag68.xml><?xml version="1.0" encoding="utf-8"?>
<p:tagLst xmlns:p="http://schemas.openxmlformats.org/presentationml/2006/main">
  <p:tag name="resource_record_key" val="{&quot;10&quot;:[6192153,21540296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3226</Words>
  <Application>WPS 演示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Aptos Display</vt:lpstr>
      <vt:lpstr>Segoe UI</vt:lpstr>
      <vt:lpstr>等线 Light</vt:lpstr>
      <vt:lpstr>Aptos</vt:lpstr>
      <vt:lpstr>等线</vt:lpstr>
      <vt:lpstr>微软雅黑</vt:lpstr>
      <vt:lpstr>Arial Unicode MS</vt:lpstr>
      <vt:lpstr>Calibri</vt:lpstr>
      <vt:lpstr>Arial</vt:lpstr>
      <vt:lpstr>Cambria Math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VERIRL: Boosting the LLM-based Verilog Code Generation via Reinforcement Learning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mackenzie hough</dc:creator>
  <cp:lastModifiedBy>潘淼</cp:lastModifiedBy>
  <cp:revision>11</cp:revision>
  <dcterms:created xsi:type="dcterms:W3CDTF">2024-06-28T13:35:00Z</dcterms:created>
  <dcterms:modified xsi:type="dcterms:W3CDTF">2025-10-04T15:44:45Z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3497FFDCB1D14917AA1F69BA4062D067_12</vt:lpwstr>
  </property>
  <property fmtid="{D5CDD505-2E9C-101B-9397-08002B2CF9AE}" pid="3" name="KSOProductBuildVer">
    <vt:lpwstr>2052-12.1.0.21541</vt:lpwstr>
  </property>
</Properties>
</file>