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6.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7.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0.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1.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4.xml" ContentType="application/vnd.openxmlformats-officedocument.presentationml.tags+xml"/>
  <Override PartName="/ppt/notesSlides/notesSlide12.xml" ContentType="application/vnd.openxmlformats-officedocument.presentationml.notesSlide+xml"/>
  <Override PartName="/ppt/tags/tag85.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notesSlides/notesSlide13.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14.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9.xml" ContentType="application/vnd.openxmlformats-officedocument.presentationml.tags+xml"/>
  <Override PartName="/ppt/notesSlides/notesSlide15.xml" ContentType="application/vnd.openxmlformats-officedocument.presentationml.notesSlide+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77.xml" ContentType="application/vnd.openxmlformats-officedocument.presentationml.tags+xml"/>
  <Override PartName="/ppt/tags/tag80.xml" ContentType="application/vnd.openxmlformats-officedocument.presentationml.tags+xml"/>
  <Override PartName="/ppt/tags/tag83.xml" ContentType="application/vnd.openxmlformats-officedocument.presentationml.tags+xml"/>
  <Override PartName="/ppt/tags/tag86.xml" ContentType="application/vnd.openxmlformats-officedocument.presentationml.tags+xml"/>
  <Override PartName="/ppt/tags/tag89.xml" ContentType="application/vnd.openxmlformats-officedocument.presentationml.tags+xml"/>
  <Override PartName="/ppt/tags/tag92.xml" ContentType="application/vnd.openxmlformats-officedocument.presentationml.tags+xml"/>
  <Override PartName="/ppt/tags/tag108.xml" ContentType="application/vnd.openxmlformats-officedocument.presentationml.tags+xml"/>
  <Override PartName="/ppt/tags/tag118.xml" ContentType="application/vnd.openxmlformats-officedocument.presentationml.tags+xml"/>
  <Override PartName="/ppt/tags/tag128.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2"/>
  </p:sldMasterIdLst>
  <p:notesMasterIdLst>
    <p:notesMasterId r:id="rId19"/>
  </p:notesMasterIdLst>
  <p:sldIdLst>
    <p:sldId id="256" r:id="rId3"/>
    <p:sldId id="257" r:id="rId4"/>
    <p:sldId id="258" r:id="rId5"/>
    <p:sldId id="259" r:id="rId6"/>
    <p:sldId id="1473" r:id="rId7"/>
    <p:sldId id="261" r:id="rId8"/>
    <p:sldId id="263" r:id="rId9"/>
    <p:sldId id="264" r:id="rId10"/>
    <p:sldId id="265" r:id="rId11"/>
    <p:sldId id="266" r:id="rId12"/>
    <p:sldId id="273" r:id="rId13"/>
    <p:sldId id="268" r:id="rId14"/>
    <p:sldId id="269" r:id="rId15"/>
    <p:sldId id="274" r:id="rId16"/>
    <p:sldId id="270"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85"/>
    <p:restoredTop sz="96271"/>
  </p:normalViewPr>
  <p:slideViewPr>
    <p:cSldViewPr snapToGrid="0" snapToObjects="1">
      <p:cViewPr varScale="1">
        <p:scale>
          <a:sx n="124" d="100"/>
          <a:sy n="124" d="100"/>
        </p:scale>
        <p:origin x="22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0:42
Script:
Good morning everyone. Today I will present our work on regret-optimal and stability-enhanced online sampling of the Wiener process for remote estimation over an unreliable channel with unknown statistics. The central question is simple: if a sensor observes a continuously evolving source, but the communication channel has random delay and packet loss that we do not know in advance, how should the sensor decide when to sample and transmit? Our answer is an online threshold-learning algorithm that converges to the offline MSE-optimal policy, achieves minimax-optimal regret rates, and becomes significantly more stable after Polyak-Ruppert averaging.
Rehearsal cue:
开场要慢，突出三个关键词：unknown statistics, unreliable channel, regret-optimal.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0:48
Script:
I will structure the talk in four parts. First, I will motivate why we care about MSE-oriented remote estimation rather than only the age of information. Second, I will introduce the model and explain why the optimal threshold becomes implicit when transmissions can fail. Third, I will present our online learning framework: Robbins-Monro stochastic approximation learns the optimal parameter, and Polyak-Ruppert averaging improves finite-sample stability. Finally, I will summarize the theoretical guarantees and simulation results. The main message is that we can learn an MSE-optimal sampling rule online, without estimating the full delay distribution.
Rehearsal cue:
这一页是路线图，给听众建立预期，不要展开技术细节。</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1:06
Script:
Many networked systems rely on timely and accurate status updates. Examples include remote health monitoring, GPS tracking, and drone control. In these applications, the receiver is not only interested in whether the latest packet is fresh; it needs to reconstruct a time-varying physical state. If the source keeps evolving after the last received sample, the estimation error grows. A sensor could sample aggressively to reduce this error, but that consumes energy and communication resources. Therefore, the problem is a trade-off: sample early enough to control estimation error, but not so frequently that the system violates resource constraints.
Rehearsal cue:
强调 AoI 和 MSE 的区别：freshness 是间接指标，MSE 是估计质量。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
Script:
We model the source as a scalar Wiener process. The sensor samples the process and sends a timestamped packet to a remote estimator. The channel is unreliable: each transmission attempt can fail with probability alpha, and each attempt also experiences a random delay. The sensor receives feedback after each attempt, so it knows whether the attempt succeeded or failed before taking the next sample. The receiver always uses the freshest successfully delivered sample as the MMSE estimate. The optimization objective is the long-term average MSE at the receiver, subject to a maximum average sampling frequency. This constraint captures practical limitations such as energy budget and channel load.
Rehearsal cue:
这一页要把符号说清楚：W_t, D, α, MSE, f_max。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F7551-CFFE-B2F7-E882-3E9BE12D8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0999C-62D2-8576-79D7-1A7DF3756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747F8-6F7C-0DF1-FD93-75E8473A7E14}"/>
              </a:ext>
            </a:extLst>
          </p:cNvPr>
          <p:cNvSpPr>
            <a:spLocks noGrp="1"/>
          </p:cNvSpPr>
          <p:nvPr>
            <p:ph type="body" idx="1"/>
          </p:nvPr>
        </p:nvSpPr>
        <p:spPr/>
        <p:txBody>
          <a:bodyPr/>
          <a:lstStyle/>
          <a:p>
            <a:r>
              <a:rPr lang="en-US" dirty="0"/>
              <a:t>Timing: 1:12
Script:
We model the source as a scalar Wiener process. The sensor samples the process and sends a timestamped packet to a remote estimator. The channel is unreliable: each transmission attempt can fail with probability alpha, and each attempt also experiences a random delay. The sensor receives feedback after each attempt, so it knows whether the attempt succeeded or failed before taking the next sample. The receiver always uses the freshest successfully delivered sample as the MMSE estimate. The optimization objective is the long-term average MSE at the receiver, subject to a maximum average sampling frequency. This constraint captures practical limitations such as energy budget and channel load.
Rehearsal cue:
这一页要把符号说清楚：W_t, D, α, MSE, f_max。</a:t>
            </a:r>
          </a:p>
        </p:txBody>
      </p:sp>
      <p:sp>
        <p:nvSpPr>
          <p:cNvPr id="4" name="Slide Number Placeholder 3">
            <a:extLst>
              <a:ext uri="{FF2B5EF4-FFF2-40B4-BE49-F238E27FC236}">
                <a16:creationId xmlns:a16="http://schemas.microsoft.com/office/drawing/2014/main" id="{1F5DF657-6CEE-8136-9F07-DF3F8DA055A5}"/>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1057070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
Script:
There are four sources of difficulty. First, when packet loss is present, the optimal threshold is implicit. It is defined by a free-boundary matching condition and an infinite recursion over possible failed transmissions. Second, because the number of failed transmissions before success is random, the value functions are not simply identical copies of a single stage cost. Third, the delay distribution is unknown, so even if the offline characterization is available, the sensor cannot directly compute the oracle threshold. Finally, a natural online solution is stochastic approximation, but the classical Robbins-Monro method can be unstable when the stochastic observations have large variance. Our framework addresses these issues jointly.
Rehearsal cue:
不要把 challenge 讲成纯数学难点，要连接到 unknown and unreliable。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1:24
Script:
The online strategy does not try to learn the complete delay distribution. Instead, it directly learns the scalar parameter beta star that determines the optimal sampling threshold. In each frame, the system observes realized delays and Wiener increments. These observations produce a noisy estimate of the value function equation. Robbins-Monro stochastic approximation then updates beta in the direction that drives the expected value toward zero. This is important because it reduces the problem from learning an entire policy under unknown channel statistics to learning one scalar parameter that controls a threshold policy. The policy remains interpretable, and the learning procedure is lightweight enough for online use.
Rehearsal cue:
突出 low-dimensional learning：不是 RL 黑盒，而是结构化在线学习。</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1:30
Script:
Algorithm 1 combines threshold sampling with online stochastic approximation. At the beginning of each frame, the algorithm has a current beta estimate and a constraint-violation variable. The violation variable acts as a dual correction, so that the effective parameter used for sampling is beta minus nu. Given this value, the sampler solves the current threshold and chooses the waiting time. After the transmission attempts, the algorithm observes stochastic quantities from the realized trajectory and constructs X_k. Then beta is updated by a projected Robbins-Monro step. Finally, the violation variable is updated according to whether the empirical sampling interval satisfies the frequency constraint. Therefore, the same algorithm jointly learns the MSE-optimal threshold and enforces the long-term sampling constraint.
Rehearsal cue:
公式 β 更新一定要读出来，这是算法的核心。</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1:12
Script:
Although Robbins-Monro is asymptotically correct, its finite-sample behavior can be noisy. This is especially true in our setting, where random delays and failed transmissions create high-variance observations. To stabilize the update, we use Polyak-Ruppert averaging. Instead of relying only on the most recent beta iterate, we average the iterates and use the averaged estimate as the stabilized parameter. The important point is that averaging does not change the asymptotic target; it still converges to beta star. But it reduces variance and allows a more aggressive step-size design. This is why the PR version converges faster and behaves more smoothly in the simulations.
Rehearsal cue:
说明 PR averaging 是稳定器，不是换目标函数。</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1:36
Script:
The analysis provides three main levels of guarantee. First, consistency: the learned beta converges almost surely to the offline optimal beta star, and the average MSE converges to the offline optimum. Second, convergence rate: the mean-square estimation error of beta decays as O of one over k, and the cumulative MSE optimality gap grows only logarithmically in k. Third, optimality: using Le Cam's two-point method, the paper proves a minimax lower bound showing that no online algorithm can have a better worst-case one-over-k estimation rate. For the PR-averaged version, the analysis further establishes asymptotic normality and variance decay, which explains the improved empirical stability.
Rehearsal cue:
这一页是理论贡献，慢一点，突出 upper bound 和 lower bound 匹配。</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1:36
Script:
The analysis provides three main levels of guarantee. First, consistency: the learned beta converges almost surely to the offline optimal beta star, and the average MSE converges to the offline optimum. Second, convergence rate: the mean-square estimation error of beta decays as O of one over k, and the cumulative MSE optimality gap grows only logarithmically in k. Third, optimality: using Le Cam's two-point method, the paper proves a minimax lower bound showing that no online algorithm can have a better worst-case one-over-k estimation rate. For the PR-averaged version, the analysis further establishes asymptotic normality and variance decay, which explains the improved empirical stability.
Rehearsal cue:
这一页是理论贡献，慢一点，突出 upper bound 和 lower bound 匹配。</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1:06
Script:
The first result concerns MSE convergence without the sampling-frequency constraint. The reported trend is clear. Signal-aware policies achieve lower MSE than the AoI-based policy, because they optimize reconstruction quality rather than only freshness. The method designed for reliable channels is also suboptimal when the channel is actually unreliable, which shows the importance of modeling packet loss. Both proposed online policies converge toward the offline MSE-optimal policy. In addition, the PR-averaged version reaches the optimum faster and has smoother trajectories, which is consistent with the stability analysis.
Rehearsal cue:
讲图时按从差到好：AoI → reliable-channel baseline → RM → RM+PR/offline。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1:06
Script:
The second result considers the sampling-frequency constraint. Under this constraint, the proposed online policies still converge toward the MSE optimum. More importantly, the average sampling interval approaches the target value defined by one over f_max. The PR-averaged method shows the most stable behavior around this target, with smaller oscillations and faster convergence. This is important in practice, because an online sampling algorithm must not only reduce estimation error; it must also respect long-term resource limits. The results show that the proposed approach can improve accuracy and constraint satisfaction at the same time.
Rehearsal cue:
把 frequency constraint 解释成资源预算，不是纯数学约束。</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1:06
Script:
The second result considers the sampling-frequency constraint. Under this constraint, the proposed online policies still converge toward the MSE optimum. More importantly, the average sampling interval approaches the target value defined by one over f_max. The PR-averaged method shows the most stable behavior around this target, with smaller oscillations and faster convergence. This is important in practice, because an online sampling algorithm must not only reduce estimation error; it must also respect long-term resource limits. The results show that the proposed approach can improve accuracy and constraint satisfaction at the same time.
Rehearsal cue:
把 frequency constraint 解释成资源预算，不是纯数学约束。</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0:48
Script:
Let me summarize the key takeaways. First, the threshold structure is crucial. It allows us to convert a difficult online control problem into scalar parameter learning. Second, the method is distribution-oblivious: instead of estimating the delay distribution, it learns the parameter beta star directly from observed trajectories. Third, the learning rate is regret-optimal in the minimax sense. The upper bound achieved by the algorithm matches the lower bound for any online method under worst-case delay distributions. Finally, PR averaging makes the method more stable in finite samples, which is exactly what we need for unreliable channels.
Rehearsal cue:
这页可以作为结论前的总括，语气要有力。</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0:12
Script:
To conclude, we proposed an online threshold-learning framework for MSE-optimal remote estimation over unreliable channels with unknown statistics. The algorithm is theoretically regret-optimal and empirically stabilized by Polyak-Ruppert averaging. Thank you, and I am happy to take questions.
Rehearsal cue:
最后一句直接抬头看观众。</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tiff"/><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18" Type="http://schemas.openxmlformats.org/officeDocument/2006/relationships/notesSlide" Target="../notesSlides/notesSlide6.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17" Type="http://schemas.openxmlformats.org/officeDocument/2006/relationships/slideLayout" Target="../slideLayouts/slideLayout1.xml"/><Relationship Id="rId2" Type="http://schemas.openxmlformats.org/officeDocument/2006/relationships/tags" Target="../tags/tag14.xml"/><Relationship Id="rId16" Type="http://schemas.openxmlformats.org/officeDocument/2006/relationships/tags" Target="../tags/tag28.xm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tags" Target="../tags/tag27.xml"/><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s>
</file>

<file path=ppt/slides/_rels/slide7.xml.rels><?xml version="1.0" encoding="UTF-8" standalone="yes"?>
<Relationships xmlns="http://schemas.openxmlformats.org/package/2006/relationships"><Relationship Id="rId8" Type="http://schemas.openxmlformats.org/officeDocument/2006/relationships/tags" Target="../tags/tag36.xml"/><Relationship Id="rId13" Type="http://schemas.openxmlformats.org/officeDocument/2006/relationships/slideLayout" Target="../slideLayouts/slideLayout1.xml"/><Relationship Id="rId18" Type="http://schemas.openxmlformats.org/officeDocument/2006/relationships/image" Target="../media/image12.png"/><Relationship Id="rId3" Type="http://schemas.openxmlformats.org/officeDocument/2006/relationships/tags" Target="../tags/tag31.xml"/><Relationship Id="rId7" Type="http://schemas.openxmlformats.org/officeDocument/2006/relationships/tags" Target="../tags/tag35.xml"/><Relationship Id="rId12" Type="http://schemas.openxmlformats.org/officeDocument/2006/relationships/tags" Target="../tags/tag40.xml"/><Relationship Id="rId17" Type="http://schemas.openxmlformats.org/officeDocument/2006/relationships/tags" Target="../tags/tag36.xml"/><Relationship Id="rId2" Type="http://schemas.openxmlformats.org/officeDocument/2006/relationships/tags" Target="../tags/tag30.xml"/><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tags" Target="../tags/tag29.xml"/><Relationship Id="rId6" Type="http://schemas.openxmlformats.org/officeDocument/2006/relationships/tags" Target="../tags/tag34.xml"/><Relationship Id="rId11" Type="http://schemas.openxmlformats.org/officeDocument/2006/relationships/tags" Target="../tags/tag39.xml"/><Relationship Id="rId5" Type="http://schemas.openxmlformats.org/officeDocument/2006/relationships/tags" Target="../tags/tag33.xml"/><Relationship Id="rId15" Type="http://schemas.openxmlformats.org/officeDocument/2006/relationships/tags" Target="../tags/tag33.xml"/><Relationship Id="rId10" Type="http://schemas.openxmlformats.org/officeDocument/2006/relationships/tags" Target="../tags/tag38.xml"/><Relationship Id="rId19" Type="http://schemas.openxmlformats.org/officeDocument/2006/relationships/tags" Target="../tags/tag39.xml"/><Relationship Id="rId4" Type="http://schemas.openxmlformats.org/officeDocument/2006/relationships/tags" Target="../tags/tag32.xml"/><Relationship Id="rId9" Type="http://schemas.openxmlformats.org/officeDocument/2006/relationships/tags" Target="../tags/tag37.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8" Type="http://schemas.openxmlformats.org/officeDocument/2006/relationships/tags" Target="../tags/tag48.xml"/><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image" Target="../media/image15.png"/><Relationship Id="rId3" Type="http://schemas.openxmlformats.org/officeDocument/2006/relationships/tags" Target="../tags/tag43.xml"/><Relationship Id="rId21" Type="http://schemas.openxmlformats.org/officeDocument/2006/relationships/slideLayout" Target="../slideLayouts/slideLayout1.xml"/><Relationship Id="rId7" Type="http://schemas.openxmlformats.org/officeDocument/2006/relationships/tags" Target="../tags/tag47.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tags" Target="../tags/tag53.xml"/><Relationship Id="rId2" Type="http://schemas.openxmlformats.org/officeDocument/2006/relationships/tags" Target="../tags/tag42.xml"/><Relationship Id="rId16" Type="http://schemas.openxmlformats.org/officeDocument/2006/relationships/tags" Target="../tags/tag56.xml"/><Relationship Id="rId20" Type="http://schemas.openxmlformats.org/officeDocument/2006/relationships/tags" Target="../tags/tag60.xml"/><Relationship Id="rId29" Type="http://schemas.openxmlformats.org/officeDocument/2006/relationships/image" Target="../media/image17.png"/><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image" Target="../media/image14.png"/><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tags" Target="../tags/tag43.xml"/><Relationship Id="rId28" Type="http://schemas.openxmlformats.org/officeDocument/2006/relationships/image" Target="../media/image16.png"/><Relationship Id="rId10" Type="http://schemas.openxmlformats.org/officeDocument/2006/relationships/tags" Target="../tags/tag50.xml"/><Relationship Id="rId19" Type="http://schemas.openxmlformats.org/officeDocument/2006/relationships/tags" Target="../tags/tag59.xml"/><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notesSlide" Target="../notesSlides/notesSlide8.xml"/><Relationship Id="rId27" Type="http://schemas.openxmlformats.org/officeDocument/2006/relationships/tags" Target="../tags/tag58.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13" Type="http://schemas.openxmlformats.org/officeDocument/2006/relationships/image" Target="../media/image25.png"/><Relationship Id="rId3" Type="http://schemas.openxmlformats.org/officeDocument/2006/relationships/tags" Target="../tags/tag63.xml"/><Relationship Id="rId7" Type="http://schemas.openxmlformats.org/officeDocument/2006/relationships/slideLayout" Target="../slideLayouts/slideLayout1.xml"/><Relationship Id="rId12" Type="http://schemas.openxmlformats.org/officeDocument/2006/relationships/tags" Target="../tags/tag77.xml"/><Relationship Id="rId17" Type="http://schemas.openxmlformats.org/officeDocument/2006/relationships/image" Target="../media/image27.png"/><Relationship Id="rId2" Type="http://schemas.openxmlformats.org/officeDocument/2006/relationships/tags" Target="../tags/tag62.xml"/><Relationship Id="rId16" Type="http://schemas.openxmlformats.org/officeDocument/2006/relationships/tags" Target="../tags/tag83.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image" Target="../media/image23.png"/><Relationship Id="rId5" Type="http://schemas.openxmlformats.org/officeDocument/2006/relationships/tags" Target="../tags/tag65.xml"/><Relationship Id="rId15" Type="http://schemas.openxmlformats.org/officeDocument/2006/relationships/image" Target="../media/image26.png"/><Relationship Id="rId10" Type="http://schemas.openxmlformats.org/officeDocument/2006/relationships/image" Target="../media/image22.png"/><Relationship Id="rId4" Type="http://schemas.openxmlformats.org/officeDocument/2006/relationships/tags" Target="../tags/tag64.xml"/><Relationship Id="rId9" Type="http://schemas.openxmlformats.org/officeDocument/2006/relationships/image" Target="../media/image21.png"/><Relationship Id="rId14" Type="http://schemas.openxmlformats.org/officeDocument/2006/relationships/tags" Target="../tags/tag80.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13" Type="http://schemas.openxmlformats.org/officeDocument/2006/relationships/tags" Target="../tags/tag89.xml"/><Relationship Id="rId3" Type="http://schemas.openxmlformats.org/officeDocument/2006/relationships/tags" Target="../tags/tag69.xml"/><Relationship Id="rId7" Type="http://schemas.openxmlformats.org/officeDocument/2006/relationships/slideLayout" Target="../slideLayouts/slideLayout2.xml"/><Relationship Id="rId12" Type="http://schemas.openxmlformats.org/officeDocument/2006/relationships/image" Target="../media/image30.png"/><Relationship Id="rId17" Type="http://schemas.openxmlformats.org/officeDocument/2006/relationships/image" Target="../media/image29.png"/><Relationship Id="rId2" Type="http://schemas.openxmlformats.org/officeDocument/2006/relationships/tags" Target="../tags/tag68.xml"/><Relationship Id="rId16" Type="http://schemas.openxmlformats.org/officeDocument/2006/relationships/image" Target="../media/image32.png"/><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86.xml"/><Relationship Id="rId5" Type="http://schemas.openxmlformats.org/officeDocument/2006/relationships/tags" Target="../tags/tag71.xml"/><Relationship Id="rId15" Type="http://schemas.openxmlformats.org/officeDocument/2006/relationships/tags" Target="../tags/tag92.xml"/><Relationship Id="rId10" Type="http://schemas.openxmlformats.org/officeDocument/2006/relationships/image" Target="../media/image28.png"/><Relationship Id="rId4" Type="http://schemas.openxmlformats.org/officeDocument/2006/relationships/tags" Target="../tags/tag70.xml"/><Relationship Id="rId9" Type="http://schemas.openxmlformats.org/officeDocument/2006/relationships/image" Target="../media/image24.png"/><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8" Type="http://schemas.openxmlformats.org/officeDocument/2006/relationships/tags" Target="../tags/tag82.xml"/><Relationship Id="rId3" Type="http://schemas.openxmlformats.org/officeDocument/2006/relationships/tags" Target="../tags/tag75.xml"/><Relationship Id="rId7" Type="http://schemas.openxmlformats.org/officeDocument/2006/relationships/tags" Target="../tags/tag81.xml"/><Relationship Id="rId12" Type="http://schemas.openxmlformats.org/officeDocument/2006/relationships/image" Target="../media/image33.png"/><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9.xml"/><Relationship Id="rId11" Type="http://schemas.openxmlformats.org/officeDocument/2006/relationships/notesSlide" Target="../notesSlides/notesSlide12.xml"/><Relationship Id="rId5" Type="http://schemas.openxmlformats.org/officeDocument/2006/relationships/tags" Target="../tags/tag78.xml"/><Relationship Id="rId10" Type="http://schemas.openxmlformats.org/officeDocument/2006/relationships/slideLayout" Target="../slideLayouts/slideLayout1.xml"/><Relationship Id="rId4" Type="http://schemas.openxmlformats.org/officeDocument/2006/relationships/tags" Target="../tags/tag76.xml"/><Relationship Id="rId9" Type="http://schemas.openxmlformats.org/officeDocument/2006/relationships/tags" Target="../tags/tag84.xml"/></Relationships>
</file>

<file path=ppt/slides/_rels/slide13.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image" Target="../media/image34.png"/><Relationship Id="rId3" Type="http://schemas.openxmlformats.org/officeDocument/2006/relationships/tags" Target="../tags/tag88.xml"/><Relationship Id="rId7" Type="http://schemas.openxmlformats.org/officeDocument/2006/relationships/tags" Target="../tags/tag94.xml"/><Relationship Id="rId12" Type="http://schemas.openxmlformats.org/officeDocument/2006/relationships/tags" Target="../tags/tag108.xml"/><Relationship Id="rId2" Type="http://schemas.openxmlformats.org/officeDocument/2006/relationships/tags" Target="../tags/tag87.xml"/><Relationship Id="rId1" Type="http://schemas.openxmlformats.org/officeDocument/2006/relationships/tags" Target="../tags/tag85.xml"/><Relationship Id="rId6" Type="http://schemas.openxmlformats.org/officeDocument/2006/relationships/tags" Target="../tags/tag93.xml"/><Relationship Id="rId11" Type="http://schemas.openxmlformats.org/officeDocument/2006/relationships/notesSlide" Target="../notesSlides/notesSlide13.xml"/><Relationship Id="rId5" Type="http://schemas.openxmlformats.org/officeDocument/2006/relationships/tags" Target="../tags/tag91.xml"/><Relationship Id="rId10" Type="http://schemas.openxmlformats.org/officeDocument/2006/relationships/slideLayout" Target="../slideLayouts/slideLayout1.xml"/><Relationship Id="rId4" Type="http://schemas.openxmlformats.org/officeDocument/2006/relationships/tags" Target="../tags/tag90.xml"/><Relationship Id="rId9" Type="http://schemas.openxmlformats.org/officeDocument/2006/relationships/tags" Target="../tags/tag96.xml"/><Relationship Id="rId1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tags" Target="../tags/tag104.xml"/><Relationship Id="rId13" Type="http://schemas.openxmlformats.org/officeDocument/2006/relationships/image" Target="../media/image36.png"/><Relationship Id="rId3" Type="http://schemas.openxmlformats.org/officeDocument/2006/relationships/tags" Target="../tags/tag99.xml"/><Relationship Id="rId7" Type="http://schemas.openxmlformats.org/officeDocument/2006/relationships/tags" Target="../tags/tag103.xml"/><Relationship Id="rId12" Type="http://schemas.openxmlformats.org/officeDocument/2006/relationships/tags" Target="../tags/tag118.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11" Type="http://schemas.openxmlformats.org/officeDocument/2006/relationships/notesSlide" Target="../notesSlides/notesSlide14.xml"/><Relationship Id="rId5" Type="http://schemas.openxmlformats.org/officeDocument/2006/relationships/tags" Target="../tags/tag101.xml"/><Relationship Id="rId10" Type="http://schemas.openxmlformats.org/officeDocument/2006/relationships/slideLayout" Target="../slideLayouts/slideLayout2.xml"/><Relationship Id="rId4" Type="http://schemas.openxmlformats.org/officeDocument/2006/relationships/tags" Target="../tags/tag100.xml"/><Relationship Id="rId9" Type="http://schemas.openxmlformats.org/officeDocument/2006/relationships/tags" Target="../tags/tag105.xml"/><Relationship Id="rId1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slideLayout" Target="../slideLayouts/slideLayout1.xml"/><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tags" Target="../tags/tag119.xml"/><Relationship Id="rId2" Type="http://schemas.openxmlformats.org/officeDocument/2006/relationships/tags" Target="../tags/tag107.xml"/><Relationship Id="rId16" Type="http://schemas.openxmlformats.org/officeDocument/2006/relationships/image" Target="../media/image38.png"/><Relationship Id="rId1" Type="http://schemas.openxmlformats.org/officeDocument/2006/relationships/tags" Target="../tags/tag106.xml"/><Relationship Id="rId6" Type="http://schemas.openxmlformats.org/officeDocument/2006/relationships/tags" Target="../tags/tag112.xml"/><Relationship Id="rId11" Type="http://schemas.openxmlformats.org/officeDocument/2006/relationships/tags" Target="../tags/tag117.xml"/><Relationship Id="rId5" Type="http://schemas.openxmlformats.org/officeDocument/2006/relationships/tags" Target="../tags/tag111.xml"/><Relationship Id="rId15" Type="http://schemas.openxmlformats.org/officeDocument/2006/relationships/tags" Target="../tags/tag128.xml"/><Relationship Id="rId10" Type="http://schemas.openxmlformats.org/officeDocument/2006/relationships/tags" Target="../tags/tag116.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3" Type="http://schemas.openxmlformats.org/officeDocument/2006/relationships/tags" Target="../tags/tag122.xml"/><Relationship Id="rId7" Type="http://schemas.openxmlformats.org/officeDocument/2006/relationships/slideLayout" Target="../slideLayouts/slideLayout1.xml"/><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0"/>
            <a:ext cx="12191695" cy="6858000"/>
          </a:xfrm>
          <a:prstGeom prst="rect">
            <a:avLst/>
          </a:prstGeom>
          <a:solidFill>
            <a:srgbClr val="FFFFFF"/>
          </a:solidFill>
          <a:ln w="12700">
            <a:solidFill>
              <a:srgbClr val="FFFFFF"/>
            </a:solidFill>
            <a:prstDash val="solid"/>
          </a:ln>
        </p:spPr>
        <p:txBody>
          <a:bodyPr/>
          <a:lstStyle/>
          <a:p>
            <a:endParaRPr lang="en-CN"/>
          </a:p>
        </p:txBody>
      </p:sp>
      <p:sp>
        <p:nvSpPr>
          <p:cNvPr id="4" name="Shape 2"/>
          <p:cNvSpPr/>
          <p:nvPr/>
        </p:nvSpPr>
        <p:spPr>
          <a:xfrm>
            <a:off x="9921240" y="-1143000"/>
            <a:ext cx="3291840" cy="3291840"/>
          </a:xfrm>
          <a:prstGeom prst="arc">
            <a:avLst/>
          </a:prstGeom>
          <a:solidFill>
            <a:srgbClr val="FFFFFF">
              <a:alpha val="0"/>
            </a:srgbClr>
          </a:solidFill>
          <a:ln w="25400">
            <a:solidFill>
              <a:srgbClr val="EAF2FF">
                <a:alpha val="50000"/>
              </a:srgbClr>
            </a:solidFill>
            <a:prstDash val="solid"/>
          </a:ln>
        </p:spPr>
        <p:txBody>
          <a:bodyPr/>
          <a:lstStyle/>
          <a:p>
            <a:endParaRPr lang="en-CN"/>
          </a:p>
        </p:txBody>
      </p:sp>
      <p:sp>
        <p:nvSpPr>
          <p:cNvPr id="11" name="Text 9"/>
          <p:cNvSpPr/>
          <p:nvPr/>
        </p:nvSpPr>
        <p:spPr>
          <a:xfrm>
            <a:off x="640080" y="1143000"/>
            <a:ext cx="9326880" cy="1755648"/>
          </a:xfrm>
          <a:prstGeom prst="rect">
            <a:avLst/>
          </a:prstGeom>
          <a:noFill/>
        </p:spPr>
        <p:txBody>
          <a:bodyPr wrap="square" lIns="254" tIns="254" rIns="254" bIns="254" rtlCol="0" anchor="ctr">
            <a:normAutofit/>
          </a:bodyPr>
          <a:lstStyle/>
          <a:p>
            <a:pPr algn="ctr"/>
            <a:r>
              <a:rPr lang="en-US" sz="2400" b="1" dirty="0"/>
              <a:t>Regret-Optimal and Stability-Enhanced Online Sampling of the Wiener Process for Remote Estimation over an Unreliable Channel with Unknown Statistics</a:t>
            </a:r>
            <a:endParaRPr lang="en-US" sz="2400" dirty="0"/>
          </a:p>
        </p:txBody>
      </p:sp>
      <p:sp>
        <p:nvSpPr>
          <p:cNvPr id="14" name="Text 12"/>
          <p:cNvSpPr/>
          <p:nvPr/>
        </p:nvSpPr>
        <p:spPr>
          <a:xfrm>
            <a:off x="2043684" y="3154680"/>
            <a:ext cx="9454896" cy="274320"/>
          </a:xfrm>
          <a:prstGeom prst="rect">
            <a:avLst/>
          </a:prstGeom>
          <a:noFill/>
        </p:spPr>
        <p:txBody>
          <a:bodyPr wrap="square" lIns="0" tIns="0" rIns="0" bIns="0" rtlCol="0" anchor="ctr"/>
          <a:lstStyle/>
          <a:p>
            <a:pPr marL="0" indent="0">
              <a:buNone/>
            </a:pPr>
            <a:r>
              <a:rPr lang="en-US" sz="2400" b="1" dirty="0">
                <a:latin typeface="Aptos" pitchFamily="34" charset="0"/>
                <a:ea typeface="Aptos" pitchFamily="34" charset="-122"/>
                <a:cs typeface="Aptos" pitchFamily="34" charset="-120"/>
              </a:rPr>
              <a:t>Miao Pan, Haoyue Tang, Jiayu Pan, Tie Qiu, and Jianwei Yin</a:t>
            </a:r>
            <a:endParaRPr lang="en-US" sz="2400" b="1" dirty="0"/>
          </a:p>
        </p:txBody>
      </p:sp>
      <p:sp>
        <p:nvSpPr>
          <p:cNvPr id="15" name="Text 13"/>
          <p:cNvSpPr/>
          <p:nvPr/>
        </p:nvSpPr>
        <p:spPr>
          <a:xfrm>
            <a:off x="3169920" y="4357116"/>
            <a:ext cx="4531360" cy="256032"/>
          </a:xfrm>
          <a:prstGeom prst="rect">
            <a:avLst/>
          </a:prstGeom>
          <a:noFill/>
        </p:spPr>
        <p:txBody>
          <a:bodyPr wrap="square" lIns="0" tIns="0" rIns="0" bIns="0" rtlCol="0" anchor="ctr"/>
          <a:lstStyle/>
          <a:p>
            <a:pPr marL="0" indent="0" algn="ctr">
              <a:buNone/>
            </a:pPr>
            <a:r>
              <a:rPr lang="en-US" sz="2400" b="1" dirty="0">
                <a:latin typeface="Aptos" pitchFamily="34" charset="0"/>
                <a:ea typeface="Aptos" pitchFamily="34" charset="-122"/>
                <a:cs typeface="Aptos" pitchFamily="34" charset="-120"/>
              </a:rPr>
              <a:t>Presenter: </a:t>
            </a:r>
            <a:r>
              <a:rPr lang="en-US" sz="2400" b="1" dirty="0">
                <a:latin typeface="Aptos" pitchFamily="34" charset="0"/>
                <a:ea typeface="Aptos" pitchFamily="34" charset="-122"/>
                <a:cs typeface="Aptos" pitchFamily="34" charset="-120"/>
                <a:sym typeface="+mn-ea"/>
              </a:rPr>
              <a:t>Jiayu Pan</a:t>
            </a:r>
          </a:p>
          <a:p>
            <a:pPr marL="0" indent="0" algn="ctr">
              <a:buNone/>
            </a:pPr>
            <a:r>
              <a:rPr lang="en-US" sz="2400" b="1" dirty="0">
                <a:latin typeface="Aptos" pitchFamily="34" charset="0"/>
                <a:sym typeface="+mn-ea"/>
              </a:rPr>
              <a:t>Northeastern University, China</a:t>
            </a:r>
            <a:endParaRPr lang="en-US" sz="2400" b="1" dirty="0"/>
          </a:p>
        </p:txBody>
      </p:sp>
      <p:sp>
        <p:nvSpPr>
          <p:cNvPr id="17" name="Text 15"/>
          <p:cNvSpPr/>
          <p:nvPr/>
        </p:nvSpPr>
        <p:spPr>
          <a:xfrm>
            <a:off x="11292840" y="6492240"/>
            <a:ext cx="411480" cy="210312"/>
          </a:xfrm>
          <a:prstGeom prst="rect">
            <a:avLst/>
          </a:prstGeom>
          <a:solidFill>
            <a:srgbClr val="FFFFFF"/>
          </a:solidFill>
          <a:ln>
            <a:solidFill>
              <a:srgbClr val="FFFFFF"/>
            </a:solidFill>
          </a:ln>
        </p:spPr>
        <p:txBody>
          <a:bodyPr wrap="square" lIns="0" tIns="0" rIns="0" bIns="0" rtlCol="0" anchor="ctr"/>
          <a:lstStyle/>
          <a:p>
            <a:pPr marL="0" indent="0" algn="ctr">
              <a:buNone/>
            </a:pPr>
            <a:r>
              <a:rPr lang="en-US" sz="880" b="1" dirty="0">
                <a:solidFill>
                  <a:srgbClr val="0B1F3A"/>
                </a:solidFill>
                <a:latin typeface="Aptos" pitchFamily="34" charset="0"/>
                <a:ea typeface="Aptos" pitchFamily="34" charset="-122"/>
                <a:cs typeface="Aptos" pitchFamily="34" charset="-120"/>
              </a:rPr>
              <a:t>1</a:t>
            </a:r>
            <a:endParaRPr lang="en-US" sz="880" dirty="0"/>
          </a:p>
        </p:txBody>
      </p:sp>
      <p:sp>
        <p:nvSpPr>
          <p:cNvPr id="16" name="Shape 1">
            <a:extLst>
              <a:ext uri="{FF2B5EF4-FFF2-40B4-BE49-F238E27FC236}">
                <a16:creationId xmlns:a16="http://schemas.microsoft.com/office/drawing/2014/main" id="{50AB9D15-8327-85B3-61DB-D0E179A91C31}"/>
              </a:ext>
            </a:extLst>
          </p:cNvPr>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18" name="Text 23">
            <a:extLst>
              <a:ext uri="{FF2B5EF4-FFF2-40B4-BE49-F238E27FC236}">
                <a16:creationId xmlns:a16="http://schemas.microsoft.com/office/drawing/2014/main" id="{2572A76B-7702-1AE7-4972-C90B7329861E}"/>
              </a:ext>
            </a:extLst>
          </p:cNvPr>
          <p:cNvSpPr/>
          <p:nvPr/>
        </p:nvSpPr>
        <p:spPr>
          <a:xfrm>
            <a:off x="11292840" y="651256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rPr>
              <a:t>1</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4" name="Shape 2"/>
          <p:cNvSpPr/>
          <p:nvPr/>
        </p:nvSpPr>
        <p:spPr>
          <a:xfrm>
            <a:off x="9921240" y="-1143000"/>
            <a:ext cx="3291840" cy="3291840"/>
          </a:xfrm>
          <a:prstGeom prst="arc">
            <a:avLst/>
          </a:prstGeom>
          <a:solidFill>
            <a:srgbClr val="FFFFFF">
              <a:alpha val="0"/>
            </a:srgbClr>
          </a:solidFill>
          <a:ln w="25400">
            <a:solidFill>
              <a:srgbClr val="EAF2FF">
                <a:alpha val="50000"/>
              </a:srgbClr>
            </a:solidFill>
            <a:prstDash val="solid"/>
          </a:ln>
        </p:spPr>
        <p:txBody>
          <a:bodyPr/>
          <a:lstStyle/>
          <a:p>
            <a:endParaRPr lang="en-CN"/>
          </a:p>
        </p:txBody>
      </p:sp>
      <p:sp>
        <p:nvSpPr>
          <p:cNvPr id="5" name="Shape 3"/>
          <p:cNvSpPr/>
          <p:nvPr/>
        </p:nvSpPr>
        <p:spPr>
          <a:xfrm>
            <a:off x="10405872" y="-640080"/>
            <a:ext cx="2103120" cy="2103120"/>
          </a:xfrm>
          <a:prstGeom prst="arc">
            <a:avLst/>
          </a:prstGeom>
          <a:solidFill>
            <a:srgbClr val="FFFFFF">
              <a:alpha val="0"/>
            </a:srgbClr>
          </a:solidFill>
          <a:ln w="15240">
            <a:solidFill>
              <a:srgbClr val="EAF2FF">
                <a:alpha val="65000"/>
              </a:srgbClr>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Roadmap</a:t>
            </a:r>
          </a:p>
        </p:txBody>
      </p:sp>
      <p:sp>
        <p:nvSpPr>
          <p:cNvPr id="7" name="Text 5"/>
          <p:cNvSpPr/>
          <p:nvPr/>
        </p:nvSpPr>
        <p:spPr>
          <a:xfrm>
            <a:off x="566928" y="1056132"/>
            <a:ext cx="10826496" cy="292608"/>
          </a:xfrm>
          <a:prstGeom prst="rect">
            <a:avLst/>
          </a:prstGeom>
          <a:noFill/>
        </p:spPr>
        <p:txBody>
          <a:bodyPr wrap="square" lIns="254" tIns="254" rIns="254" bIns="254" rtlCol="0" anchor="ctr">
            <a:noAutofit/>
          </a:bodyPr>
          <a:lstStyle/>
          <a:p>
            <a:pPr marL="0" indent="0">
              <a:buNone/>
            </a:pPr>
            <a:r>
              <a:rPr lang="en-US" dirty="0">
                <a:solidFill>
                  <a:srgbClr val="58616D"/>
                </a:solidFill>
                <a:latin typeface="Aptos" pitchFamily="34" charset="0"/>
                <a:ea typeface="Aptos" pitchFamily="34" charset="-122"/>
                <a:cs typeface="Aptos" pitchFamily="34" charset="-120"/>
              </a:rPr>
              <a:t>Key idea: learn the optimal </a:t>
            </a:r>
            <a:r>
              <a:rPr lang="en-US" b="1" dirty="0">
                <a:solidFill>
                  <a:srgbClr val="58616D"/>
                </a:solidFill>
                <a:latin typeface="Aptos" pitchFamily="34" charset="0"/>
                <a:ea typeface="Aptos" pitchFamily="34" charset="-122"/>
                <a:cs typeface="Aptos" pitchFamily="34" charset="-120"/>
              </a:rPr>
              <a:t>signal-aware </a:t>
            </a:r>
            <a:r>
              <a:rPr lang="en-US" dirty="0">
                <a:solidFill>
                  <a:srgbClr val="58616D"/>
                </a:solidFill>
                <a:latin typeface="Aptos" pitchFamily="34" charset="0"/>
                <a:ea typeface="Aptos" pitchFamily="34" charset="-122"/>
                <a:cs typeface="Aptos" pitchFamily="34" charset="-120"/>
              </a:rPr>
              <a:t>sampling policy under an </a:t>
            </a:r>
            <a:r>
              <a:rPr lang="en-US" b="1" dirty="0">
                <a:solidFill>
                  <a:srgbClr val="58616D"/>
                </a:solidFill>
                <a:latin typeface="Aptos" pitchFamily="34" charset="0"/>
                <a:ea typeface="Aptos" pitchFamily="34" charset="-122"/>
                <a:cs typeface="Aptos" pitchFamily="34" charset="-120"/>
              </a:rPr>
              <a:t>erasure channel </a:t>
            </a:r>
            <a:r>
              <a:rPr lang="en-US" dirty="0">
                <a:solidFill>
                  <a:srgbClr val="58616D"/>
                </a:solidFill>
                <a:latin typeface="Aptos" pitchFamily="34" charset="0"/>
                <a:ea typeface="Aptos" pitchFamily="34" charset="-122"/>
                <a:cs typeface="Aptos" pitchFamily="34" charset="-120"/>
              </a:rPr>
              <a:t>with a </a:t>
            </a:r>
            <a:r>
              <a:rPr lang="en-US" b="1" dirty="0">
                <a:solidFill>
                  <a:srgbClr val="58616D"/>
                </a:solidFill>
                <a:latin typeface="Aptos" pitchFamily="34" charset="0"/>
                <a:ea typeface="Aptos" pitchFamily="34" charset="-122"/>
                <a:cs typeface="Aptos" pitchFamily="34" charset="-120"/>
              </a:rPr>
              <a:t>random delay</a:t>
            </a:r>
            <a:endParaRPr lang="en-US" b="1" dirty="0"/>
          </a:p>
        </p:txBody>
      </p:sp>
      <p:sp>
        <p:nvSpPr>
          <p:cNvPr id="9" name="Text 7"/>
          <p:cNvSpPr/>
          <p:nvPr>
            <p:custDataLst>
              <p:tags r:id="rId1"/>
            </p:custDataLst>
          </p:nvPr>
        </p:nvSpPr>
        <p:spPr>
          <a:xfrm>
            <a:off x="1024128" y="1737360"/>
            <a:ext cx="438912" cy="384048"/>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1</a:t>
            </a:r>
            <a:endParaRPr lang="en-US" sz="1600" dirty="0"/>
          </a:p>
        </p:txBody>
      </p:sp>
      <p:sp>
        <p:nvSpPr>
          <p:cNvPr id="10" name="Text 8"/>
          <p:cNvSpPr/>
          <p:nvPr>
            <p:custDataLst>
              <p:tags r:id="rId2"/>
            </p:custDataLst>
          </p:nvPr>
        </p:nvSpPr>
        <p:spPr>
          <a:xfrm>
            <a:off x="1664207" y="1736598"/>
            <a:ext cx="2369947" cy="320040"/>
          </a:xfrm>
          <a:prstGeom prst="rect">
            <a:avLst/>
          </a:prstGeom>
          <a:noFill/>
        </p:spPr>
        <p:txBody>
          <a:bodyPr wrap="square" lIns="0" tIns="0" rIns="0" bIns="0" rtlCol="0" anchor="ctr"/>
          <a:lstStyle/>
          <a:p>
            <a:pPr marL="0" indent="0">
              <a:buNone/>
            </a:pPr>
            <a:r>
              <a:rPr lang="en-US" sz="2800" b="1" dirty="0">
                <a:solidFill>
                  <a:srgbClr val="0B1F3A"/>
                </a:solidFill>
                <a:latin typeface="Aptos Display" pitchFamily="34" charset="0"/>
              </a:rPr>
              <a:t>System Model</a:t>
            </a:r>
            <a:endParaRPr lang="en-US" sz="2800" dirty="0"/>
          </a:p>
        </p:txBody>
      </p:sp>
      <p:sp>
        <p:nvSpPr>
          <p:cNvPr id="11" name="Text 9"/>
          <p:cNvSpPr/>
          <p:nvPr>
            <p:custDataLst>
              <p:tags r:id="rId3"/>
            </p:custDataLst>
          </p:nvPr>
        </p:nvSpPr>
        <p:spPr>
          <a:xfrm>
            <a:off x="5966968" y="1707642"/>
            <a:ext cx="5200904" cy="530352"/>
          </a:xfrm>
          <a:prstGeom prst="rect">
            <a:avLst/>
          </a:prstGeom>
          <a:noFill/>
        </p:spPr>
        <p:txBody>
          <a:bodyPr wrap="square" lIns="0" tIns="0" rIns="0" bIns="0" rtlCol="0" anchor="ctr">
            <a:noAutofit/>
          </a:bodyPr>
          <a:lstStyle/>
          <a:p>
            <a:pPr marL="0" indent="0">
              <a:buNone/>
            </a:pPr>
            <a:endParaRPr lang="en-US" sz="2000" dirty="0">
              <a:solidFill>
                <a:srgbClr val="111827"/>
              </a:solidFill>
              <a:latin typeface="Aptos" pitchFamily="34" charset="0"/>
              <a:ea typeface="Aptos" pitchFamily="34" charset="-122"/>
              <a:cs typeface="Aptos" pitchFamily="34" charset="-120"/>
            </a:endParaRPr>
          </a:p>
        </p:txBody>
      </p:sp>
      <p:sp>
        <p:nvSpPr>
          <p:cNvPr id="13" name="Text 11"/>
          <p:cNvSpPr/>
          <p:nvPr>
            <p:custDataLst>
              <p:tags r:id="rId4"/>
            </p:custDataLst>
          </p:nvPr>
        </p:nvSpPr>
        <p:spPr>
          <a:xfrm>
            <a:off x="1024128" y="2761488"/>
            <a:ext cx="438912" cy="384048"/>
          </a:xfrm>
          <a:prstGeom prst="rect">
            <a:avLst/>
          </a:prstGeom>
          <a:solidFill>
            <a:srgbClr val="2BB673"/>
          </a:solidFill>
          <a:ln>
            <a:solidFill>
              <a:srgbClr val="2BB673"/>
            </a:solid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2</a:t>
            </a:r>
            <a:endParaRPr lang="en-US" sz="1600" dirty="0"/>
          </a:p>
        </p:txBody>
      </p:sp>
      <p:sp>
        <p:nvSpPr>
          <p:cNvPr id="14" name="Text 12"/>
          <p:cNvSpPr/>
          <p:nvPr>
            <p:custDataLst>
              <p:tags r:id="rId5"/>
            </p:custDataLst>
          </p:nvPr>
        </p:nvSpPr>
        <p:spPr>
          <a:xfrm>
            <a:off x="1664208" y="2760726"/>
            <a:ext cx="3664712" cy="320040"/>
          </a:xfrm>
          <a:prstGeom prst="rect">
            <a:avLst/>
          </a:prstGeom>
          <a:noFill/>
        </p:spPr>
        <p:txBody>
          <a:bodyPr wrap="square" lIns="0" tIns="0" rIns="0" bIns="0" rtlCol="0" anchor="ctr"/>
          <a:lstStyle/>
          <a:p>
            <a:pPr marL="0" indent="0">
              <a:buNone/>
            </a:pPr>
            <a:r>
              <a:rPr lang="en-US" sz="2800" b="1" dirty="0">
                <a:solidFill>
                  <a:srgbClr val="0B1F3A"/>
                </a:solidFill>
                <a:latin typeface="Aptos Display" pitchFamily="34" charset="0"/>
              </a:rPr>
              <a:t>Model Based Solution (Existing Work)</a:t>
            </a:r>
            <a:endParaRPr lang="en-US" sz="2800" dirty="0"/>
          </a:p>
        </p:txBody>
      </p:sp>
      <p:sp>
        <p:nvSpPr>
          <p:cNvPr id="15" name="Text 13"/>
          <p:cNvSpPr/>
          <p:nvPr>
            <p:custDataLst>
              <p:tags r:id="rId6"/>
            </p:custDataLst>
          </p:nvPr>
        </p:nvSpPr>
        <p:spPr>
          <a:xfrm>
            <a:off x="5966968" y="2414842"/>
            <a:ext cx="5795264" cy="954532"/>
          </a:xfrm>
          <a:prstGeom prst="rect">
            <a:avLst/>
          </a:prstGeom>
          <a:noFill/>
        </p:spPr>
        <p:txBody>
          <a:bodyPr wrap="square" lIns="0" tIns="0" rIns="0" bIns="0" rtlCol="0" anchor="ctr">
            <a:noAutofit/>
          </a:bodyPr>
          <a:lstStyle/>
          <a:p>
            <a:r>
              <a:rPr lang="en-US" sz="2000" dirty="0">
                <a:solidFill>
                  <a:srgbClr val="111827"/>
                </a:solidFill>
                <a:latin typeface="Aptos" pitchFamily="34" charset="0"/>
                <a:ea typeface="Aptos" pitchFamily="34" charset="-122"/>
                <a:cs typeface="Aptos" pitchFamily="34" charset="-120"/>
              </a:rPr>
              <a:t>Given channel statistics: Threshold-based sampling from stopping-time and free-boundary analysis</a:t>
            </a:r>
          </a:p>
        </p:txBody>
      </p:sp>
      <p:sp>
        <p:nvSpPr>
          <p:cNvPr id="17" name="Text 15"/>
          <p:cNvSpPr/>
          <p:nvPr>
            <p:custDataLst>
              <p:tags r:id="rId7"/>
            </p:custDataLst>
          </p:nvPr>
        </p:nvSpPr>
        <p:spPr>
          <a:xfrm>
            <a:off x="1024128" y="3785616"/>
            <a:ext cx="438912" cy="384048"/>
          </a:xfrm>
          <a:prstGeom prst="rect">
            <a:avLst/>
          </a:prstGeom>
          <a:solidFill>
            <a:srgbClr val="F26B38"/>
          </a:solidFill>
          <a:ln>
            <a:solidFill>
              <a:srgbClr val="F26B38"/>
            </a:solid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3</a:t>
            </a:r>
            <a:endParaRPr lang="en-US" sz="1600" dirty="0"/>
          </a:p>
        </p:txBody>
      </p:sp>
      <p:sp>
        <p:nvSpPr>
          <p:cNvPr id="18" name="Text 16"/>
          <p:cNvSpPr/>
          <p:nvPr>
            <p:custDataLst>
              <p:tags r:id="rId8"/>
            </p:custDataLst>
          </p:nvPr>
        </p:nvSpPr>
        <p:spPr>
          <a:xfrm>
            <a:off x="1664334" y="3784600"/>
            <a:ext cx="3242945" cy="320040"/>
          </a:xfrm>
          <a:prstGeom prst="rect">
            <a:avLst/>
          </a:prstGeom>
          <a:noFill/>
        </p:spPr>
        <p:txBody>
          <a:bodyPr wrap="square" lIns="0" tIns="0" rIns="0" bIns="0" rtlCol="0" anchor="ct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Model Free Online algorithm (Our Work)</a:t>
            </a:r>
            <a:endParaRPr lang="en-US" sz="2800" dirty="0"/>
          </a:p>
        </p:txBody>
      </p:sp>
      <p:sp>
        <p:nvSpPr>
          <p:cNvPr id="19" name="Text 17"/>
          <p:cNvSpPr/>
          <p:nvPr>
            <p:custDataLst>
              <p:tags r:id="rId9"/>
            </p:custDataLst>
          </p:nvPr>
        </p:nvSpPr>
        <p:spPr>
          <a:xfrm>
            <a:off x="5966968" y="3443097"/>
            <a:ext cx="5053584" cy="963422"/>
          </a:xfrm>
          <a:prstGeom prst="rect">
            <a:avLst/>
          </a:prstGeom>
          <a:noFill/>
        </p:spPr>
        <p:txBody>
          <a:bodyPr wrap="square" lIns="0" tIns="0" rIns="0" bIns="0" rtlCol="0" anchor="ctr">
            <a:noAutofit/>
          </a:bodyPr>
          <a:lstStyle/>
          <a:p>
            <a:r>
              <a:rPr lang="en-US" sz="2000" dirty="0">
                <a:solidFill>
                  <a:srgbClr val="111827"/>
                </a:solidFill>
                <a:latin typeface="Aptos" pitchFamily="34" charset="0"/>
                <a:ea typeface="Aptos" pitchFamily="34" charset="-122"/>
                <a:cs typeface="Aptos" pitchFamily="34" charset="-120"/>
              </a:rPr>
              <a:t>Unknown channel statistics: Robbins-Monro threshold finding with a frequency constraint</a:t>
            </a:r>
          </a:p>
        </p:txBody>
      </p:sp>
      <p:sp>
        <p:nvSpPr>
          <p:cNvPr id="21" name="Text 19"/>
          <p:cNvSpPr/>
          <p:nvPr>
            <p:custDataLst>
              <p:tags r:id="rId10"/>
            </p:custDataLst>
          </p:nvPr>
        </p:nvSpPr>
        <p:spPr>
          <a:xfrm>
            <a:off x="1024128" y="4809744"/>
            <a:ext cx="438912" cy="384048"/>
          </a:xfrm>
          <a:prstGeom prst="rect">
            <a:avLst/>
          </a:prstGeom>
          <a:solidFill>
            <a:srgbClr val="C83F49"/>
          </a:solidFill>
          <a:ln>
            <a:solidFill>
              <a:srgbClr val="C83F49"/>
            </a:solidFill>
          </a:ln>
        </p:spPr>
        <p:txBody>
          <a:bodyPr wrap="square" lIns="0" tIns="0" rIns="0" bIns="0" rtlCol="0" anchor="ctr"/>
          <a:lstStyle/>
          <a:p>
            <a:pPr marL="0" indent="0" algn="ctr">
              <a:buNone/>
            </a:pPr>
            <a:r>
              <a:rPr lang="en-US" sz="1600" b="1" dirty="0">
                <a:solidFill>
                  <a:srgbClr val="FFFFFF"/>
                </a:solidFill>
                <a:latin typeface="Aptos Display" pitchFamily="34" charset="0"/>
                <a:ea typeface="Aptos Display" pitchFamily="34" charset="-122"/>
                <a:cs typeface="Aptos Display" pitchFamily="34" charset="-120"/>
              </a:rPr>
              <a:t>4</a:t>
            </a:r>
            <a:endParaRPr lang="en-US" sz="1600" dirty="0"/>
          </a:p>
        </p:txBody>
      </p:sp>
      <p:sp>
        <p:nvSpPr>
          <p:cNvPr id="22" name="Text 20"/>
          <p:cNvSpPr/>
          <p:nvPr>
            <p:custDataLst>
              <p:tags r:id="rId11"/>
            </p:custDataLst>
          </p:nvPr>
        </p:nvSpPr>
        <p:spPr>
          <a:xfrm>
            <a:off x="1664335" y="4799965"/>
            <a:ext cx="2369820" cy="320040"/>
          </a:xfrm>
          <a:prstGeom prst="rect">
            <a:avLst/>
          </a:prstGeom>
          <a:noFill/>
        </p:spPr>
        <p:txBody>
          <a:bodyPr wrap="square" lIns="0" tIns="0" rIns="0" bIns="0" rtlCol="0" anchor="ctr"/>
          <a:lstStyle/>
          <a:p>
            <a:pPr marL="0" indent="0">
              <a:buNone/>
            </a:pPr>
            <a:r>
              <a:rPr lang="en-US" sz="2800" b="1" dirty="0">
                <a:solidFill>
                  <a:srgbClr val="0B1F3A"/>
                </a:solidFill>
                <a:latin typeface="Aptos Display" pitchFamily="34" charset="0"/>
                <a:ea typeface="Aptos Display" pitchFamily="34" charset="-122"/>
                <a:cs typeface="Aptos Display" pitchFamily="34" charset="-120"/>
              </a:rPr>
              <a:t>Guarantees</a:t>
            </a:r>
            <a:endParaRPr lang="en-US" sz="2800" dirty="0"/>
          </a:p>
        </p:txBody>
      </p:sp>
      <p:sp>
        <p:nvSpPr>
          <p:cNvPr id="23" name="Text 21"/>
          <p:cNvSpPr/>
          <p:nvPr>
            <p:custDataLst>
              <p:tags r:id="rId12"/>
            </p:custDataLst>
          </p:nvPr>
        </p:nvSpPr>
        <p:spPr>
          <a:xfrm>
            <a:off x="5980176" y="4829556"/>
            <a:ext cx="3845560" cy="320040"/>
          </a:xfrm>
          <a:prstGeom prst="rect">
            <a:avLst/>
          </a:prstGeom>
          <a:noFill/>
        </p:spPr>
        <p:txBody>
          <a:bodyPr wrap="square" lIns="0" tIns="0" rIns="0" bIns="0" rtlCol="0" anchor="ctr">
            <a:noAutofit/>
          </a:bodyPr>
          <a:lstStyle/>
          <a:p>
            <a:pPr marL="0" indent="0">
              <a:buNone/>
            </a:pPr>
            <a:r>
              <a:rPr lang="en-US" sz="2000" dirty="0">
                <a:solidFill>
                  <a:srgbClr val="111827"/>
                </a:solidFill>
                <a:latin typeface="Aptos" pitchFamily="34" charset="0"/>
                <a:ea typeface="Aptos" pitchFamily="34" charset="-122"/>
                <a:cs typeface="Aptos" pitchFamily="34" charset="-120"/>
              </a:rPr>
              <a:t>Regret-optimal convergence </a:t>
            </a:r>
          </a:p>
          <a:p>
            <a:pPr marL="0" indent="0">
              <a:buNone/>
            </a:pPr>
            <a:r>
              <a:rPr lang="en-US" sz="2000" dirty="0">
                <a:solidFill>
                  <a:srgbClr val="111827"/>
                </a:solidFill>
                <a:latin typeface="Aptos" pitchFamily="34" charset="0"/>
                <a:ea typeface="Aptos" pitchFamily="34" charset="-122"/>
                <a:cs typeface="Aptos" pitchFamily="34" charset="-120"/>
              </a:rPr>
              <a:t>and PR-enhanced stability</a:t>
            </a:r>
          </a:p>
        </p:txBody>
      </p:sp>
      <p:sp>
        <p:nvSpPr>
          <p:cNvPr id="25" name="Text 23"/>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2</a:t>
            </a:r>
            <a:endParaRPr lang="en-US" sz="880" dirty="0"/>
          </a:p>
        </p:txBody>
      </p:sp>
      <p:sp>
        <p:nvSpPr>
          <p:cNvPr id="24" name="TextBox 23">
            <a:extLst>
              <a:ext uri="{FF2B5EF4-FFF2-40B4-BE49-F238E27FC236}">
                <a16:creationId xmlns:a16="http://schemas.microsoft.com/office/drawing/2014/main" id="{C2BE6CF0-4724-E21D-07F4-DA30D97EB81D}"/>
              </a:ext>
            </a:extLst>
          </p:cNvPr>
          <p:cNvSpPr txBox="1"/>
          <p:nvPr/>
        </p:nvSpPr>
        <p:spPr>
          <a:xfrm>
            <a:off x="5876133" y="1696601"/>
            <a:ext cx="5672900" cy="369332"/>
          </a:xfrm>
          <a:prstGeom prst="rect">
            <a:avLst/>
          </a:prstGeom>
          <a:noFill/>
        </p:spPr>
        <p:txBody>
          <a:bodyPr wrap="none" rtlCol="0">
            <a:spAutoFit/>
          </a:bodyPr>
          <a:lstStyle/>
          <a:p>
            <a:r>
              <a:rPr lang="en-US" dirty="0">
                <a:latin typeface="Aptos" pitchFamily="34" charset="0"/>
                <a:ea typeface="Aptos" pitchFamily="34" charset="-122"/>
                <a:cs typeface="Aptos" pitchFamily="34" charset="-120"/>
              </a:rPr>
              <a:t>Signal-aware sampling, erasure channel, random delay </a:t>
            </a:r>
            <a:endParaRPr lang="en-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Motivation</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Remote estimation should optimize reconstruction quality, not only information freshness.</a:t>
            </a:r>
            <a:endParaRPr lang="en-US" dirty="0"/>
          </a:p>
        </p:txBody>
      </p:sp>
      <p:sp>
        <p:nvSpPr>
          <p:cNvPr id="8" name="Text 6"/>
          <p:cNvSpPr/>
          <p:nvPr/>
        </p:nvSpPr>
        <p:spPr>
          <a:xfrm>
            <a:off x="8953500" y="1986915"/>
            <a:ext cx="2976245" cy="1186815"/>
          </a:xfrm>
          <a:prstGeom prst="rect">
            <a:avLst/>
          </a:prstGeom>
          <a:noFill/>
        </p:spPr>
        <p:txBody>
          <a:bodyPr wrap="square" lIns="635" tIns="635" rIns="635" bIns="635" rtlCol="0" anchor="ctr">
            <a:noAutofit/>
          </a:bodyPr>
          <a:lstStyle/>
          <a:p>
            <a:r>
              <a:rPr lang="en-US" dirty="0">
                <a:solidFill>
                  <a:srgbClr val="111827"/>
                </a:solidFill>
                <a:latin typeface="Aptos" pitchFamily="34" charset="0"/>
                <a:ea typeface="Aptos" pitchFamily="34" charset="-122"/>
                <a:cs typeface="Aptos" pitchFamily="34" charset="-120"/>
              </a:rPr>
              <a:t>A receiver needs accurate real-time estimates of a continuously changing state</a:t>
            </a:r>
            <a:endParaRPr lang="en-US" dirty="0"/>
          </a:p>
          <a:p>
            <a:endParaRPr lang="en-US" dirty="0"/>
          </a:p>
        </p:txBody>
      </p:sp>
      <p:sp>
        <p:nvSpPr>
          <p:cNvPr id="9" name="Shape 7"/>
          <p:cNvSpPr/>
          <p:nvPr/>
        </p:nvSpPr>
        <p:spPr>
          <a:xfrm>
            <a:off x="5118735" y="4542790"/>
            <a:ext cx="6165850" cy="960120"/>
          </a:xfrm>
          <a:prstGeom prst="roundRect">
            <a:avLst>
              <a:gd name="adj" fmla="val 5714"/>
            </a:avLst>
          </a:prstGeom>
          <a:solidFill>
            <a:srgbClr val="EAF2FF"/>
          </a:solidFill>
          <a:ln w="12700">
            <a:solidFill>
              <a:srgbClr val="D8E6FA"/>
            </a:solidFill>
            <a:prstDash val="solid"/>
          </a:ln>
        </p:spPr>
        <p:txBody>
          <a:bodyPr/>
          <a:lstStyle/>
          <a:p>
            <a:endParaRPr lang="en-CN"/>
          </a:p>
        </p:txBody>
      </p:sp>
      <p:sp>
        <p:nvSpPr>
          <p:cNvPr id="10" name="Text 8"/>
          <p:cNvSpPr/>
          <p:nvPr/>
        </p:nvSpPr>
        <p:spPr>
          <a:xfrm>
            <a:off x="5294122" y="4670679"/>
            <a:ext cx="4197096" cy="256032"/>
          </a:xfrm>
          <a:prstGeom prst="rect">
            <a:avLst/>
          </a:prstGeom>
          <a:noFill/>
        </p:spPr>
        <p:txBody>
          <a:bodyPr wrap="square" lIns="0" tIns="0" rIns="0" bIns="0" rtlCol="0" anchor="ctr"/>
          <a:lstStyle/>
          <a:p>
            <a:pPr marL="0" indent="0">
              <a:buNone/>
            </a:pPr>
            <a:r>
              <a:rPr lang="en-US" sz="2400" b="1" dirty="0">
                <a:solidFill>
                  <a:srgbClr val="1E63B5"/>
                </a:solidFill>
                <a:latin typeface="Aptos Display" pitchFamily="34" charset="0"/>
                <a:ea typeface="Aptos Display" pitchFamily="34" charset="-122"/>
                <a:cs typeface="Aptos Display" pitchFamily="34" charset="-120"/>
                <a:sym typeface="+mn-ea"/>
              </a:rPr>
              <a:t>Applications</a:t>
            </a:r>
            <a:endParaRPr lang="en-US" sz="2400" b="1" dirty="0">
              <a:solidFill>
                <a:srgbClr val="1E63B5"/>
              </a:solidFill>
              <a:latin typeface="Aptos Display" pitchFamily="34" charset="0"/>
              <a:ea typeface="Aptos Display" pitchFamily="34" charset="-122"/>
              <a:cs typeface="Aptos Display" pitchFamily="34" charset="-120"/>
            </a:endParaRPr>
          </a:p>
        </p:txBody>
      </p:sp>
      <p:sp>
        <p:nvSpPr>
          <p:cNvPr id="11" name="Text 9"/>
          <p:cNvSpPr/>
          <p:nvPr/>
        </p:nvSpPr>
        <p:spPr>
          <a:xfrm>
            <a:off x="5222875" y="5008880"/>
            <a:ext cx="5967730" cy="39306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remote health monitoring  •  GPS tracking  •  drone control</a:t>
            </a:r>
          </a:p>
        </p:txBody>
      </p:sp>
      <p:sp>
        <p:nvSpPr>
          <p:cNvPr id="15" name="Shape 13"/>
          <p:cNvSpPr/>
          <p:nvPr/>
        </p:nvSpPr>
        <p:spPr>
          <a:xfrm>
            <a:off x="182245" y="4807585"/>
            <a:ext cx="384048" cy="384048"/>
          </a:xfrm>
          <a:prstGeom prst="ellipse">
            <a:avLst/>
          </a:prstGeom>
          <a:solidFill>
            <a:srgbClr val="F26B38"/>
          </a:solidFill>
          <a:ln w="12700">
            <a:solidFill>
              <a:srgbClr val="F26B38"/>
            </a:solidFill>
            <a:prstDash val="solid"/>
          </a:ln>
        </p:spPr>
        <p:txBody>
          <a:bodyPr/>
          <a:lstStyle/>
          <a:p>
            <a:endParaRPr lang="en-CN"/>
          </a:p>
        </p:txBody>
      </p:sp>
      <p:sp>
        <p:nvSpPr>
          <p:cNvPr id="16" name="Text 14"/>
          <p:cNvSpPr/>
          <p:nvPr/>
        </p:nvSpPr>
        <p:spPr>
          <a:xfrm>
            <a:off x="749300" y="4880610"/>
            <a:ext cx="4186555" cy="356870"/>
          </a:xfrm>
          <a:prstGeom prst="rect">
            <a:avLst/>
          </a:prstGeom>
          <a:noFill/>
        </p:spPr>
        <p:txBody>
          <a:bodyPr wrap="square" lIns="0" tIns="0" rIns="0" bIns="0" rtlCol="0" anchor="ctr"/>
          <a:lstStyle/>
          <a:p>
            <a:pPr marL="0" indent="0">
              <a:buNone/>
            </a:pPr>
            <a:r>
              <a:rPr lang="en-US" sz="2000" dirty="0">
                <a:solidFill>
                  <a:srgbClr val="111827"/>
                </a:solidFill>
                <a:latin typeface="Aptos" pitchFamily="34" charset="0"/>
                <a:ea typeface="Aptos" pitchFamily="34" charset="-122"/>
                <a:cs typeface="Aptos" pitchFamily="34" charset="-120"/>
                <a:sym typeface="+mn-ea"/>
              </a:rPr>
              <a:t>Sampling too often wastes energy and channel resources</a:t>
            </a:r>
          </a:p>
        </p:txBody>
      </p:sp>
      <p:sp>
        <p:nvSpPr>
          <p:cNvPr id="17" name="Shape 15"/>
          <p:cNvSpPr/>
          <p:nvPr/>
        </p:nvSpPr>
        <p:spPr>
          <a:xfrm>
            <a:off x="182245" y="5767705"/>
            <a:ext cx="384048" cy="384048"/>
          </a:xfrm>
          <a:prstGeom prst="ellipse">
            <a:avLst/>
          </a:prstGeom>
          <a:solidFill>
            <a:srgbClr val="C83F49"/>
          </a:solidFill>
          <a:ln w="12700">
            <a:solidFill>
              <a:srgbClr val="C83F49"/>
            </a:solidFill>
            <a:prstDash val="solid"/>
          </a:ln>
        </p:spPr>
        <p:txBody>
          <a:bodyPr/>
          <a:lstStyle/>
          <a:p>
            <a:endParaRPr lang="en-CN"/>
          </a:p>
        </p:txBody>
      </p:sp>
      <p:sp>
        <p:nvSpPr>
          <p:cNvPr id="18" name="Text 16"/>
          <p:cNvSpPr/>
          <p:nvPr/>
        </p:nvSpPr>
        <p:spPr>
          <a:xfrm>
            <a:off x="749300" y="5722620"/>
            <a:ext cx="4179570" cy="478790"/>
          </a:xfrm>
          <a:prstGeom prst="rect">
            <a:avLst/>
          </a:prstGeom>
          <a:noFill/>
        </p:spPr>
        <p:txBody>
          <a:bodyPr wrap="square" lIns="0" tIns="0" rIns="0" bIns="0" rtlCol="0" anchor="ctr"/>
          <a:lstStyle/>
          <a:p>
            <a:pPr marL="0" indent="0">
              <a:buNone/>
            </a:pPr>
            <a:r>
              <a:rPr lang="en-US" sz="2000" dirty="0">
                <a:solidFill>
                  <a:srgbClr val="111827"/>
                </a:solidFill>
                <a:latin typeface="Aptos" pitchFamily="34" charset="0"/>
                <a:ea typeface="Aptos" pitchFamily="34" charset="-122"/>
                <a:cs typeface="Aptos" pitchFamily="34" charset="-120"/>
                <a:sym typeface="+mn-ea"/>
              </a:rPr>
              <a:t>Sampling too late causes large estimation error</a:t>
            </a:r>
          </a:p>
        </p:txBody>
      </p:sp>
      <p:sp>
        <p:nvSpPr>
          <p:cNvPr id="19" name="Shape 17"/>
          <p:cNvSpPr/>
          <p:nvPr/>
        </p:nvSpPr>
        <p:spPr>
          <a:xfrm>
            <a:off x="5118735" y="5660390"/>
            <a:ext cx="6170930" cy="845820"/>
          </a:xfrm>
          <a:prstGeom prst="roundRect">
            <a:avLst>
              <a:gd name="adj" fmla="val 9677"/>
            </a:avLst>
          </a:prstGeom>
          <a:solidFill>
            <a:srgbClr val="F2FBF6"/>
          </a:solidFill>
          <a:ln w="12700">
            <a:solidFill>
              <a:srgbClr val="D3EFDD"/>
            </a:solidFill>
            <a:prstDash val="solid"/>
          </a:ln>
        </p:spPr>
        <p:txBody>
          <a:bodyPr/>
          <a:lstStyle/>
          <a:p>
            <a:endParaRPr lang="en-CN"/>
          </a:p>
        </p:txBody>
      </p:sp>
      <p:sp>
        <p:nvSpPr>
          <p:cNvPr id="20" name="Text 18"/>
          <p:cNvSpPr/>
          <p:nvPr/>
        </p:nvSpPr>
        <p:spPr>
          <a:xfrm>
            <a:off x="5276215" y="5719445"/>
            <a:ext cx="5254625" cy="255905"/>
          </a:xfrm>
          <a:prstGeom prst="rect">
            <a:avLst/>
          </a:prstGeom>
          <a:noFill/>
        </p:spPr>
        <p:txBody>
          <a:bodyPr wrap="square" lIns="0" tIns="0" rIns="0" bIns="0" rtlCol="0" anchor="ctr"/>
          <a:lstStyle/>
          <a:p>
            <a:pPr marL="0" indent="0">
              <a:buNone/>
            </a:pPr>
            <a:r>
              <a:rPr lang="en-US" sz="2400" b="1" dirty="0">
                <a:solidFill>
                  <a:srgbClr val="2BB673"/>
                </a:solidFill>
                <a:latin typeface="Aptos Display" pitchFamily="34" charset="0"/>
                <a:ea typeface="Aptos Display" pitchFamily="34" charset="-122"/>
                <a:cs typeface="Aptos Display" pitchFamily="34" charset="-120"/>
              </a:rPr>
              <a:t>Design target</a:t>
            </a:r>
            <a:endParaRPr lang="en-US" sz="2400" dirty="0"/>
          </a:p>
        </p:txBody>
      </p:sp>
      <p:sp>
        <p:nvSpPr>
          <p:cNvPr id="21" name="Text 19"/>
          <p:cNvSpPr/>
          <p:nvPr/>
        </p:nvSpPr>
        <p:spPr>
          <a:xfrm>
            <a:off x="5276215" y="6115050"/>
            <a:ext cx="5801995" cy="269240"/>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minimize long-term average MSE under sampling budget</a:t>
            </a:r>
          </a:p>
        </p:txBody>
      </p:sp>
      <p:sp>
        <p:nvSpPr>
          <p:cNvPr id="23" name="Text 21"/>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3</a:t>
            </a:r>
            <a:endParaRPr lang="en-US" sz="880" dirty="0"/>
          </a:p>
        </p:txBody>
      </p:sp>
      <p:pic>
        <p:nvPicPr>
          <p:cNvPr id="24" name="Picture 23"/>
          <p:cNvPicPr>
            <a:picLocks noChangeAspect="1"/>
          </p:cNvPicPr>
          <p:nvPr/>
        </p:nvPicPr>
        <p:blipFill>
          <a:blip r:embed="rId3"/>
          <a:stretch>
            <a:fillRect/>
          </a:stretch>
        </p:blipFill>
        <p:spPr>
          <a:xfrm>
            <a:off x="820265" y="1975814"/>
            <a:ext cx="842809" cy="960620"/>
          </a:xfrm>
          <a:prstGeom prst="rect">
            <a:avLst/>
          </a:prstGeom>
        </p:spPr>
      </p:pic>
      <p:cxnSp>
        <p:nvCxnSpPr>
          <p:cNvPr id="25" name="Straight Arrow Connector 24"/>
          <p:cNvCxnSpPr/>
          <p:nvPr/>
        </p:nvCxnSpPr>
        <p:spPr>
          <a:xfrm>
            <a:off x="1773144" y="2566735"/>
            <a:ext cx="847675" cy="0"/>
          </a:xfrm>
          <a:prstGeom prst="straightConnector1">
            <a:avLst/>
          </a:prstGeom>
          <a:ln w="63500">
            <a:solidFill>
              <a:schemeClr val="accent1"/>
            </a:solidFill>
            <a:tailEnd type="triangle"/>
          </a:ln>
        </p:spPr>
        <p:style>
          <a:lnRef idx="1">
            <a:schemeClr val="dk1"/>
          </a:lnRef>
          <a:fillRef idx="0">
            <a:schemeClr val="dk1"/>
          </a:fillRef>
          <a:effectRef idx="0">
            <a:schemeClr val="dk1"/>
          </a:effectRef>
          <a:fontRef idx="minor">
            <a:schemeClr val="tx1"/>
          </a:fontRef>
        </p:style>
      </p:cxnSp>
      <p:pic>
        <p:nvPicPr>
          <p:cNvPr id="26" name="Picture 25"/>
          <p:cNvPicPr>
            <a:picLocks noChangeAspect="1"/>
          </p:cNvPicPr>
          <p:nvPr/>
        </p:nvPicPr>
        <p:blipFill>
          <a:blip r:embed="rId4"/>
          <a:stretch>
            <a:fillRect/>
          </a:stretch>
        </p:blipFill>
        <p:spPr>
          <a:xfrm>
            <a:off x="6563072" y="1904818"/>
            <a:ext cx="1406589" cy="1053660"/>
          </a:xfrm>
          <a:prstGeom prst="rect">
            <a:avLst/>
          </a:prstGeom>
        </p:spPr>
      </p:pic>
      <p:pic>
        <p:nvPicPr>
          <p:cNvPr id="27" name="Picture 26"/>
          <p:cNvPicPr>
            <a:picLocks noChangeAspect="1"/>
          </p:cNvPicPr>
          <p:nvPr/>
        </p:nvPicPr>
        <p:blipFill rotWithShape="1">
          <a:blip r:embed="rId5"/>
          <a:srcRect l="7585" t="12098" r="3424" b="12097"/>
          <a:stretch>
            <a:fillRect/>
          </a:stretch>
        </p:blipFill>
        <p:spPr>
          <a:xfrm flipH="1">
            <a:off x="2679149" y="2131338"/>
            <a:ext cx="1482498" cy="797453"/>
          </a:xfrm>
          <a:prstGeom prst="rect">
            <a:avLst/>
          </a:prstGeom>
        </p:spPr>
      </p:pic>
      <p:sp>
        <p:nvSpPr>
          <p:cNvPr id="28" name="TextBox 27"/>
          <p:cNvSpPr txBox="1"/>
          <p:nvPr/>
        </p:nvSpPr>
        <p:spPr>
          <a:xfrm>
            <a:off x="156689" y="2950088"/>
            <a:ext cx="2464130"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Real-time Signal</a:t>
            </a:r>
          </a:p>
          <a:p>
            <a:pPr algn="ctr"/>
            <a:r>
              <a:rPr lang="en-US" altLang="zh-CN" dirty="0">
                <a:latin typeface="Times New Roman" panose="02020603050405020304" pitchFamily="18" charset="0"/>
                <a:cs typeface="Times New Roman" panose="02020603050405020304" pitchFamily="18" charset="0"/>
              </a:rPr>
              <a:t>(Pedestrian Intention)</a:t>
            </a:r>
            <a:endParaRPr lang="en-US" dirty="0">
              <a:latin typeface="Times New Roman" panose="02020603050405020304" pitchFamily="18" charset="0"/>
              <a:cs typeface="Times New Roman" panose="02020603050405020304" pitchFamily="18" charset="0"/>
            </a:endParaRPr>
          </a:p>
        </p:txBody>
      </p:sp>
      <p:sp>
        <p:nvSpPr>
          <p:cNvPr id="29" name="TextBox 28"/>
          <p:cNvSpPr txBox="1"/>
          <p:nvPr/>
        </p:nvSpPr>
        <p:spPr>
          <a:xfrm>
            <a:off x="2062351" y="2958477"/>
            <a:ext cx="2716094"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Sample</a:t>
            </a:r>
          </a:p>
          <a:p>
            <a:pPr algn="ctr"/>
            <a:r>
              <a:rPr lang="en-US" dirty="0">
                <a:latin typeface="Times New Roman" panose="02020603050405020304" pitchFamily="18" charset="0"/>
                <a:cs typeface="Times New Roman" panose="02020603050405020304" pitchFamily="18" charset="0"/>
              </a:rPr>
              <a:t>(Vehicle)</a:t>
            </a:r>
          </a:p>
        </p:txBody>
      </p:sp>
      <p:sp>
        <p:nvSpPr>
          <p:cNvPr id="30" name="TextBox 29"/>
          <p:cNvSpPr txBox="1"/>
          <p:nvPr/>
        </p:nvSpPr>
        <p:spPr>
          <a:xfrm>
            <a:off x="5962537" y="2965950"/>
            <a:ext cx="2607658"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Receive</a:t>
            </a:r>
          </a:p>
          <a:p>
            <a:pPr algn="ctr"/>
            <a:r>
              <a:rPr lang="en-US" dirty="0">
                <a:latin typeface="Times New Roman" panose="02020603050405020304" pitchFamily="18" charset="0"/>
                <a:cs typeface="Times New Roman" panose="02020603050405020304" pitchFamily="18" charset="0"/>
              </a:rPr>
              <a:t>(Remote Estimation)</a:t>
            </a:r>
          </a:p>
        </p:txBody>
      </p:sp>
      <p:cxnSp>
        <p:nvCxnSpPr>
          <p:cNvPr id="31" name="Straight Arrow Connector 30"/>
          <p:cNvCxnSpPr/>
          <p:nvPr/>
        </p:nvCxnSpPr>
        <p:spPr>
          <a:xfrm>
            <a:off x="4214425" y="2566735"/>
            <a:ext cx="2174791" cy="0"/>
          </a:xfrm>
          <a:prstGeom prst="straightConnector1">
            <a:avLst/>
          </a:prstGeom>
          <a:ln w="6350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2" name="Elbow Connector 31"/>
          <p:cNvCxnSpPr>
            <a:stCxn id="26" idx="0"/>
            <a:endCxn id="27" idx="0"/>
          </p:cNvCxnSpPr>
          <p:nvPr/>
        </p:nvCxnSpPr>
        <p:spPr>
          <a:xfrm rot="16200000" flipH="1" flipV="1">
            <a:off x="5230123" y="95093"/>
            <a:ext cx="226520" cy="3845969"/>
          </a:xfrm>
          <a:prstGeom prst="bentConnector3">
            <a:avLst>
              <a:gd name="adj1" fmla="val -100918"/>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638858" y="3861788"/>
            <a:ext cx="1261884" cy="400110"/>
          </a:xfrm>
          <a:prstGeom prst="rect">
            <a:avLst/>
          </a:prstGeom>
          <a:solidFill>
            <a:schemeClr val="bg1"/>
          </a:solidFill>
          <a:ln w="38100">
            <a:solidFill>
              <a:srgbClr val="C00000"/>
            </a:solidFill>
          </a:ln>
        </p:spPr>
        <p:txBody>
          <a:bodyPr wrap="square" rtlCol="0">
            <a:spAutoFit/>
          </a:bodyPr>
          <a:lstStyle/>
          <a:p>
            <a:pPr algn="ctr"/>
            <a:r>
              <a:rPr lang="en-US" sz="2000" dirty="0">
                <a:solidFill>
                  <a:srgbClr val="C00000"/>
                </a:solidFill>
                <a:latin typeface="Times New Roman" panose="02020603050405020304" pitchFamily="18" charset="0"/>
                <a:cs typeface="Times New Roman" panose="02020603050405020304" pitchFamily="18" charset="0"/>
              </a:rPr>
              <a:t>Channel</a:t>
            </a:r>
          </a:p>
        </p:txBody>
      </p:sp>
      <p:sp>
        <p:nvSpPr>
          <p:cNvPr id="35" name="Rectangle 34"/>
          <p:cNvSpPr/>
          <p:nvPr/>
        </p:nvSpPr>
        <p:spPr>
          <a:xfrm>
            <a:off x="242608" y="1422828"/>
            <a:ext cx="4135536" cy="2610219"/>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6069349" y="1414047"/>
            <a:ext cx="2716095" cy="2676694"/>
          </a:xfrm>
          <a:prstGeom prst="rect">
            <a:avLst/>
          </a:prstGeom>
          <a:noFill/>
          <a:ln w="3810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1791696" y="3847835"/>
            <a:ext cx="1261884" cy="400110"/>
          </a:xfrm>
          <a:prstGeom prst="rect">
            <a:avLst/>
          </a:prstGeom>
          <a:solidFill>
            <a:schemeClr val="bg1"/>
          </a:solidFill>
          <a:ln w="38100">
            <a:solidFill>
              <a:srgbClr val="C00000"/>
            </a:solidFill>
          </a:ln>
        </p:spPr>
        <p:txBody>
          <a:bodyPr wrap="square" rtlCol="0">
            <a:spAutoFit/>
          </a:bodyPr>
          <a:lstStyle/>
          <a:p>
            <a:pPr algn="ctr"/>
            <a:r>
              <a:rPr lang="en-US" sz="2000" dirty="0">
                <a:solidFill>
                  <a:srgbClr val="C00000"/>
                </a:solidFill>
                <a:latin typeface="Times New Roman" panose="02020603050405020304" pitchFamily="18" charset="0"/>
                <a:cs typeface="Times New Roman" panose="02020603050405020304" pitchFamily="18" charset="0"/>
              </a:rPr>
              <a:t>Edge</a:t>
            </a:r>
          </a:p>
        </p:txBody>
      </p:sp>
      <p:sp>
        <p:nvSpPr>
          <p:cNvPr id="38" name="TextBox 37"/>
          <p:cNvSpPr txBox="1"/>
          <p:nvPr/>
        </p:nvSpPr>
        <p:spPr>
          <a:xfrm>
            <a:off x="6986281" y="3843309"/>
            <a:ext cx="1055672" cy="400110"/>
          </a:xfrm>
          <a:prstGeom prst="rect">
            <a:avLst/>
          </a:prstGeom>
          <a:solidFill>
            <a:schemeClr val="bg1"/>
          </a:solidFill>
          <a:ln w="38100">
            <a:solidFill>
              <a:srgbClr val="C00000"/>
            </a:solidFill>
          </a:ln>
        </p:spPr>
        <p:txBody>
          <a:bodyPr wrap="square" rtlCol="0">
            <a:spAutoFit/>
          </a:bodyPr>
          <a:lstStyle/>
          <a:p>
            <a:pPr algn="ctr"/>
            <a:r>
              <a:rPr lang="en-US" sz="2000" dirty="0">
                <a:solidFill>
                  <a:srgbClr val="C00000"/>
                </a:solidFill>
                <a:latin typeface="Times New Roman" panose="02020603050405020304" pitchFamily="18" charset="0"/>
                <a:cs typeface="Times New Roman" panose="02020603050405020304" pitchFamily="18" charset="0"/>
              </a:rPr>
              <a:t>Cloud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System Model and Objective</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The estimator sends the feedback only when a packet is successfully delivered.</a:t>
            </a:r>
            <a:endParaRPr lang="en-US" dirty="0"/>
          </a:p>
        </p:txBody>
      </p:sp>
      <p:sp>
        <p:nvSpPr>
          <p:cNvPr id="8" name="Shape 6"/>
          <p:cNvSpPr/>
          <p:nvPr/>
        </p:nvSpPr>
        <p:spPr>
          <a:xfrm>
            <a:off x="157480" y="1408430"/>
            <a:ext cx="3089275" cy="1005840"/>
          </a:xfrm>
          <a:prstGeom prst="roundRect">
            <a:avLst>
              <a:gd name="adj" fmla="val 5455"/>
            </a:avLst>
          </a:prstGeom>
          <a:solidFill>
            <a:srgbClr val="EAF2FF"/>
          </a:solidFill>
          <a:ln w="12700">
            <a:solidFill>
              <a:srgbClr val="D8E6FA"/>
            </a:solidFill>
            <a:prstDash val="solid"/>
          </a:ln>
        </p:spPr>
        <p:txBody>
          <a:bodyPr/>
          <a:lstStyle/>
          <a:p>
            <a:endParaRPr lang="en-CN"/>
          </a:p>
        </p:txBody>
      </p:sp>
      <p:sp>
        <p:nvSpPr>
          <p:cNvPr id="9" name="Text 7"/>
          <p:cNvSpPr/>
          <p:nvPr/>
        </p:nvSpPr>
        <p:spPr>
          <a:xfrm>
            <a:off x="1248410" y="1515745"/>
            <a:ext cx="1515110" cy="255905"/>
          </a:xfrm>
          <a:prstGeom prst="rect">
            <a:avLst/>
          </a:prstGeom>
          <a:noFill/>
        </p:spPr>
        <p:txBody>
          <a:bodyPr wrap="square" lIns="0" tIns="0" rIns="0" bIns="0" rtlCol="0" anchor="ctr"/>
          <a:lstStyle/>
          <a:p>
            <a:pPr marL="0" indent="0">
              <a:buNone/>
            </a:pPr>
            <a:r>
              <a:rPr lang="en-US" sz="2000" b="1" dirty="0">
                <a:solidFill>
                  <a:srgbClr val="1E63B5"/>
                </a:solidFill>
                <a:latin typeface="Aptos Display" pitchFamily="34" charset="0"/>
                <a:ea typeface="Aptos Display" pitchFamily="34" charset="-122"/>
                <a:cs typeface="Aptos Display" pitchFamily="34" charset="-120"/>
              </a:rPr>
              <a:t>Sensor</a:t>
            </a:r>
          </a:p>
        </p:txBody>
      </p:sp>
      <mc:AlternateContent xmlns:mc="http://schemas.openxmlformats.org/markup-compatibility/2006" xmlns:a14="http://schemas.microsoft.com/office/drawing/2010/main">
        <mc:Choice Requires="a14">
          <p:sp>
            <p:nvSpPr>
              <p:cNvPr id="10" name="Text 8"/>
              <p:cNvSpPr/>
              <p:nvPr/>
            </p:nvSpPr>
            <p:spPr>
              <a:xfrm>
                <a:off x="303530" y="1874520"/>
                <a:ext cx="3039745" cy="43878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observes Wiener process </a:t>
                </a:r>
                <a14:m>
                  <m:oMath xmlns:m="http://schemas.openxmlformats.org/officeDocument/2006/math">
                    <m:sSub>
                      <m:sSubPr>
                        <m:ctrlPr>
                          <a:rPr lang="en-US" i="1" dirty="0">
                            <a:solidFill>
                              <a:srgbClr val="111827"/>
                            </a:solidFill>
                            <a:latin typeface="Cambria Math" panose="02040503050406030204" pitchFamily="18" charset="0"/>
                            <a:ea typeface="Aptos" pitchFamily="34" charset="-122"/>
                            <a:cs typeface="Cambria Math" panose="02040503050406030204" charset="0"/>
                          </a:rPr>
                        </m:ctrlPr>
                      </m:sSubPr>
                      <m:e>
                        <m:r>
                          <a:rPr lang="en-US" i="1" dirty="0">
                            <a:solidFill>
                              <a:srgbClr val="111827"/>
                            </a:solidFill>
                            <a:latin typeface="Cambria Math" panose="02040503050406030204" charset="0"/>
                            <a:ea typeface="Aptos" pitchFamily="34" charset="-122"/>
                            <a:cs typeface="Cambria Math" panose="02040503050406030204" charset="0"/>
                          </a:rPr>
                          <m:t>𝑊</m:t>
                        </m:r>
                      </m:e>
                      <m:sub>
                        <m:r>
                          <a:rPr lang="en-US" i="1" dirty="0">
                            <a:solidFill>
                              <a:srgbClr val="111827"/>
                            </a:solidFill>
                            <a:latin typeface="Cambria Math" panose="02040503050406030204" charset="0"/>
                            <a:ea typeface="Aptos" pitchFamily="34" charset="-122"/>
                            <a:cs typeface="Cambria Math" panose="02040503050406030204" charset="0"/>
                          </a:rPr>
                          <m:t>𝑡</m:t>
                        </m:r>
                      </m:sub>
                    </m:sSub>
                  </m:oMath>
                </a14:m>
                <a:endParaRPr lang="en-US" dirty="0">
                  <a:solidFill>
                    <a:srgbClr val="111827"/>
                  </a:solidFill>
                  <a:latin typeface="Aptos" pitchFamily="34" charset="0"/>
                  <a:ea typeface="Aptos" pitchFamily="34" charset="-122"/>
                  <a:cs typeface="Aptos" pitchFamily="34" charset="-120"/>
                </a:endParaRPr>
              </a:p>
            </p:txBody>
          </p:sp>
        </mc:Choice>
        <mc:Fallback xmlns="">
          <p:sp>
            <p:nvSpPr>
              <p:cNvPr id="10" name="Text 8"/>
              <p:cNvSpPr>
                <a:spLocks noRot="1" noChangeAspect="1" noMove="1" noResize="1" noEditPoints="1" noAdjustHandles="1" noChangeArrowheads="1" noChangeShapeType="1" noTextEdit="1"/>
              </p:cNvSpPr>
              <p:nvPr/>
            </p:nvSpPr>
            <p:spPr>
              <a:xfrm>
                <a:off x="303530" y="1874520"/>
                <a:ext cx="3039745" cy="438785"/>
              </a:xfrm>
              <a:prstGeom prst="rect">
                <a:avLst/>
              </a:prstGeom>
              <a:blipFill rotWithShape="1">
                <a:blip r:embed="rId3"/>
                <a:stretch>
                  <a:fillRect/>
                </a:stretch>
              </a:blipFill>
            </p:spPr>
            <p:txBody>
              <a:bodyPr/>
              <a:lstStyle/>
              <a:p>
                <a:r>
                  <a:rPr lang="zh-CN" altLang="en-US">
                    <a:noFill/>
                  </a:rPr>
                  <a:t> </a:t>
                </a:r>
              </a:p>
            </p:txBody>
          </p:sp>
        </mc:Fallback>
      </mc:AlternateContent>
      <p:sp>
        <p:nvSpPr>
          <p:cNvPr id="11" name="Shape 9"/>
          <p:cNvSpPr/>
          <p:nvPr/>
        </p:nvSpPr>
        <p:spPr>
          <a:xfrm>
            <a:off x="3365500" y="1719326"/>
            <a:ext cx="1051560" cy="320040"/>
          </a:xfrm>
          <a:prstGeom prst="rightArrow">
            <a:avLst/>
          </a:prstGeom>
          <a:solidFill>
            <a:srgbClr val="CBD3DF"/>
          </a:solidFill>
          <a:ln w="12700">
            <a:solidFill>
              <a:srgbClr val="CBD3DF"/>
            </a:solidFill>
            <a:prstDash val="solid"/>
          </a:ln>
        </p:spPr>
        <p:txBody>
          <a:bodyPr/>
          <a:lstStyle/>
          <a:p>
            <a:endParaRPr lang="en-CN"/>
          </a:p>
        </p:txBody>
      </p:sp>
      <p:sp>
        <p:nvSpPr>
          <p:cNvPr id="12" name="Shape 10"/>
          <p:cNvSpPr/>
          <p:nvPr/>
        </p:nvSpPr>
        <p:spPr>
          <a:xfrm>
            <a:off x="4535805" y="1408430"/>
            <a:ext cx="2872740" cy="1005840"/>
          </a:xfrm>
          <a:prstGeom prst="roundRect">
            <a:avLst>
              <a:gd name="adj" fmla="val 5455"/>
            </a:avLst>
          </a:prstGeom>
          <a:solidFill>
            <a:srgbClr val="FFF4E4"/>
          </a:solidFill>
          <a:ln w="12700">
            <a:solidFill>
              <a:srgbClr val="F5D8AA"/>
            </a:solidFill>
            <a:prstDash val="solid"/>
          </a:ln>
        </p:spPr>
        <p:txBody>
          <a:bodyPr/>
          <a:lstStyle/>
          <a:p>
            <a:endParaRPr lang="en-CN"/>
          </a:p>
        </p:txBody>
      </p:sp>
      <p:sp>
        <p:nvSpPr>
          <p:cNvPr id="13" name="Text 11"/>
          <p:cNvSpPr/>
          <p:nvPr/>
        </p:nvSpPr>
        <p:spPr>
          <a:xfrm>
            <a:off x="4848987" y="1536573"/>
            <a:ext cx="2579370" cy="255905"/>
          </a:xfrm>
          <a:prstGeom prst="rect">
            <a:avLst/>
          </a:prstGeom>
          <a:noFill/>
        </p:spPr>
        <p:txBody>
          <a:bodyPr wrap="square" lIns="0" tIns="0" rIns="0" bIns="0" rtlCol="0" anchor="ctr"/>
          <a:lstStyle/>
          <a:p>
            <a:pPr marL="0" indent="0">
              <a:buNone/>
            </a:pPr>
            <a:r>
              <a:rPr lang="en-US" sz="2000" b="1" dirty="0">
                <a:solidFill>
                  <a:srgbClr val="F26B38"/>
                </a:solidFill>
                <a:latin typeface="Aptos Display" pitchFamily="34" charset="0"/>
                <a:ea typeface="Aptos Display" pitchFamily="34" charset="-122"/>
                <a:cs typeface="Aptos Display" pitchFamily="34" charset="-120"/>
              </a:rPr>
              <a:t>Unreliable channel</a:t>
            </a:r>
          </a:p>
        </p:txBody>
      </p:sp>
      <mc:AlternateContent xmlns:mc="http://schemas.openxmlformats.org/markup-compatibility/2006">
        <mc:Choice xmlns:a14="http://schemas.microsoft.com/office/drawing/2010/main" Requires="a14">
          <p:sp>
            <p:nvSpPr>
              <p:cNvPr id="14" name="Text 12"/>
              <p:cNvSpPr/>
              <p:nvPr/>
            </p:nvSpPr>
            <p:spPr>
              <a:xfrm>
                <a:off x="4678045" y="1874520"/>
                <a:ext cx="2750312" cy="43878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random delay</a:t>
                </a:r>
                <a14:m>
                  <m:oMath xmlns:m="http://schemas.openxmlformats.org/officeDocument/2006/math">
                    <m:r>
                      <a:rPr lang="en-US" b="0" i="0" dirty="0" smtClean="0">
                        <a:solidFill>
                          <a:srgbClr val="111827"/>
                        </a:solidFill>
                        <a:latin typeface="Cambria Math" panose="02040503050406030204" pitchFamily="18" charset="0"/>
                        <a:ea typeface="Aptos" pitchFamily="34" charset="-122"/>
                        <a:cs typeface="Cambria Math" panose="02040503050406030204" charset="0"/>
                      </a:rPr>
                      <m:t>, </m:t>
                    </m:r>
                    <m:r>
                      <m:rPr>
                        <m:sty m:val="p"/>
                      </m:rPr>
                      <a:rPr lang="en-US" b="0" i="0" dirty="0" smtClean="0">
                        <a:solidFill>
                          <a:srgbClr val="111827"/>
                        </a:solidFill>
                        <a:latin typeface="Cambria Math" panose="02040503050406030204" pitchFamily="18" charset="0"/>
                        <a:ea typeface="Aptos" pitchFamily="34" charset="-122"/>
                        <a:cs typeface="Cambria Math" panose="02040503050406030204" charset="0"/>
                      </a:rPr>
                      <m:t>packet</m:t>
                    </m:r>
                    <m:r>
                      <a:rPr lang="en-US" b="0" i="0" dirty="0" smtClean="0">
                        <a:solidFill>
                          <a:srgbClr val="111827"/>
                        </a:solidFill>
                        <a:latin typeface="Cambria Math" panose="02040503050406030204" pitchFamily="18" charset="0"/>
                        <a:ea typeface="Aptos" pitchFamily="34" charset="-122"/>
                        <a:cs typeface="Cambria Math" panose="02040503050406030204" charset="0"/>
                      </a:rPr>
                      <m:t> </m:t>
                    </m:r>
                    <m:r>
                      <m:rPr>
                        <m:sty m:val="p"/>
                      </m:rPr>
                      <a:rPr lang="en-US" b="0" i="0" dirty="0" smtClean="0">
                        <a:solidFill>
                          <a:srgbClr val="111827"/>
                        </a:solidFill>
                        <a:latin typeface="Cambria Math" panose="02040503050406030204" pitchFamily="18" charset="0"/>
                        <a:ea typeface="Aptos" pitchFamily="34" charset="-122"/>
                        <a:cs typeface="Cambria Math" panose="02040503050406030204" charset="0"/>
                      </a:rPr>
                      <m:t>drop</m:t>
                    </m:r>
                  </m:oMath>
                </a14:m>
                <a:endParaRPr lang="en-US" dirty="0">
                  <a:solidFill>
                    <a:srgbClr val="111827"/>
                  </a:solidFill>
                  <a:latin typeface="Aptos" pitchFamily="34" charset="0"/>
                  <a:ea typeface="Aptos" pitchFamily="34" charset="-122"/>
                  <a:cs typeface="Aptos" pitchFamily="34" charset="-120"/>
                </a:endParaRPr>
              </a:p>
            </p:txBody>
          </p:sp>
        </mc:Choice>
        <mc:Fallback>
          <p:sp>
            <p:nvSpPr>
              <p:cNvPr id="14" name="Text 12"/>
              <p:cNvSpPr>
                <a:spLocks noRot="1" noChangeAspect="1" noMove="1" noResize="1" noEditPoints="1" noAdjustHandles="1" noChangeArrowheads="1" noChangeShapeType="1" noTextEdit="1"/>
              </p:cNvSpPr>
              <p:nvPr/>
            </p:nvSpPr>
            <p:spPr>
              <a:xfrm>
                <a:off x="4678045" y="1874520"/>
                <a:ext cx="2750312" cy="438785"/>
              </a:xfrm>
              <a:prstGeom prst="rect">
                <a:avLst/>
              </a:prstGeom>
              <a:blipFill>
                <a:blip r:embed="rId4"/>
                <a:stretch>
                  <a:fillRect l="-5046" b="-17143"/>
                </a:stretch>
              </a:blipFill>
            </p:spPr>
            <p:txBody>
              <a:bodyPr/>
              <a:lstStyle/>
              <a:p>
                <a:r>
                  <a:rPr lang="en-CN">
                    <a:noFill/>
                  </a:rPr>
                  <a:t> </a:t>
                </a:r>
              </a:p>
            </p:txBody>
          </p:sp>
        </mc:Fallback>
      </mc:AlternateContent>
      <p:sp>
        <p:nvSpPr>
          <p:cNvPr id="15" name="Shape 13"/>
          <p:cNvSpPr/>
          <p:nvPr/>
        </p:nvSpPr>
        <p:spPr>
          <a:xfrm>
            <a:off x="7554341" y="1728216"/>
            <a:ext cx="1051560" cy="320040"/>
          </a:xfrm>
          <a:prstGeom prst="rightArrow">
            <a:avLst/>
          </a:prstGeom>
          <a:solidFill>
            <a:srgbClr val="CBD3DF"/>
          </a:solidFill>
          <a:ln w="12700">
            <a:solidFill>
              <a:srgbClr val="CBD3DF"/>
            </a:solidFill>
            <a:prstDash val="solid"/>
          </a:ln>
        </p:spPr>
        <p:txBody>
          <a:bodyPr/>
          <a:lstStyle/>
          <a:p>
            <a:endParaRPr lang="en-CN"/>
          </a:p>
        </p:txBody>
      </p:sp>
      <p:sp>
        <p:nvSpPr>
          <p:cNvPr id="16" name="Shape 14"/>
          <p:cNvSpPr/>
          <p:nvPr/>
        </p:nvSpPr>
        <p:spPr>
          <a:xfrm>
            <a:off x="8752205" y="1417320"/>
            <a:ext cx="3096895" cy="1005840"/>
          </a:xfrm>
          <a:prstGeom prst="roundRect">
            <a:avLst>
              <a:gd name="adj" fmla="val 5455"/>
            </a:avLst>
          </a:prstGeom>
          <a:solidFill>
            <a:srgbClr val="F2FBF6"/>
          </a:solidFill>
          <a:ln w="12700">
            <a:solidFill>
              <a:srgbClr val="D3EFDD"/>
            </a:solidFill>
            <a:prstDash val="solid"/>
          </a:ln>
        </p:spPr>
        <p:txBody>
          <a:bodyPr/>
          <a:lstStyle/>
          <a:p>
            <a:endParaRPr lang="en-CN"/>
          </a:p>
        </p:txBody>
      </p:sp>
      <p:sp>
        <p:nvSpPr>
          <p:cNvPr id="17" name="Text 15"/>
          <p:cNvSpPr/>
          <p:nvPr/>
        </p:nvSpPr>
        <p:spPr>
          <a:xfrm>
            <a:off x="9372473" y="1536573"/>
            <a:ext cx="2602865" cy="255905"/>
          </a:xfrm>
          <a:prstGeom prst="rect">
            <a:avLst/>
          </a:prstGeom>
          <a:noFill/>
        </p:spPr>
        <p:txBody>
          <a:bodyPr wrap="square" lIns="0" tIns="0" rIns="0" bIns="0" rtlCol="0" anchor="ctr"/>
          <a:lstStyle/>
          <a:p>
            <a:pPr marL="0" indent="0">
              <a:buNone/>
            </a:pPr>
            <a:r>
              <a:rPr lang="en-US" sz="2000" b="1" dirty="0">
                <a:solidFill>
                  <a:srgbClr val="2BB673"/>
                </a:solidFill>
                <a:latin typeface="Aptos Display" pitchFamily="34" charset="0"/>
                <a:ea typeface="Aptos Display" pitchFamily="34" charset="-122"/>
                <a:cs typeface="Aptos Display" pitchFamily="34" charset="-120"/>
              </a:rPr>
              <a:t>Remote estimator</a:t>
            </a:r>
          </a:p>
        </p:txBody>
      </p:sp>
      <p:sp>
        <p:nvSpPr>
          <p:cNvPr id="18" name="Text 16"/>
          <p:cNvSpPr/>
          <p:nvPr/>
        </p:nvSpPr>
        <p:spPr>
          <a:xfrm>
            <a:off x="8916670" y="1883410"/>
            <a:ext cx="2919730" cy="43878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piecewise-constant estimate</a:t>
            </a:r>
          </a:p>
        </p:txBody>
      </p:sp>
      <p:sp>
        <p:nvSpPr>
          <p:cNvPr id="19" name="Shape 17"/>
          <p:cNvSpPr/>
          <p:nvPr/>
        </p:nvSpPr>
        <p:spPr>
          <a:xfrm>
            <a:off x="2835910" y="2679065"/>
            <a:ext cx="6081395" cy="210185"/>
          </a:xfrm>
          <a:prstGeom prst="leftArrow">
            <a:avLst/>
          </a:prstGeom>
          <a:solidFill>
            <a:srgbClr val="DCE4EF"/>
          </a:solidFill>
          <a:ln w="12700">
            <a:solidFill>
              <a:srgbClr val="DCE4EF"/>
            </a:solidFill>
            <a:prstDash val="solid"/>
          </a:ln>
        </p:spPr>
        <p:txBody>
          <a:bodyPr/>
          <a:lstStyle/>
          <a:p>
            <a:endParaRPr lang="en-CN"/>
          </a:p>
        </p:txBody>
      </p:sp>
      <p:sp>
        <p:nvSpPr>
          <p:cNvPr id="20" name="Text 18"/>
          <p:cNvSpPr/>
          <p:nvPr/>
        </p:nvSpPr>
        <p:spPr>
          <a:xfrm>
            <a:off x="3463290" y="2752725"/>
            <a:ext cx="4749800" cy="379095"/>
          </a:xfrm>
          <a:prstGeom prst="rect">
            <a:avLst/>
          </a:prstGeom>
          <a:noFill/>
        </p:spPr>
        <p:txBody>
          <a:bodyPr wrap="square" lIns="0" tIns="0" rIns="0" bIns="0" rtlCol="0" anchor="ctr"/>
          <a:lstStyle/>
          <a:p>
            <a:pPr marL="0" indent="0" algn="ctr">
              <a:buNone/>
            </a:pPr>
            <a:r>
              <a:rPr lang="en-US" dirty="0">
                <a:solidFill>
                  <a:srgbClr val="58616D"/>
                </a:solidFill>
                <a:latin typeface="Aptos" pitchFamily="34" charset="0"/>
                <a:ea typeface="Aptos" pitchFamily="34" charset="-122"/>
                <a:cs typeface="Aptos" pitchFamily="34" charset="-120"/>
              </a:rPr>
              <a:t>ACK / NACK feedback before the next attempt</a:t>
            </a:r>
            <a:endParaRPr lang="en-US" dirty="0"/>
          </a:p>
        </p:txBody>
      </p:sp>
      <p:sp>
        <p:nvSpPr>
          <p:cNvPr id="21" name="Text 19"/>
          <p:cNvSpPr/>
          <p:nvPr/>
        </p:nvSpPr>
        <p:spPr>
          <a:xfrm>
            <a:off x="259080" y="3300730"/>
            <a:ext cx="4648200" cy="481330"/>
          </a:xfrm>
          <a:prstGeom prst="rect">
            <a:avLst/>
          </a:prstGeom>
          <a:noFill/>
        </p:spPr>
        <p:txBody>
          <a:bodyPr wrap="square" lIns="635" tIns="635" rIns="635" bIns="635" rtlCol="0" anchor="ctr">
            <a:noAutofit/>
          </a:bodyPr>
          <a:lstStyle/>
          <a:p>
            <a:r>
              <a:rPr lang="en-US" dirty="0">
                <a:solidFill>
                  <a:srgbClr val="111827"/>
                </a:solidFill>
                <a:latin typeface="Aptos" pitchFamily="34" charset="0"/>
                <a:ea typeface="Aptos" pitchFamily="34" charset="-122"/>
                <a:cs typeface="Aptos" pitchFamily="34" charset="-120"/>
              </a:rPr>
              <a:t>Source: One-dimensional Wiener process W_t</a:t>
            </a:r>
          </a:p>
        </p:txBody>
      </p:sp>
      <p:sp>
        <p:nvSpPr>
          <p:cNvPr id="22" name="Shape 20"/>
          <p:cNvSpPr/>
          <p:nvPr/>
        </p:nvSpPr>
        <p:spPr>
          <a:xfrm>
            <a:off x="303530" y="4299585"/>
            <a:ext cx="3557270" cy="1005840"/>
          </a:xfrm>
          <a:prstGeom prst="roundRect">
            <a:avLst>
              <a:gd name="adj" fmla="val 5455"/>
            </a:avLst>
          </a:prstGeom>
          <a:solidFill>
            <a:srgbClr val="F4F8FF"/>
          </a:solidFill>
          <a:ln w="12700">
            <a:solidFill>
              <a:srgbClr val="D8E6FA"/>
            </a:solidFill>
            <a:prstDash val="solid"/>
          </a:ln>
        </p:spPr>
        <p:txBody>
          <a:bodyPr/>
          <a:lstStyle/>
          <a:p>
            <a:endParaRPr lang="en-CN"/>
          </a:p>
        </p:txBody>
      </p:sp>
      <p:sp>
        <p:nvSpPr>
          <p:cNvPr id="23" name="Text 21"/>
          <p:cNvSpPr/>
          <p:nvPr/>
        </p:nvSpPr>
        <p:spPr>
          <a:xfrm>
            <a:off x="468122" y="4427601"/>
            <a:ext cx="2825496" cy="256032"/>
          </a:xfrm>
          <a:prstGeom prst="rect">
            <a:avLst/>
          </a:prstGeom>
          <a:noFill/>
        </p:spPr>
        <p:txBody>
          <a:bodyPr wrap="square" lIns="0" tIns="0" rIns="0" bIns="0" rtlCol="0" anchor="ctr"/>
          <a:lstStyle/>
          <a:p>
            <a:pPr marL="0" indent="0">
              <a:buNone/>
            </a:pPr>
            <a:r>
              <a:rPr lang="en-US" sz="2400" b="1" dirty="0">
                <a:solidFill>
                  <a:srgbClr val="1E63B5"/>
                </a:solidFill>
                <a:latin typeface="Aptos Display" pitchFamily="34" charset="0"/>
                <a:ea typeface="Aptos Display" pitchFamily="34" charset="-122"/>
                <a:cs typeface="Aptos Display" pitchFamily="34" charset="-120"/>
              </a:rPr>
              <a:t>Objective</a:t>
            </a:r>
            <a:endParaRPr lang="en-US" sz="2400" dirty="0"/>
          </a:p>
        </p:txBody>
      </p:sp>
      <p:sp>
        <p:nvSpPr>
          <p:cNvPr id="24" name="Text 22"/>
          <p:cNvSpPr/>
          <p:nvPr/>
        </p:nvSpPr>
        <p:spPr>
          <a:xfrm>
            <a:off x="468122" y="4765929"/>
            <a:ext cx="2825496" cy="438912"/>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minimize time-average MSE</a:t>
            </a:r>
            <a:endParaRPr lang="en-US" dirty="0"/>
          </a:p>
        </p:txBody>
      </p:sp>
      <p:sp>
        <p:nvSpPr>
          <p:cNvPr id="25" name="Shape 23"/>
          <p:cNvSpPr/>
          <p:nvPr/>
        </p:nvSpPr>
        <p:spPr>
          <a:xfrm>
            <a:off x="6382385" y="4300855"/>
            <a:ext cx="3557270" cy="1005840"/>
          </a:xfrm>
          <a:prstGeom prst="roundRect">
            <a:avLst>
              <a:gd name="adj" fmla="val 5455"/>
            </a:avLst>
          </a:prstGeom>
          <a:solidFill>
            <a:srgbClr val="FFF4F5"/>
          </a:solidFill>
          <a:ln w="12700">
            <a:solidFill>
              <a:srgbClr val="FFD8DD"/>
            </a:solidFill>
            <a:prstDash val="solid"/>
          </a:ln>
        </p:spPr>
        <p:txBody>
          <a:bodyPr/>
          <a:lstStyle/>
          <a:p>
            <a:endParaRPr lang="en-CN"/>
          </a:p>
        </p:txBody>
      </p:sp>
      <p:sp>
        <p:nvSpPr>
          <p:cNvPr id="26" name="Text 24"/>
          <p:cNvSpPr/>
          <p:nvPr/>
        </p:nvSpPr>
        <p:spPr>
          <a:xfrm>
            <a:off x="6546977" y="4428871"/>
            <a:ext cx="2825496" cy="256032"/>
          </a:xfrm>
          <a:prstGeom prst="rect">
            <a:avLst/>
          </a:prstGeom>
          <a:noFill/>
        </p:spPr>
        <p:txBody>
          <a:bodyPr wrap="square" lIns="0" tIns="0" rIns="0" bIns="0" rtlCol="0" anchor="ctr"/>
          <a:lstStyle/>
          <a:p>
            <a:pPr marL="0" indent="0">
              <a:buNone/>
            </a:pPr>
            <a:r>
              <a:rPr lang="en-US" sz="2400" b="1" dirty="0">
                <a:solidFill>
                  <a:srgbClr val="C83F49"/>
                </a:solidFill>
                <a:latin typeface="Aptos Display" pitchFamily="34" charset="0"/>
                <a:ea typeface="Aptos Display" pitchFamily="34" charset="-122"/>
                <a:cs typeface="Aptos Display" pitchFamily="34" charset="-120"/>
              </a:rPr>
              <a:t>Constraint</a:t>
            </a:r>
            <a:endParaRPr lang="en-US" sz="2400" dirty="0"/>
          </a:p>
        </p:txBody>
      </p:sp>
      <mc:AlternateContent xmlns:mc="http://schemas.openxmlformats.org/markup-compatibility/2006" xmlns:a14="http://schemas.microsoft.com/office/drawing/2010/main">
        <mc:Choice Requires="a14">
          <p:sp>
            <p:nvSpPr>
              <p:cNvPr id="27" name="Text 25"/>
              <p:cNvSpPr/>
              <p:nvPr/>
            </p:nvSpPr>
            <p:spPr>
              <a:xfrm>
                <a:off x="6546850" y="4766945"/>
                <a:ext cx="3282315" cy="43878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average sampling rate ≤ </a:t>
                </a:r>
                <a14:m>
                  <m:oMath xmlns:m="http://schemas.openxmlformats.org/officeDocument/2006/math">
                    <m:sSub>
                      <m:sSubPr>
                        <m:ctrlPr>
                          <a:rPr lang="en-US" i="1" dirty="0">
                            <a:solidFill>
                              <a:srgbClr val="111827"/>
                            </a:solidFill>
                            <a:latin typeface="Cambria Math" panose="02040503050406030204" pitchFamily="18" charset="0"/>
                            <a:ea typeface="Aptos" pitchFamily="34" charset="-122"/>
                            <a:cs typeface="Cambria Math" panose="02040503050406030204" charset="0"/>
                          </a:rPr>
                        </m:ctrlPr>
                      </m:sSubPr>
                      <m:e>
                        <m:r>
                          <a:rPr lang="en-US" i="1" dirty="0">
                            <a:solidFill>
                              <a:srgbClr val="111827"/>
                            </a:solidFill>
                            <a:latin typeface="Cambria Math" panose="02040503050406030204" charset="0"/>
                            <a:ea typeface="Aptos" pitchFamily="34" charset="-122"/>
                            <a:cs typeface="Cambria Math" panose="02040503050406030204" charset="0"/>
                          </a:rPr>
                          <m:t>𝑓</m:t>
                        </m:r>
                      </m:e>
                      <m:sub>
                        <m:r>
                          <a:rPr lang="en-US" i="1" dirty="0">
                            <a:solidFill>
                              <a:srgbClr val="111827"/>
                            </a:solidFill>
                            <a:latin typeface="Cambria Math" panose="02040503050406030204" charset="0"/>
                            <a:ea typeface="Aptos" pitchFamily="34" charset="-122"/>
                            <a:cs typeface="Cambria Math" panose="02040503050406030204" charset="0"/>
                          </a:rPr>
                          <m:t>𝑚𝑎𝑥</m:t>
                        </m:r>
                      </m:sub>
                    </m:sSub>
                  </m:oMath>
                </a14:m>
                <a:endParaRPr lang="en-US" i="1" dirty="0">
                  <a:solidFill>
                    <a:srgbClr val="111827"/>
                  </a:solidFill>
                  <a:latin typeface="Cambria Math" panose="02040503050406030204" charset="0"/>
                  <a:ea typeface="Aptos" pitchFamily="34" charset="-122"/>
                  <a:cs typeface="Cambria Math" panose="02040503050406030204" charset="0"/>
                </a:endParaRPr>
              </a:p>
            </p:txBody>
          </p:sp>
        </mc:Choice>
        <mc:Fallback xmlns="">
          <p:sp>
            <p:nvSpPr>
              <p:cNvPr id="27" name="Text 25"/>
              <p:cNvSpPr>
                <a:spLocks noRot="1" noChangeAspect="1" noMove="1" noResize="1" noEditPoints="1" noAdjustHandles="1" noChangeArrowheads="1" noChangeShapeType="1" noTextEdit="1"/>
              </p:cNvSpPr>
              <p:nvPr/>
            </p:nvSpPr>
            <p:spPr>
              <a:xfrm>
                <a:off x="6546850" y="4766945"/>
                <a:ext cx="3282315" cy="438785"/>
              </a:xfrm>
              <a:prstGeom prst="rect">
                <a:avLst/>
              </a:prstGeom>
              <a:blipFill rotWithShape="1">
                <a:blip r:embed="rId5"/>
                <a:stretch>
                  <a:fillRect/>
                </a:stretch>
              </a:blipFill>
            </p:spPr>
            <p:txBody>
              <a:bodyPr/>
              <a:lstStyle/>
              <a:p>
                <a:r>
                  <a:rPr lang="zh-CN" altLang="en-US">
                    <a:noFill/>
                  </a:rPr>
                  <a:t> </a:t>
                </a:r>
              </a:p>
            </p:txBody>
          </p:sp>
        </mc:Fallback>
      </mc:AlternateContent>
      <p:sp>
        <p:nvSpPr>
          <p:cNvPr id="29" name="Text 27"/>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4</a:t>
            </a:r>
            <a:endParaRPr lang="en-US" sz="880" dirty="0"/>
          </a:p>
        </p:txBody>
      </p:sp>
      <p:sp>
        <p:nvSpPr>
          <p:cNvPr id="30" name="文本框 29"/>
          <p:cNvSpPr txBox="1"/>
          <p:nvPr/>
        </p:nvSpPr>
        <p:spPr>
          <a:xfrm>
            <a:off x="154305" y="3766820"/>
            <a:ext cx="8434705" cy="645160"/>
          </a:xfrm>
          <a:prstGeom prst="rect">
            <a:avLst/>
          </a:prstGeom>
          <a:noFill/>
        </p:spPr>
        <p:txBody>
          <a:bodyPr wrap="square" rtlCol="0">
            <a:spAutoFit/>
          </a:bodyPr>
          <a:lstStyle/>
          <a:p>
            <a:r>
              <a:rPr lang="en-US" dirty="0">
                <a:solidFill>
                  <a:srgbClr val="111827"/>
                </a:solidFill>
                <a:latin typeface="Aptos" pitchFamily="34" charset="0"/>
                <a:ea typeface="Aptos" pitchFamily="34" charset="-122"/>
                <a:cs typeface="Aptos" pitchFamily="34" charset="-120"/>
                <a:sym typeface="+mn-ea"/>
              </a:rPr>
              <a:t>Goal: minimize long-term average MSE under a sampling-frequency constraint</a:t>
            </a:r>
            <a:endParaRPr lang="en-US" dirty="0">
              <a:solidFill>
                <a:srgbClr val="111827"/>
              </a:solidFill>
              <a:latin typeface="Aptos" pitchFamily="34" charset="0"/>
              <a:ea typeface="Aptos" pitchFamily="34" charset="-122"/>
              <a:cs typeface="Aptos" pitchFamily="34" charset="-120"/>
            </a:endParaRPr>
          </a:p>
          <a:p>
            <a:endParaRPr lang="zh-CN" altLang="en-US"/>
          </a:p>
        </p:txBody>
      </p:sp>
      <p:pic>
        <p:nvPicPr>
          <p:cNvPr id="31" name="图片 30"/>
          <p:cNvPicPr>
            <a:picLocks noChangeAspect="1"/>
          </p:cNvPicPr>
          <p:nvPr/>
        </p:nvPicPr>
        <p:blipFill>
          <a:blip r:embed="rId6"/>
          <a:stretch>
            <a:fillRect/>
          </a:stretch>
        </p:blipFill>
        <p:spPr>
          <a:xfrm>
            <a:off x="303530" y="5467985"/>
            <a:ext cx="5772150" cy="923925"/>
          </a:xfrm>
          <a:prstGeom prst="rect">
            <a:avLst/>
          </a:prstGeom>
        </p:spPr>
      </p:pic>
      <p:pic>
        <p:nvPicPr>
          <p:cNvPr id="32" name="图片 31"/>
          <p:cNvPicPr>
            <a:picLocks noChangeAspect="1"/>
          </p:cNvPicPr>
          <p:nvPr/>
        </p:nvPicPr>
        <p:blipFill>
          <a:blip r:embed="rId7"/>
          <a:stretch>
            <a:fillRect/>
          </a:stretch>
        </p:blipFill>
        <p:spPr>
          <a:xfrm>
            <a:off x="6382385" y="5467985"/>
            <a:ext cx="3086100" cy="7143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9839-7DCC-ABD0-C284-C0F75E50EF31}"/>
            </a:ext>
          </a:extLst>
        </p:cNvPr>
        <p:cNvGrpSpPr/>
        <p:nvPr/>
      </p:nvGrpSpPr>
      <p:grpSpPr>
        <a:xfrm>
          <a:off x="0" y="0"/>
          <a:ext cx="0" cy="0"/>
          <a:chOff x="0" y="0"/>
          <a:chExt cx="0" cy="0"/>
        </a:xfrm>
      </p:grpSpPr>
      <p:sp>
        <p:nvSpPr>
          <p:cNvPr id="3" name="Shape 1">
            <a:extLst>
              <a:ext uri="{FF2B5EF4-FFF2-40B4-BE49-F238E27FC236}">
                <a16:creationId xmlns:a16="http://schemas.microsoft.com/office/drawing/2014/main" id="{14D0EEE7-CBF8-2267-0C56-CAB787F83471}"/>
              </a:ext>
            </a:extLst>
          </p:cNvPr>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a:extLst>
              <a:ext uri="{FF2B5EF4-FFF2-40B4-BE49-F238E27FC236}">
                <a16:creationId xmlns:a16="http://schemas.microsoft.com/office/drawing/2014/main" id="{1253A684-883C-4F0A-3419-3B96F9917167}"/>
              </a:ext>
            </a:extLst>
          </p:cNvPr>
          <p:cNvSpPr/>
          <p:nvPr/>
        </p:nvSpPr>
        <p:spPr>
          <a:xfrm>
            <a:off x="566928" y="384048"/>
            <a:ext cx="10725912"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Optimal Offline Sampling Policy: Simple and Threshold-based  </a:t>
            </a:r>
          </a:p>
        </p:txBody>
      </p:sp>
      <p:sp>
        <p:nvSpPr>
          <p:cNvPr id="29" name="Text 27">
            <a:extLst>
              <a:ext uri="{FF2B5EF4-FFF2-40B4-BE49-F238E27FC236}">
                <a16:creationId xmlns:a16="http://schemas.microsoft.com/office/drawing/2014/main" id="{66385DC2-17ED-C311-9928-86598A29E577}"/>
              </a:ext>
            </a:extLst>
          </p:cNvPr>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4</a:t>
            </a:r>
            <a:endParaRPr lang="en-US" sz="880" dirty="0"/>
          </a:p>
        </p:txBody>
      </p:sp>
      <p:sp>
        <p:nvSpPr>
          <p:cNvPr id="2" name="Rounded Rectangle 1">
            <a:extLst>
              <a:ext uri="{FF2B5EF4-FFF2-40B4-BE49-F238E27FC236}">
                <a16:creationId xmlns:a16="http://schemas.microsoft.com/office/drawing/2014/main" id="{3E305D22-1414-D46C-A65C-1762084AEDBE}"/>
              </a:ext>
            </a:extLst>
          </p:cNvPr>
          <p:cNvSpPr/>
          <p:nvPr/>
        </p:nvSpPr>
        <p:spPr>
          <a:xfrm>
            <a:off x="1650170" y="1056695"/>
            <a:ext cx="8839200" cy="2047633"/>
          </a:xfrm>
          <a:prstGeom prst="roundRect">
            <a:avLst>
              <a:gd name="adj" fmla="val 280"/>
            </a:avLst>
          </a:prstGeom>
          <a:solidFill>
            <a:schemeClr val="tx2">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2000" b="1" dirty="0">
                <a:solidFill>
                  <a:schemeClr val="tx1"/>
                </a:solidFill>
              </a:rPr>
              <a:t>Theorem</a:t>
            </a:r>
            <a:r>
              <a:rPr lang="zh-CN" altLang="en-US" sz="2000" b="1" dirty="0">
                <a:solidFill>
                  <a:schemeClr val="tx1"/>
                </a:solidFill>
              </a:rPr>
              <a:t> </a:t>
            </a:r>
            <a:r>
              <a:rPr lang="en-US" altLang="zh-CN" sz="2000" b="1" dirty="0">
                <a:solidFill>
                  <a:schemeClr val="tx1"/>
                </a:solidFill>
              </a:rPr>
              <a:t>1:</a:t>
            </a:r>
            <a:r>
              <a:rPr lang="zh-CN" altLang="en-US" sz="2000" b="1" dirty="0">
                <a:solidFill>
                  <a:schemeClr val="tx1"/>
                </a:solidFill>
              </a:rPr>
              <a:t> </a:t>
            </a:r>
            <a:r>
              <a:rPr lang="en-US" altLang="zh-CN" sz="2000" b="1" dirty="0">
                <a:solidFill>
                  <a:schemeClr val="tx1"/>
                </a:solidFill>
              </a:rPr>
              <a:t>When the channel statistics are known (Offline), an optimal sampling policy is given by</a:t>
            </a:r>
          </a:p>
          <a:p>
            <a:endParaRPr lang="en-US" altLang="zh-CN" sz="2000" b="1" dirty="0">
              <a:solidFill>
                <a:schemeClr val="tx1"/>
              </a:solidFill>
            </a:endParaRPr>
          </a:p>
          <a:p>
            <a:endParaRPr lang="en-US" altLang="zh-CN" sz="2000" b="1" dirty="0">
              <a:solidFill>
                <a:schemeClr val="tx1"/>
              </a:solidFill>
            </a:endParaRPr>
          </a:p>
          <a:p>
            <a:endParaRPr lang="en-US" altLang="zh-CN" sz="2000" b="1" dirty="0">
              <a:solidFill>
                <a:schemeClr val="tx1"/>
              </a:solidFill>
            </a:endParaRPr>
          </a:p>
          <a:p>
            <a:endParaRPr lang="en-US" altLang="zh-CN" b="1" dirty="0">
              <a:solidFill>
                <a:schemeClr val="tx1"/>
              </a:solidFill>
            </a:endParaRPr>
          </a:p>
          <a:p>
            <a:r>
              <a:rPr lang="en-US" altLang="zh-CN" b="1" dirty="0">
                <a:solidFill>
                  <a:schemeClr val="tx1"/>
                </a:solidFill>
              </a:rPr>
              <a:t>          </a:t>
            </a:r>
          </a:p>
        </p:txBody>
      </p:sp>
      <p:sp>
        <p:nvSpPr>
          <p:cNvPr id="4" name="Content Placeholder 2">
            <a:extLst>
              <a:ext uri="{FF2B5EF4-FFF2-40B4-BE49-F238E27FC236}">
                <a16:creationId xmlns:a16="http://schemas.microsoft.com/office/drawing/2014/main" id="{13273BE0-AAF3-4128-1B1E-5C78DAEEBF94}"/>
              </a:ext>
            </a:extLst>
          </p:cNvPr>
          <p:cNvSpPr txBox="1">
            <a:spLocks/>
          </p:cNvSpPr>
          <p:nvPr/>
        </p:nvSpPr>
        <p:spPr bwMode="auto">
          <a:xfrm>
            <a:off x="1650170" y="3306317"/>
            <a:ext cx="10030024" cy="244424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00050" marR="0" indent="-400050" algn="l" defTabSz="914400" rtl="0" eaLnBrk="0" fontAlgn="base" latinLnBrk="0" hangingPunct="0">
              <a:lnSpc>
                <a:spcPct val="100000"/>
              </a:lnSpc>
              <a:spcBef>
                <a:spcPts val="575"/>
              </a:spcBef>
              <a:spcAft>
                <a:spcPct val="0"/>
              </a:spcAft>
              <a:buClr>
                <a:srgbClr val="4F81BD"/>
              </a:buClr>
              <a:buSzPct val="120000"/>
              <a:buFont typeface="Wingdings 2" pitchFamily="18" charset="2"/>
              <a:buChar char=""/>
              <a:tabLst/>
              <a:defRPr sz="2600" kern="1200">
                <a:solidFill>
                  <a:schemeClr val="tx1"/>
                </a:solidFill>
                <a:latin typeface="+mn-lt"/>
                <a:ea typeface="ＭＳ Ｐゴシック" pitchFamily="-111" charset="-128"/>
                <a:cs typeface="ＭＳ Ｐゴシック" pitchFamily="-111" charset="-128"/>
              </a:defRPr>
            </a:lvl1pPr>
            <a:lvl2pPr marL="685800" marR="0" indent="-366713" algn="l" defTabSz="914400" rtl="0" eaLnBrk="0" fontAlgn="base" latinLnBrk="0" hangingPunct="0">
              <a:lnSpc>
                <a:spcPct val="100000"/>
              </a:lnSpc>
              <a:spcBef>
                <a:spcPts val="375"/>
              </a:spcBef>
              <a:spcAft>
                <a:spcPct val="0"/>
              </a:spcAft>
              <a:buClr>
                <a:srgbClr val="C0504D"/>
              </a:buClr>
              <a:buSzPct val="120000"/>
              <a:buFont typeface="Wingdings 2" pitchFamily="18" charset="2"/>
              <a:buChar char=""/>
              <a:tabLst/>
              <a:defRPr sz="2400" kern="1200">
                <a:solidFill>
                  <a:schemeClr val="tx1"/>
                </a:solidFill>
                <a:latin typeface="+mn-lt"/>
                <a:ea typeface="ＭＳ Ｐゴシック" pitchFamily="-105" charset="-128"/>
                <a:cs typeface="+mn-cs"/>
              </a:defRPr>
            </a:lvl2pPr>
            <a:lvl3pPr marL="1028700" marR="0" indent="-434975" algn="l" defTabSz="914400" rtl="0" eaLnBrk="0" fontAlgn="base" latinLnBrk="0" hangingPunct="0">
              <a:lnSpc>
                <a:spcPct val="100000"/>
              </a:lnSpc>
              <a:spcBef>
                <a:spcPts val="375"/>
              </a:spcBef>
              <a:spcAft>
                <a:spcPct val="0"/>
              </a:spcAft>
              <a:buClr>
                <a:srgbClr val="C1D0FF"/>
              </a:buClr>
              <a:buSzPct val="85000"/>
              <a:buFont typeface="Wingdings 2" pitchFamily="18" charset="2"/>
              <a:buChar char=""/>
              <a:tabLst/>
              <a:defRPr sz="2000" kern="1200">
                <a:solidFill>
                  <a:schemeClr val="tx1"/>
                </a:solidFill>
                <a:latin typeface="+mn-lt"/>
                <a:ea typeface="ＭＳ Ｐゴシック" pitchFamily="-105" charset="-128"/>
                <a:cs typeface="+mn-cs"/>
              </a:defRPr>
            </a:lvl3pPr>
            <a:lvl4pPr marL="1096963" marR="0" indent="-228600" algn="l" defTabSz="914400" rtl="0" eaLnBrk="0" fontAlgn="base" latinLnBrk="0" hangingPunct="0">
              <a:lnSpc>
                <a:spcPct val="100000"/>
              </a:lnSpc>
              <a:spcBef>
                <a:spcPts val="375"/>
              </a:spcBef>
              <a:spcAft>
                <a:spcPct val="0"/>
              </a:spcAft>
              <a:buClr>
                <a:srgbClr val="9BBB59"/>
              </a:buClr>
              <a:buSzPct val="85000"/>
              <a:buFont typeface="Wingdings 2" pitchFamily="18" charset="2"/>
              <a:buChar char=""/>
              <a:tabLst/>
              <a:defRPr sz="2000" kern="1200">
                <a:solidFill>
                  <a:schemeClr val="tx1"/>
                </a:solidFill>
                <a:latin typeface="+mn-lt"/>
                <a:ea typeface="ＭＳ Ｐゴシック" pitchFamily="-105" charset="-128"/>
                <a:cs typeface="+mn-cs"/>
              </a:defRPr>
            </a:lvl4pPr>
            <a:lvl5pPr marL="1371600" marR="0" indent="-228600" algn="l" defTabSz="914400" rtl="0" eaLnBrk="0" fontAlgn="base" latinLnBrk="0" hangingPunct="0">
              <a:lnSpc>
                <a:spcPct val="100000"/>
              </a:lnSpc>
              <a:spcBef>
                <a:spcPts val="375"/>
              </a:spcBef>
              <a:spcAft>
                <a:spcPct val="0"/>
              </a:spcAft>
              <a:buClr>
                <a:srgbClr val="9BBB59"/>
              </a:buClr>
              <a:buSzPct val="85000"/>
              <a:buFontTx/>
              <a:buChar char="o"/>
              <a:tabLst/>
              <a:defRPr sz="2000" kern="1200">
                <a:solidFill>
                  <a:schemeClr val="tx1"/>
                </a:solidFill>
                <a:latin typeface="+mn-lt"/>
                <a:ea typeface="ＭＳ Ｐゴシック" pitchFamily="-105" charset="-128"/>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r>
              <a:rPr lang="en-US" altLang="zh-CN" sz="2200" dirty="0"/>
              <a:t>A simple solution from a complex problem</a:t>
            </a:r>
          </a:p>
          <a:p>
            <a:r>
              <a:rPr lang="en-US" altLang="zh-CN" sz="2200" dirty="0"/>
              <a:t>Each sampling time is “homogeneous”</a:t>
            </a:r>
          </a:p>
          <a:p>
            <a:pPr lvl="1"/>
            <a:r>
              <a:rPr lang="en-US" altLang="zh-CN" sz="2000" dirty="0"/>
              <a:t>Takes the sample when the instantaneous estimation error exceeds the threshold </a:t>
            </a:r>
            <a:endParaRPr lang="en-US" altLang="zh-CN" sz="2000" b="1" dirty="0"/>
          </a:p>
          <a:p>
            <a:pPr lvl="1"/>
            <a:r>
              <a:rPr lang="en-US" altLang="zh-CN" sz="2000" dirty="0"/>
              <a:t>The optimal threshold remains constant, independent of </a:t>
            </a:r>
          </a:p>
          <a:p>
            <a:pPr lvl="2"/>
            <a:r>
              <a:rPr lang="en-US" altLang="zh-CN" sz="1800" dirty="0"/>
              <a:t>Estimation error of the instant the sampler receives the feedback </a:t>
            </a:r>
          </a:p>
          <a:p>
            <a:pPr lvl="2"/>
            <a:r>
              <a:rPr lang="en-US" altLang="zh-CN" sz="1800" dirty="0"/>
              <a:t>Feedback of the last transmission (success or fail)</a:t>
            </a:r>
          </a:p>
          <a:p>
            <a:pPr marL="319087" lvl="1" indent="0">
              <a:buNone/>
            </a:pPr>
            <a:endParaRPr lang="en-US" altLang="zh-CN" sz="2200" dirty="0"/>
          </a:p>
          <a:p>
            <a:pPr marL="319087" lvl="1" indent="0">
              <a:buNone/>
            </a:pPr>
            <a:endParaRPr lang="en-US" sz="2200" dirty="0"/>
          </a:p>
        </p:txBody>
      </p:sp>
      <p:sp>
        <p:nvSpPr>
          <p:cNvPr id="5" name="TextBox 4">
            <a:extLst>
              <a:ext uri="{FF2B5EF4-FFF2-40B4-BE49-F238E27FC236}">
                <a16:creationId xmlns:a16="http://schemas.microsoft.com/office/drawing/2014/main" id="{3DC7D26B-6305-38B3-42B4-C3A71A50B429}"/>
              </a:ext>
            </a:extLst>
          </p:cNvPr>
          <p:cNvSpPr txBox="1"/>
          <p:nvPr/>
        </p:nvSpPr>
        <p:spPr>
          <a:xfrm>
            <a:off x="7234481" y="2345152"/>
            <a:ext cx="2190987" cy="646331"/>
          </a:xfrm>
          <a:prstGeom prst="rect">
            <a:avLst/>
          </a:prstGeom>
          <a:noFill/>
        </p:spPr>
        <p:txBody>
          <a:bodyPr wrap="square" rtlCol="0">
            <a:spAutoFit/>
          </a:bodyPr>
          <a:lstStyle/>
          <a:p>
            <a:pPr algn="ctr"/>
            <a:r>
              <a:rPr lang="en-US" dirty="0">
                <a:solidFill>
                  <a:srgbClr val="C00000"/>
                </a:solidFill>
              </a:rPr>
              <a:t>Optimal threshold</a:t>
            </a:r>
          </a:p>
          <a:p>
            <a:pPr algn="ctr"/>
            <a:r>
              <a:rPr lang="en-US" dirty="0">
                <a:solidFill>
                  <a:srgbClr val="C00000"/>
                </a:solidFill>
              </a:rPr>
              <a:t>Easy to compute</a:t>
            </a:r>
          </a:p>
        </p:txBody>
      </p:sp>
      <p:cxnSp>
        <p:nvCxnSpPr>
          <p:cNvPr id="28" name="Straight Arrow Connector 27">
            <a:extLst>
              <a:ext uri="{FF2B5EF4-FFF2-40B4-BE49-F238E27FC236}">
                <a16:creationId xmlns:a16="http://schemas.microsoft.com/office/drawing/2014/main" id="{E6AD755F-4F1D-F5A5-2509-3CEDABEADAE7}"/>
              </a:ext>
            </a:extLst>
          </p:cNvPr>
          <p:cNvCxnSpPr>
            <a:cxnSpLocks/>
          </p:cNvCxnSpPr>
          <p:nvPr/>
        </p:nvCxnSpPr>
        <p:spPr>
          <a:xfrm>
            <a:off x="6954989" y="2252319"/>
            <a:ext cx="484036" cy="311494"/>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pic>
        <p:nvPicPr>
          <p:cNvPr id="33" name="图片 26" descr="latex-image-1.pdf">
            <a:extLst>
              <a:ext uri="{FF2B5EF4-FFF2-40B4-BE49-F238E27FC236}">
                <a16:creationId xmlns:a16="http://schemas.microsoft.com/office/drawing/2014/main" id="{A3CCE3D8-DE14-1F3F-3D58-DD03DE5CF4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5812787" y="1770495"/>
            <a:ext cx="189334" cy="1090616"/>
          </a:xfrm>
          <a:prstGeom prst="rect">
            <a:avLst/>
          </a:prstGeom>
        </p:spPr>
      </p:pic>
      <p:sp>
        <p:nvSpPr>
          <p:cNvPr id="34" name="TextBox 33">
            <a:extLst>
              <a:ext uri="{FF2B5EF4-FFF2-40B4-BE49-F238E27FC236}">
                <a16:creationId xmlns:a16="http://schemas.microsoft.com/office/drawing/2014/main" id="{0096E1FE-AFFC-1655-1ECE-E31E5FB74364}"/>
              </a:ext>
            </a:extLst>
          </p:cNvPr>
          <p:cNvSpPr txBox="1"/>
          <p:nvPr/>
        </p:nvSpPr>
        <p:spPr>
          <a:xfrm>
            <a:off x="5180813" y="2345153"/>
            <a:ext cx="1777923" cy="646331"/>
          </a:xfrm>
          <a:prstGeom prst="rect">
            <a:avLst/>
          </a:prstGeom>
          <a:noFill/>
        </p:spPr>
        <p:txBody>
          <a:bodyPr wrap="none" rtlCol="0">
            <a:spAutoFit/>
          </a:bodyPr>
          <a:lstStyle/>
          <a:p>
            <a:pPr algn="ctr"/>
            <a:r>
              <a:rPr lang="en-US" dirty="0">
                <a:solidFill>
                  <a:srgbClr val="C00000"/>
                </a:solidFill>
              </a:rPr>
              <a:t>(Instantaneous)</a:t>
            </a:r>
          </a:p>
          <a:p>
            <a:pPr algn="ctr"/>
            <a:r>
              <a:rPr lang="en-US" dirty="0">
                <a:solidFill>
                  <a:srgbClr val="C00000"/>
                </a:solidFill>
              </a:rPr>
              <a:t>Estimation error</a:t>
            </a:r>
          </a:p>
        </p:txBody>
      </p:sp>
      <p:pic>
        <p:nvPicPr>
          <p:cNvPr id="35" name="Picture 34">
            <a:extLst>
              <a:ext uri="{FF2B5EF4-FFF2-40B4-BE49-F238E27FC236}">
                <a16:creationId xmlns:a16="http://schemas.microsoft.com/office/drawing/2014/main" id="{EEAEB36A-5D8A-1BAF-B77B-34B71653F36E}"/>
              </a:ext>
            </a:extLst>
          </p:cNvPr>
          <p:cNvPicPr>
            <a:picLocks noChangeAspect="1"/>
          </p:cNvPicPr>
          <p:nvPr/>
        </p:nvPicPr>
        <p:blipFill>
          <a:blip r:embed="rId4"/>
          <a:stretch>
            <a:fillRect/>
          </a:stretch>
        </p:blipFill>
        <p:spPr>
          <a:xfrm>
            <a:off x="2930206" y="1809374"/>
            <a:ext cx="4572000" cy="495300"/>
          </a:xfrm>
          <a:prstGeom prst="rect">
            <a:avLst/>
          </a:prstGeom>
        </p:spPr>
      </p:pic>
      <p:sp>
        <p:nvSpPr>
          <p:cNvPr id="36" name="TextBox 35">
            <a:extLst>
              <a:ext uri="{FF2B5EF4-FFF2-40B4-BE49-F238E27FC236}">
                <a16:creationId xmlns:a16="http://schemas.microsoft.com/office/drawing/2014/main" id="{B47E2263-C430-A518-513F-8A0DAF0ADD5A}"/>
              </a:ext>
            </a:extLst>
          </p:cNvPr>
          <p:cNvSpPr txBox="1"/>
          <p:nvPr/>
        </p:nvSpPr>
        <p:spPr>
          <a:xfrm>
            <a:off x="203200" y="6338351"/>
            <a:ext cx="4320350" cy="307777"/>
          </a:xfrm>
          <a:prstGeom prst="rect">
            <a:avLst/>
          </a:prstGeom>
          <a:noFill/>
        </p:spPr>
        <p:txBody>
          <a:bodyPr wrap="none" rtlCol="0">
            <a:spAutoFit/>
          </a:bodyPr>
          <a:lstStyle/>
          <a:p>
            <a:r>
              <a:rPr lang="en-CN" sz="1400" dirty="0"/>
              <a:t>J. Pan, Y. Sun, and N. B. Shroff,  ACM Sigmetrics, 2024 </a:t>
            </a:r>
          </a:p>
        </p:txBody>
      </p:sp>
      <p:sp>
        <p:nvSpPr>
          <p:cNvPr id="38" name="TextBox 37">
            <a:extLst>
              <a:ext uri="{FF2B5EF4-FFF2-40B4-BE49-F238E27FC236}">
                <a16:creationId xmlns:a16="http://schemas.microsoft.com/office/drawing/2014/main" id="{1CB2DB69-B7D8-0500-03FA-74AA0D2A3A55}"/>
              </a:ext>
            </a:extLst>
          </p:cNvPr>
          <p:cNvSpPr txBox="1"/>
          <p:nvPr/>
        </p:nvSpPr>
        <p:spPr>
          <a:xfrm>
            <a:off x="858952" y="5650757"/>
            <a:ext cx="10421636" cy="369332"/>
          </a:xfrm>
          <a:prstGeom prst="rect">
            <a:avLst/>
          </a:prstGeom>
          <a:noFill/>
        </p:spPr>
        <p:txBody>
          <a:bodyPr wrap="none" rtlCol="0">
            <a:spAutoFit/>
          </a:bodyPr>
          <a:lstStyle/>
          <a:p>
            <a:r>
              <a:rPr lang="en-CN" dirty="0">
                <a:solidFill>
                  <a:srgbClr val="C00000"/>
                </a:solidFill>
              </a:rPr>
              <a:t>However, how to learn the optimal sampling policy when the </a:t>
            </a:r>
            <a:r>
              <a:rPr lang="en-CN" b="1" dirty="0">
                <a:solidFill>
                  <a:srgbClr val="C00000"/>
                </a:solidFill>
              </a:rPr>
              <a:t>channel statistics are unknown (Online)</a:t>
            </a:r>
            <a:r>
              <a:rPr lang="en-CN" dirty="0">
                <a:solidFill>
                  <a:srgbClr val="C00000"/>
                </a:solidFill>
              </a:rPr>
              <a:t>?</a:t>
            </a:r>
          </a:p>
        </p:txBody>
      </p:sp>
    </p:spTree>
    <p:extLst>
      <p:ext uri="{BB962C8B-B14F-4D97-AF65-F5344CB8AC3E}">
        <p14:creationId xmlns:p14="http://schemas.microsoft.com/office/powerpoint/2010/main" val="3743211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4" name="Shape 2"/>
          <p:cNvSpPr/>
          <p:nvPr/>
        </p:nvSpPr>
        <p:spPr>
          <a:xfrm>
            <a:off x="9921240" y="-1143000"/>
            <a:ext cx="3291840" cy="3291840"/>
          </a:xfrm>
          <a:prstGeom prst="arc">
            <a:avLst/>
          </a:prstGeom>
          <a:solidFill>
            <a:srgbClr val="FFFFFF">
              <a:alpha val="0"/>
            </a:srgbClr>
          </a:solidFill>
          <a:ln w="25400">
            <a:solidFill>
              <a:srgbClr val="EAF2FF">
                <a:alpha val="50000"/>
              </a:srgbClr>
            </a:solidFill>
            <a:prstDash val="solid"/>
          </a:ln>
        </p:spPr>
        <p:txBody>
          <a:bodyPr/>
          <a:lstStyle/>
          <a:p>
            <a:endParaRPr lang="en-CN"/>
          </a:p>
        </p:txBody>
      </p:sp>
      <p:sp>
        <p:nvSpPr>
          <p:cNvPr id="5" name="Shape 3"/>
          <p:cNvSpPr/>
          <p:nvPr/>
        </p:nvSpPr>
        <p:spPr>
          <a:xfrm>
            <a:off x="10405872" y="-640080"/>
            <a:ext cx="2103120" cy="2103120"/>
          </a:xfrm>
          <a:prstGeom prst="arc">
            <a:avLst/>
          </a:prstGeom>
          <a:solidFill>
            <a:srgbClr val="FFFFFF">
              <a:alpha val="0"/>
            </a:srgbClr>
          </a:solidFill>
          <a:ln w="15240">
            <a:solidFill>
              <a:srgbClr val="EAF2FF">
                <a:alpha val="65000"/>
              </a:srgbClr>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The Online Problem is Hard</a:t>
            </a:r>
          </a:p>
        </p:txBody>
      </p:sp>
      <p:sp>
        <p:nvSpPr>
          <p:cNvPr id="8" name="Shape 6"/>
          <p:cNvSpPr/>
          <p:nvPr>
            <p:custDataLst>
              <p:tags r:id="rId1"/>
            </p:custDataLst>
          </p:nvPr>
        </p:nvSpPr>
        <p:spPr>
          <a:xfrm>
            <a:off x="731520" y="1417320"/>
            <a:ext cx="4800600" cy="1115568"/>
          </a:xfrm>
          <a:prstGeom prst="roundRect">
            <a:avLst>
              <a:gd name="adj" fmla="val 4918"/>
            </a:avLst>
          </a:prstGeom>
          <a:solidFill>
            <a:srgbClr val="F4F8FF"/>
          </a:solidFill>
          <a:ln w="12700">
            <a:solidFill>
              <a:srgbClr val="D8E6FA"/>
            </a:solidFill>
            <a:prstDash val="solid"/>
          </a:ln>
        </p:spPr>
        <p:txBody>
          <a:bodyPr/>
          <a:lstStyle/>
          <a:p>
            <a:endParaRPr lang="en-CN"/>
          </a:p>
        </p:txBody>
      </p:sp>
      <p:sp>
        <p:nvSpPr>
          <p:cNvPr id="9" name="Text 7"/>
          <p:cNvSpPr/>
          <p:nvPr>
            <p:custDataLst>
              <p:tags r:id="rId2"/>
            </p:custDataLst>
          </p:nvPr>
        </p:nvSpPr>
        <p:spPr>
          <a:xfrm>
            <a:off x="896112" y="1545336"/>
            <a:ext cx="4471416" cy="256032"/>
          </a:xfrm>
          <a:prstGeom prst="rect">
            <a:avLst/>
          </a:prstGeom>
          <a:noFill/>
        </p:spPr>
        <p:txBody>
          <a:bodyPr wrap="square" lIns="0" tIns="0" rIns="0" bIns="0" rtlCol="0" anchor="ctr"/>
          <a:lstStyle/>
          <a:p>
            <a:pPr marL="0" indent="0">
              <a:buNone/>
            </a:pPr>
            <a:r>
              <a:rPr lang="en-US" sz="2000" b="1" dirty="0">
                <a:solidFill>
                  <a:srgbClr val="1E63B5"/>
                </a:solidFill>
                <a:latin typeface="Aptos Display" pitchFamily="34" charset="0"/>
                <a:ea typeface="Aptos Display" pitchFamily="34" charset="-122"/>
                <a:cs typeface="Aptos Display" pitchFamily="34" charset="-120"/>
              </a:rPr>
              <a:t>Implicit threshold</a:t>
            </a:r>
            <a:endParaRPr lang="en-US" sz="2000" dirty="0"/>
          </a:p>
        </p:txBody>
      </p:sp>
      <p:sp>
        <p:nvSpPr>
          <p:cNvPr id="10" name="Text 8"/>
          <p:cNvSpPr/>
          <p:nvPr>
            <p:custDataLst>
              <p:tags r:id="rId3"/>
            </p:custDataLst>
          </p:nvPr>
        </p:nvSpPr>
        <p:spPr>
          <a:xfrm>
            <a:off x="896112" y="1883664"/>
            <a:ext cx="4471416" cy="548640"/>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The threshold is not closed form with packet drop, even for the offline case</a:t>
            </a:r>
          </a:p>
        </p:txBody>
      </p:sp>
      <p:sp>
        <p:nvSpPr>
          <p:cNvPr id="11" name="Text 9"/>
          <p:cNvSpPr/>
          <p:nvPr>
            <p:custDataLst>
              <p:tags r:id="rId4"/>
            </p:custDataLst>
          </p:nvPr>
        </p:nvSpPr>
        <p:spPr>
          <a:xfrm>
            <a:off x="4791456" y="1536192"/>
            <a:ext cx="493776" cy="274320"/>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1100" b="1" dirty="0">
                <a:solidFill>
                  <a:srgbClr val="FFFFFF"/>
                </a:solidFill>
                <a:latin typeface="Aptos Display" pitchFamily="34" charset="0"/>
                <a:ea typeface="Aptos Display" pitchFamily="34" charset="-122"/>
                <a:cs typeface="Aptos Display" pitchFamily="34" charset="-120"/>
              </a:rPr>
              <a:t>C1</a:t>
            </a:r>
            <a:endParaRPr lang="en-US" sz="1100" dirty="0"/>
          </a:p>
        </p:txBody>
      </p:sp>
      <p:sp>
        <p:nvSpPr>
          <p:cNvPr id="12" name="Shape 10"/>
          <p:cNvSpPr/>
          <p:nvPr>
            <p:custDataLst>
              <p:tags r:id="rId5"/>
            </p:custDataLst>
          </p:nvPr>
        </p:nvSpPr>
        <p:spPr>
          <a:xfrm>
            <a:off x="6016752" y="1417320"/>
            <a:ext cx="4800600" cy="1115568"/>
          </a:xfrm>
          <a:prstGeom prst="roundRect">
            <a:avLst>
              <a:gd name="adj" fmla="val 4918"/>
            </a:avLst>
          </a:prstGeom>
          <a:solidFill>
            <a:srgbClr val="FFFFFF"/>
          </a:solidFill>
          <a:ln w="12700">
            <a:solidFill>
              <a:srgbClr val="D8E6FA"/>
            </a:solidFill>
            <a:prstDash val="solid"/>
          </a:ln>
        </p:spPr>
        <p:txBody>
          <a:bodyPr/>
          <a:lstStyle/>
          <a:p>
            <a:endParaRPr lang="en-CN"/>
          </a:p>
        </p:txBody>
      </p:sp>
      <p:sp>
        <p:nvSpPr>
          <p:cNvPr id="13" name="Text 11"/>
          <p:cNvSpPr/>
          <p:nvPr>
            <p:custDataLst>
              <p:tags r:id="rId6"/>
            </p:custDataLst>
          </p:nvPr>
        </p:nvSpPr>
        <p:spPr>
          <a:xfrm>
            <a:off x="6181344" y="1545336"/>
            <a:ext cx="4471416" cy="256032"/>
          </a:xfrm>
          <a:prstGeom prst="rect">
            <a:avLst/>
          </a:prstGeom>
          <a:noFill/>
        </p:spPr>
        <p:txBody>
          <a:bodyPr wrap="square" lIns="0" tIns="0" rIns="0" bIns="0" rtlCol="0" anchor="ctr"/>
          <a:lstStyle/>
          <a:p>
            <a:pPr marL="0" indent="0">
              <a:buNone/>
            </a:pPr>
            <a:r>
              <a:rPr lang="en-US" sz="2000" b="1" dirty="0">
                <a:solidFill>
                  <a:srgbClr val="F26B38"/>
                </a:solidFill>
                <a:latin typeface="Aptos Display" pitchFamily="34" charset="0"/>
                <a:ea typeface="Aptos Display" pitchFamily="34" charset="-122"/>
                <a:cs typeface="Aptos Display" pitchFamily="34" charset="-120"/>
              </a:rPr>
              <a:t>Random packet drops</a:t>
            </a:r>
            <a:endParaRPr lang="en-US" sz="2000" dirty="0"/>
          </a:p>
        </p:txBody>
      </p:sp>
      <p:sp>
        <p:nvSpPr>
          <p:cNvPr id="14" name="Text 12"/>
          <p:cNvSpPr/>
          <p:nvPr>
            <p:custDataLst>
              <p:tags r:id="rId7"/>
            </p:custDataLst>
          </p:nvPr>
        </p:nvSpPr>
        <p:spPr>
          <a:xfrm>
            <a:off x="6181344" y="1883664"/>
            <a:ext cx="4471416" cy="548640"/>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Causes heterogeneous value functions</a:t>
            </a:r>
          </a:p>
        </p:txBody>
      </p:sp>
      <p:sp>
        <p:nvSpPr>
          <p:cNvPr id="15" name="Text 13"/>
          <p:cNvSpPr/>
          <p:nvPr>
            <p:custDataLst>
              <p:tags r:id="rId8"/>
            </p:custDataLst>
          </p:nvPr>
        </p:nvSpPr>
        <p:spPr>
          <a:xfrm>
            <a:off x="10076688" y="1536192"/>
            <a:ext cx="493776" cy="274320"/>
          </a:xfrm>
          <a:prstGeom prst="rect">
            <a:avLst/>
          </a:prstGeom>
          <a:solidFill>
            <a:srgbClr val="F26B38"/>
          </a:solidFill>
          <a:ln>
            <a:solidFill>
              <a:srgbClr val="F26B38"/>
            </a:solidFill>
          </a:ln>
        </p:spPr>
        <p:txBody>
          <a:bodyPr wrap="square" lIns="0" tIns="0" rIns="0" bIns="0" rtlCol="0" anchor="ctr"/>
          <a:lstStyle/>
          <a:p>
            <a:pPr marL="0" indent="0" algn="ctr">
              <a:buNone/>
            </a:pPr>
            <a:r>
              <a:rPr lang="en-US" sz="1100" b="1" dirty="0">
                <a:solidFill>
                  <a:srgbClr val="FFFFFF"/>
                </a:solidFill>
                <a:latin typeface="Aptos Display" pitchFamily="34" charset="0"/>
                <a:ea typeface="Aptos Display" pitchFamily="34" charset="-122"/>
                <a:cs typeface="Aptos Display" pitchFamily="34" charset="-120"/>
              </a:rPr>
              <a:t>C2</a:t>
            </a:r>
            <a:endParaRPr lang="en-US" sz="1100" dirty="0"/>
          </a:p>
        </p:txBody>
      </p:sp>
      <p:sp>
        <p:nvSpPr>
          <p:cNvPr id="16" name="Shape 14"/>
          <p:cNvSpPr/>
          <p:nvPr>
            <p:custDataLst>
              <p:tags r:id="rId9"/>
            </p:custDataLst>
          </p:nvPr>
        </p:nvSpPr>
        <p:spPr>
          <a:xfrm>
            <a:off x="731520" y="3017520"/>
            <a:ext cx="4800600" cy="1307592"/>
          </a:xfrm>
          <a:prstGeom prst="roundRect">
            <a:avLst>
              <a:gd name="adj" fmla="val 4918"/>
            </a:avLst>
          </a:prstGeom>
          <a:solidFill>
            <a:srgbClr val="F4F8FF"/>
          </a:solidFill>
          <a:ln w="12700">
            <a:solidFill>
              <a:srgbClr val="D8E6FA"/>
            </a:solidFill>
            <a:prstDash val="solid"/>
          </a:ln>
        </p:spPr>
        <p:txBody>
          <a:bodyPr/>
          <a:lstStyle/>
          <a:p>
            <a:endParaRPr lang="en-CN"/>
          </a:p>
        </p:txBody>
      </p:sp>
      <p:sp>
        <p:nvSpPr>
          <p:cNvPr id="17" name="Text 15"/>
          <p:cNvSpPr/>
          <p:nvPr>
            <p:custDataLst>
              <p:tags r:id="rId10"/>
            </p:custDataLst>
          </p:nvPr>
        </p:nvSpPr>
        <p:spPr>
          <a:xfrm>
            <a:off x="896112" y="3145536"/>
            <a:ext cx="4471416" cy="256032"/>
          </a:xfrm>
          <a:prstGeom prst="rect">
            <a:avLst/>
          </a:prstGeom>
          <a:noFill/>
        </p:spPr>
        <p:txBody>
          <a:bodyPr wrap="square" lIns="0" tIns="0" rIns="0" bIns="0" rtlCol="0" anchor="ctr"/>
          <a:lstStyle/>
          <a:p>
            <a:pPr marL="0" indent="0">
              <a:buNone/>
            </a:pPr>
            <a:r>
              <a:rPr lang="en-US" sz="2000" b="1" dirty="0">
                <a:solidFill>
                  <a:srgbClr val="C83F49"/>
                </a:solidFill>
                <a:latin typeface="Aptos Display" pitchFamily="34" charset="0"/>
                <a:ea typeface="Aptos Display" pitchFamily="34" charset="-122"/>
                <a:cs typeface="Aptos Display" pitchFamily="34" charset="-120"/>
              </a:rPr>
              <a:t>Unknown delays</a:t>
            </a:r>
            <a:endParaRPr lang="en-US" sz="2000" dirty="0"/>
          </a:p>
        </p:txBody>
      </p:sp>
      <p:sp>
        <p:nvSpPr>
          <p:cNvPr id="18" name="Text 16"/>
          <p:cNvSpPr/>
          <p:nvPr>
            <p:custDataLst>
              <p:tags r:id="rId11"/>
            </p:custDataLst>
          </p:nvPr>
        </p:nvSpPr>
        <p:spPr>
          <a:xfrm>
            <a:off x="896112" y="3483864"/>
            <a:ext cx="4471416" cy="548640"/>
          </a:xfrm>
          <a:prstGeom prst="rect">
            <a:avLst/>
          </a:prstGeom>
          <a:noFill/>
        </p:spPr>
        <p:txBody>
          <a:bodyPr wrap="square" lIns="0" tIns="0" rIns="0" bIns="0" rtlCol="0" anchor="ctr">
            <a:noAutofit/>
          </a:bodyPr>
          <a:lstStyle/>
          <a:p>
            <a:r>
              <a:rPr lang="en-US" dirty="0">
                <a:solidFill>
                  <a:srgbClr val="111827"/>
                </a:solidFill>
                <a:latin typeface="Aptos" pitchFamily="34" charset="0"/>
                <a:ea typeface="Aptos" pitchFamily="34" charset="-122"/>
                <a:cs typeface="Aptos" pitchFamily="34" charset="-120"/>
              </a:rPr>
              <a:t> Unknown expected delay causes heterogeneous value functions</a:t>
            </a:r>
          </a:p>
        </p:txBody>
      </p:sp>
      <p:sp>
        <p:nvSpPr>
          <p:cNvPr id="19" name="Text 17"/>
          <p:cNvSpPr/>
          <p:nvPr>
            <p:custDataLst>
              <p:tags r:id="rId12"/>
            </p:custDataLst>
          </p:nvPr>
        </p:nvSpPr>
        <p:spPr>
          <a:xfrm>
            <a:off x="4791456" y="3136392"/>
            <a:ext cx="493776" cy="274320"/>
          </a:xfrm>
          <a:prstGeom prst="rect">
            <a:avLst/>
          </a:prstGeom>
          <a:solidFill>
            <a:srgbClr val="C83F49"/>
          </a:solidFill>
          <a:ln>
            <a:solidFill>
              <a:srgbClr val="C83F49"/>
            </a:solidFill>
          </a:ln>
        </p:spPr>
        <p:txBody>
          <a:bodyPr wrap="square" lIns="0" tIns="0" rIns="0" bIns="0" rtlCol="0" anchor="ctr"/>
          <a:lstStyle/>
          <a:p>
            <a:pPr marL="0" indent="0" algn="ctr">
              <a:buNone/>
            </a:pPr>
            <a:r>
              <a:rPr lang="en-US" sz="1100" b="1" dirty="0">
                <a:solidFill>
                  <a:srgbClr val="FFFFFF"/>
                </a:solidFill>
                <a:latin typeface="Aptos Display" pitchFamily="34" charset="0"/>
                <a:ea typeface="Aptos Display" pitchFamily="34" charset="-122"/>
                <a:cs typeface="Aptos Display" pitchFamily="34" charset="-120"/>
              </a:rPr>
              <a:t>C3</a:t>
            </a:r>
            <a:endParaRPr lang="en-US" sz="1100" dirty="0"/>
          </a:p>
        </p:txBody>
      </p:sp>
      <p:sp>
        <p:nvSpPr>
          <p:cNvPr id="20" name="Shape 18"/>
          <p:cNvSpPr/>
          <p:nvPr>
            <p:custDataLst>
              <p:tags r:id="rId13"/>
            </p:custDataLst>
          </p:nvPr>
        </p:nvSpPr>
        <p:spPr>
          <a:xfrm>
            <a:off x="6016752" y="3017519"/>
            <a:ext cx="4800600" cy="1307593"/>
          </a:xfrm>
          <a:prstGeom prst="roundRect">
            <a:avLst>
              <a:gd name="adj" fmla="val 4918"/>
            </a:avLst>
          </a:prstGeom>
          <a:solidFill>
            <a:srgbClr val="FFFFFF"/>
          </a:solidFill>
          <a:ln w="12700">
            <a:solidFill>
              <a:srgbClr val="D8E6FA"/>
            </a:solidFill>
            <a:prstDash val="solid"/>
          </a:ln>
        </p:spPr>
        <p:txBody>
          <a:bodyPr/>
          <a:lstStyle/>
          <a:p>
            <a:endParaRPr lang="en-CN"/>
          </a:p>
        </p:txBody>
      </p:sp>
      <p:sp>
        <p:nvSpPr>
          <p:cNvPr id="21" name="Text 19"/>
          <p:cNvSpPr/>
          <p:nvPr>
            <p:custDataLst>
              <p:tags r:id="rId14"/>
            </p:custDataLst>
          </p:nvPr>
        </p:nvSpPr>
        <p:spPr>
          <a:xfrm>
            <a:off x="6181344" y="3145536"/>
            <a:ext cx="4471416" cy="256032"/>
          </a:xfrm>
          <a:prstGeom prst="rect">
            <a:avLst/>
          </a:prstGeom>
          <a:noFill/>
        </p:spPr>
        <p:txBody>
          <a:bodyPr wrap="square" lIns="0" tIns="0" rIns="0" bIns="0" rtlCol="0" anchor="ctr"/>
          <a:lstStyle/>
          <a:p>
            <a:pPr marL="0" indent="0">
              <a:buNone/>
            </a:pPr>
            <a:r>
              <a:rPr lang="en-US" sz="2000" b="1" dirty="0">
                <a:solidFill>
                  <a:srgbClr val="2BB673"/>
                </a:solidFill>
                <a:latin typeface="Aptos Display" pitchFamily="34" charset="0"/>
                <a:ea typeface="Aptos Display" pitchFamily="34" charset="-122"/>
                <a:cs typeface="Aptos Display" pitchFamily="34" charset="-120"/>
              </a:rPr>
              <a:t>Noisy updates</a:t>
            </a:r>
            <a:endParaRPr lang="en-US" sz="2000" dirty="0"/>
          </a:p>
        </p:txBody>
      </p:sp>
      <p:sp>
        <p:nvSpPr>
          <p:cNvPr id="22" name="Text 20"/>
          <p:cNvSpPr/>
          <p:nvPr>
            <p:custDataLst>
              <p:tags r:id="rId15"/>
            </p:custDataLst>
          </p:nvPr>
        </p:nvSpPr>
        <p:spPr>
          <a:xfrm>
            <a:off x="6181343" y="3617468"/>
            <a:ext cx="4224529" cy="548640"/>
          </a:xfrm>
          <a:prstGeom prst="rect">
            <a:avLst/>
          </a:prstGeom>
          <a:noFill/>
        </p:spPr>
        <p:txBody>
          <a:bodyPr wrap="square" lIns="0" tIns="0" rIns="0" bIns="0" rtlCol="0" anchor="ctr">
            <a:noAutofit/>
          </a:bodyPr>
          <a:lstStyle/>
          <a:p>
            <a:r>
              <a:rPr lang="en-US" dirty="0">
                <a:solidFill>
                  <a:srgbClr val="111827"/>
                </a:solidFill>
                <a:latin typeface="Aptos" pitchFamily="34" charset="0"/>
                <a:ea typeface="Aptos" pitchFamily="34" charset="-122"/>
                <a:cs typeface="Aptos" pitchFamily="34" charset="-120"/>
              </a:rPr>
              <a:t>Heterogeneous value functions induce the learning algorithm to have high variance and poor stability</a:t>
            </a:r>
          </a:p>
        </p:txBody>
      </p:sp>
      <p:sp>
        <p:nvSpPr>
          <p:cNvPr id="23" name="Text 21"/>
          <p:cNvSpPr/>
          <p:nvPr>
            <p:custDataLst>
              <p:tags r:id="rId16"/>
            </p:custDataLst>
          </p:nvPr>
        </p:nvSpPr>
        <p:spPr>
          <a:xfrm>
            <a:off x="10076688" y="3136392"/>
            <a:ext cx="493776" cy="274320"/>
          </a:xfrm>
          <a:prstGeom prst="rect">
            <a:avLst/>
          </a:prstGeom>
          <a:solidFill>
            <a:srgbClr val="2BB673"/>
          </a:solidFill>
          <a:ln>
            <a:solidFill>
              <a:srgbClr val="2BB673"/>
            </a:solidFill>
          </a:ln>
        </p:spPr>
        <p:txBody>
          <a:bodyPr wrap="square" lIns="0" tIns="0" rIns="0" bIns="0" rtlCol="0" anchor="ctr"/>
          <a:lstStyle/>
          <a:p>
            <a:pPr marL="0" indent="0" algn="ctr">
              <a:buNone/>
            </a:pPr>
            <a:r>
              <a:rPr lang="en-US" sz="1100" b="1" dirty="0">
                <a:solidFill>
                  <a:srgbClr val="FFFFFF"/>
                </a:solidFill>
                <a:latin typeface="Aptos Display" pitchFamily="34" charset="0"/>
                <a:ea typeface="Aptos Display" pitchFamily="34" charset="-122"/>
                <a:cs typeface="Aptos Display" pitchFamily="34" charset="-120"/>
              </a:rPr>
              <a:t>C4</a:t>
            </a:r>
            <a:endParaRPr lang="en-US" sz="1100" dirty="0"/>
          </a:p>
        </p:txBody>
      </p:sp>
      <p:sp>
        <p:nvSpPr>
          <p:cNvPr id="28" name="Text 26"/>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6</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Solution to the Online Case</a:t>
            </a:r>
          </a:p>
        </p:txBody>
      </p:sp>
      <p:sp>
        <p:nvSpPr>
          <p:cNvPr id="8" name="Shape 6"/>
          <p:cNvSpPr/>
          <p:nvPr>
            <p:custDataLst>
              <p:tags r:id="rId1"/>
            </p:custDataLst>
          </p:nvPr>
        </p:nvSpPr>
        <p:spPr>
          <a:xfrm>
            <a:off x="749935" y="2800350"/>
            <a:ext cx="2057400" cy="960120"/>
          </a:xfrm>
          <a:prstGeom prst="roundRect">
            <a:avLst>
              <a:gd name="adj" fmla="val 5714"/>
            </a:avLst>
          </a:prstGeom>
          <a:solidFill>
            <a:srgbClr val="F4F8FF"/>
          </a:solidFill>
          <a:ln w="12700">
            <a:solidFill>
              <a:srgbClr val="D8E6FA"/>
            </a:solidFill>
            <a:prstDash val="solid"/>
          </a:ln>
        </p:spPr>
        <p:txBody>
          <a:bodyPr/>
          <a:lstStyle/>
          <a:p>
            <a:endParaRPr lang="en-CN"/>
          </a:p>
        </p:txBody>
      </p:sp>
      <p:sp>
        <p:nvSpPr>
          <p:cNvPr id="9" name="Text 7"/>
          <p:cNvSpPr/>
          <p:nvPr>
            <p:custDataLst>
              <p:tags r:id="rId2"/>
            </p:custDataLst>
          </p:nvPr>
        </p:nvSpPr>
        <p:spPr>
          <a:xfrm>
            <a:off x="914527" y="2937510"/>
            <a:ext cx="1728216" cy="740664"/>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Observed delays</a:t>
            </a:r>
            <a:endParaRPr lang="en-US" dirty="0"/>
          </a:p>
          <a:p>
            <a:pPr marL="0" indent="0">
              <a:buNone/>
            </a:pPr>
            <a:r>
              <a:rPr lang="en-US" dirty="0">
                <a:solidFill>
                  <a:srgbClr val="111827"/>
                </a:solidFill>
                <a:latin typeface="Aptos" pitchFamily="34" charset="0"/>
                <a:ea typeface="Aptos" pitchFamily="34" charset="-122"/>
                <a:cs typeface="Aptos" pitchFamily="34" charset="-120"/>
              </a:rPr>
              <a:t>and increments</a:t>
            </a:r>
            <a:endParaRPr lang="en-US" dirty="0"/>
          </a:p>
        </p:txBody>
      </p:sp>
      <p:sp>
        <p:nvSpPr>
          <p:cNvPr id="10" name="Shape 8"/>
          <p:cNvSpPr/>
          <p:nvPr>
            <p:custDataLst>
              <p:tags r:id="rId3"/>
            </p:custDataLst>
          </p:nvPr>
        </p:nvSpPr>
        <p:spPr>
          <a:xfrm>
            <a:off x="2862199" y="3129534"/>
            <a:ext cx="576072" cy="292608"/>
          </a:xfrm>
          <a:prstGeom prst="rightArrow">
            <a:avLst/>
          </a:prstGeom>
          <a:solidFill>
            <a:srgbClr val="CBD3DF"/>
          </a:solidFill>
          <a:ln w="12700">
            <a:solidFill>
              <a:srgbClr val="CBD3DF"/>
            </a:solidFill>
            <a:prstDash val="solid"/>
          </a:ln>
        </p:spPr>
        <p:txBody>
          <a:bodyPr/>
          <a:lstStyle/>
          <a:p>
            <a:endParaRPr lang="en-CN"/>
          </a:p>
        </p:txBody>
      </p:sp>
      <p:sp>
        <p:nvSpPr>
          <p:cNvPr id="11" name="Shape 9"/>
          <p:cNvSpPr/>
          <p:nvPr>
            <p:custDataLst>
              <p:tags r:id="rId4"/>
            </p:custDataLst>
          </p:nvPr>
        </p:nvSpPr>
        <p:spPr>
          <a:xfrm>
            <a:off x="3444240" y="2814320"/>
            <a:ext cx="2057400" cy="960120"/>
          </a:xfrm>
          <a:prstGeom prst="roundRect">
            <a:avLst>
              <a:gd name="adj" fmla="val 5714"/>
            </a:avLst>
          </a:prstGeom>
          <a:solidFill>
            <a:srgbClr val="FFF8EC"/>
          </a:solidFill>
          <a:ln w="12700">
            <a:solidFill>
              <a:srgbClr val="D8E6F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2" name="Text 10"/>
              <p:cNvSpPr/>
              <p:nvPr>
                <p:custDataLst>
                  <p:tags r:id="rId5"/>
                </p:custDataLst>
              </p:nvPr>
            </p:nvSpPr>
            <p:spPr>
              <a:xfrm>
                <a:off x="3608832" y="2951480"/>
                <a:ext cx="1728216" cy="740664"/>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Noisy estimate</a:t>
                </a:r>
                <a:endParaRPr lang="en-US" dirty="0"/>
              </a:p>
              <a:p>
                <a:pPr marL="0" indent="0">
                  <a:buNone/>
                </a:pPr>
                <a:r>
                  <a:rPr lang="en-US" dirty="0">
                    <a:solidFill>
                      <a:srgbClr val="111827"/>
                    </a:solidFill>
                    <a:latin typeface="Aptos" pitchFamily="34" charset="0"/>
                    <a:ea typeface="Aptos" pitchFamily="34" charset="-122"/>
                    <a:cs typeface="Aptos" pitchFamily="34" charset="-120"/>
                  </a:rPr>
                  <a:t>of </a:t>
                </a:r>
                <a14:m>
                  <m:oMath xmlns:m="http://schemas.openxmlformats.org/officeDocument/2006/math">
                    <m:sSub>
                      <m:sSubPr>
                        <m:ctrlPr>
                          <a:rPr lang="en-US" i="1" dirty="0" smtClean="0">
                            <a:solidFill>
                              <a:srgbClr val="C00000"/>
                            </a:solidFill>
                            <a:latin typeface="Cambria Math" panose="02040503050406030204" pitchFamily="18" charset="0"/>
                            <a:ea typeface="Aptos" pitchFamily="34" charset="-122"/>
                            <a:cs typeface="Cambria Math" panose="02040503050406030204" charset="0"/>
                          </a:rPr>
                        </m:ctrlPr>
                      </m:sSubPr>
                      <m:e>
                        <m:r>
                          <a:rPr lang="en-US" i="1" dirty="0">
                            <a:solidFill>
                              <a:srgbClr val="C00000"/>
                            </a:solidFill>
                            <a:latin typeface="Cambria Math" panose="02040503050406030204" charset="0"/>
                            <a:ea typeface="Aptos" pitchFamily="34" charset="-122"/>
                            <a:cs typeface="Cambria Math" panose="02040503050406030204" charset="0"/>
                          </a:rPr>
                          <m:t>𝐽</m:t>
                        </m:r>
                      </m:e>
                      <m:sub>
                        <m:r>
                          <a:rPr lang="en-US" i="1" dirty="0">
                            <a:solidFill>
                              <a:srgbClr val="C00000"/>
                            </a:solidFill>
                            <a:latin typeface="Cambria Math" panose="02040503050406030204" charset="0"/>
                            <a:ea typeface="Aptos" pitchFamily="34" charset="-122"/>
                            <a:cs typeface="Cambria Math" panose="02040503050406030204" charset="0"/>
                          </a:rPr>
                          <m:t>𝑛</m:t>
                        </m:r>
                      </m:sub>
                    </m:sSub>
                    <m:r>
                      <a:rPr lang="en-US" dirty="0">
                        <a:solidFill>
                          <a:srgbClr val="111827"/>
                        </a:solidFill>
                        <a:latin typeface="Cambria Math" panose="02040503050406030204" charset="0"/>
                        <a:ea typeface="Aptos" pitchFamily="34" charset="-122"/>
                        <a:cs typeface="Cambria Math" panose="02040503050406030204" charset="0"/>
                      </a:rPr>
                      <m:t>(</m:t>
                    </m:r>
                    <m:r>
                      <m:rPr>
                        <m:sty m:val="p"/>
                      </m:rPr>
                      <a:rPr lang="en-US" dirty="0">
                        <a:solidFill>
                          <a:srgbClr val="111827"/>
                        </a:solidFill>
                        <a:latin typeface="Cambria Math" panose="02040503050406030204" charset="0"/>
                        <a:ea typeface="Aptos" pitchFamily="34" charset="-122"/>
                        <a:cs typeface="Cambria Math" panose="02040503050406030204" charset="0"/>
                      </a:rPr>
                      <m:t>w</m:t>
                    </m:r>
                    <m:r>
                      <a:rPr lang="en-US" dirty="0">
                        <a:solidFill>
                          <a:srgbClr val="111827"/>
                        </a:solidFill>
                        <a:latin typeface="Cambria Math" panose="02040503050406030204" charset="0"/>
                        <a:ea typeface="Aptos" pitchFamily="34" charset="-122"/>
                        <a:cs typeface="Cambria Math" panose="02040503050406030204" charset="0"/>
                      </a:rPr>
                      <m:t>, </m:t>
                    </m:r>
                    <m:sSub>
                      <m:sSubPr>
                        <m:ctrlPr>
                          <a:rPr lang="en-US" i="1" dirty="0">
                            <a:latin typeface="Cambria Math" panose="02040503050406030204" pitchFamily="18" charset="0"/>
                            <a:cs typeface="Cambria Math" panose="02040503050406030204" charset="0"/>
                          </a:rPr>
                        </m:ctrlPr>
                      </m:sSubPr>
                      <m:e>
                        <m:r>
                          <a:rPr lang="en-US" i="1" dirty="0">
                            <a:latin typeface="Cambria Math" panose="02040503050406030204" charset="0"/>
                            <a:cs typeface="Cambria Math" panose="02040503050406030204" charset="0"/>
                          </a:rPr>
                          <m:t>𝛽</m:t>
                        </m:r>
                      </m:e>
                      <m:sub>
                        <m:r>
                          <a:rPr lang="en-US" i="1" dirty="0">
                            <a:latin typeface="Cambria Math" panose="02040503050406030204" charset="0"/>
                            <a:cs typeface="Cambria Math" panose="02040503050406030204" charset="0"/>
                          </a:rPr>
                          <m:t>𝑘</m:t>
                        </m:r>
                      </m:sub>
                    </m:sSub>
                    <m:r>
                      <a:rPr lang="en-US" dirty="0">
                        <a:solidFill>
                          <a:srgbClr val="111827"/>
                        </a:solidFill>
                        <a:latin typeface="Cambria Math" panose="02040503050406030204" charset="0"/>
                        <a:ea typeface="Aptos" pitchFamily="34" charset="-122"/>
                        <a:cs typeface="Cambria Math" panose="02040503050406030204" charset="0"/>
                      </a:rPr>
                      <m:t>)</m:t>
                    </m:r>
                  </m:oMath>
                </a14:m>
                <a:endParaRPr lang="en-US" dirty="0"/>
              </a:p>
            </p:txBody>
          </p:sp>
        </mc:Choice>
        <mc:Fallback xmlns="">
          <p:sp>
            <p:nvSpPr>
              <p:cNvPr id="12" name="Text 10"/>
              <p:cNvSpPr>
                <a:spLocks noRot="1" noChangeAspect="1" noMove="1" noResize="1" noEditPoints="1" noAdjustHandles="1" noChangeArrowheads="1" noChangeShapeType="1" noTextEdit="1"/>
              </p:cNvSpPr>
              <p:nvPr>
                <p:custDataLst>
                  <p:tags r:id="rId15"/>
                </p:custDataLst>
              </p:nvPr>
            </p:nvSpPr>
            <p:spPr>
              <a:xfrm>
                <a:off x="3608832" y="2951480"/>
                <a:ext cx="1728216" cy="740664"/>
              </a:xfrm>
              <a:prstGeom prst="rect">
                <a:avLst/>
              </a:prstGeom>
              <a:blipFill>
                <a:blip r:embed="rId16"/>
                <a:stretch>
                  <a:fillRect l="-8029" b="-6780"/>
                </a:stretch>
              </a:blipFill>
            </p:spPr>
            <p:txBody>
              <a:bodyPr/>
              <a:lstStyle/>
              <a:p>
                <a:r>
                  <a:rPr lang="en-CN">
                    <a:noFill/>
                  </a:rPr>
                  <a:t> </a:t>
                </a:r>
              </a:p>
            </p:txBody>
          </p:sp>
        </mc:Fallback>
      </mc:AlternateContent>
      <p:sp>
        <p:nvSpPr>
          <p:cNvPr id="13" name="Shape 11"/>
          <p:cNvSpPr/>
          <p:nvPr>
            <p:custDataLst>
              <p:tags r:id="rId6"/>
            </p:custDataLst>
          </p:nvPr>
        </p:nvSpPr>
        <p:spPr>
          <a:xfrm>
            <a:off x="5556504" y="3143504"/>
            <a:ext cx="576072" cy="292608"/>
          </a:xfrm>
          <a:prstGeom prst="rightArrow">
            <a:avLst/>
          </a:prstGeom>
          <a:solidFill>
            <a:srgbClr val="CBD3DF"/>
          </a:solidFill>
          <a:ln w="12700">
            <a:solidFill>
              <a:srgbClr val="CBD3DF"/>
            </a:solidFill>
            <a:prstDash val="solid"/>
          </a:ln>
        </p:spPr>
        <p:txBody>
          <a:bodyPr/>
          <a:lstStyle/>
          <a:p>
            <a:endParaRPr lang="en-CN"/>
          </a:p>
        </p:txBody>
      </p:sp>
      <p:sp>
        <p:nvSpPr>
          <p:cNvPr id="14" name="Shape 12"/>
          <p:cNvSpPr/>
          <p:nvPr>
            <p:custDataLst>
              <p:tags r:id="rId7"/>
            </p:custDataLst>
          </p:nvPr>
        </p:nvSpPr>
        <p:spPr>
          <a:xfrm>
            <a:off x="6177915" y="2814320"/>
            <a:ext cx="2057400" cy="960120"/>
          </a:xfrm>
          <a:prstGeom prst="roundRect">
            <a:avLst>
              <a:gd name="adj" fmla="val 5714"/>
            </a:avLst>
          </a:prstGeom>
          <a:solidFill>
            <a:srgbClr val="F4F8FF"/>
          </a:solidFill>
          <a:ln w="12700">
            <a:solidFill>
              <a:srgbClr val="D8E6F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5" name="Text 13"/>
              <p:cNvSpPr/>
              <p:nvPr>
                <p:custDataLst>
                  <p:tags r:id="rId8"/>
                </p:custDataLst>
              </p:nvPr>
            </p:nvSpPr>
            <p:spPr>
              <a:xfrm>
                <a:off x="6304282" y="2665984"/>
                <a:ext cx="1908302" cy="1283970"/>
              </a:xfrm>
              <a:prstGeom prst="rect">
                <a:avLst/>
              </a:prstGeom>
              <a:noFill/>
            </p:spPr>
            <p:txBody>
              <a:bodyPr wrap="square" lIns="0" tIns="0" rIns="0" bIns="0" rtlCol="0" anchor="ctr">
                <a:noAutofit/>
              </a:bodyPr>
              <a:lstStyle/>
              <a:p>
                <a:pPr marL="0" indent="0">
                  <a:buNone/>
                </a:pPr>
                <a:r>
                  <a:rPr lang="en-US" sz="1600" dirty="0">
                    <a:solidFill>
                      <a:srgbClr val="111827"/>
                    </a:solidFill>
                    <a:latin typeface="Aptos" pitchFamily="34" charset="0"/>
                    <a:ea typeface="Aptos" pitchFamily="34" charset="-122"/>
                    <a:cs typeface="Aptos" pitchFamily="34" charset="-120"/>
                  </a:rPr>
                  <a:t>Robbins Monro (RM) update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𝛽</m:t>
                        </m:r>
                      </m:e>
                      <m:sub>
                        <m:r>
                          <a:rPr lang="en-US" sz="1600" i="1" dirty="0">
                            <a:latin typeface="Cambria Math" panose="02040503050406030204" charset="0"/>
                            <a:cs typeface="Cambria Math" panose="02040503050406030204" charset="0"/>
                          </a:rPr>
                          <m:t>𝑘</m:t>
                        </m:r>
                        <m:r>
                          <a:rPr lang="en-US" sz="1600" i="1" dirty="0">
                            <a:latin typeface="Cambria Math" panose="02040503050406030204" charset="0"/>
                            <a:cs typeface="Cambria Math" panose="02040503050406030204" charset="0"/>
                          </a:rPr>
                          <m:t>+1</m:t>
                        </m:r>
                      </m:sub>
                    </m:sSub>
                  </m:oMath>
                </a14:m>
                <a:r>
                  <a:rPr lang="en-US" sz="1600" dirty="0">
                    <a:solidFill>
                      <a:srgbClr val="111827"/>
                    </a:solidFill>
                    <a:latin typeface="Aptos" pitchFamily="34" charset="0"/>
                    <a:ea typeface="Aptos" pitchFamily="34" charset="-122"/>
                    <a:cs typeface="Aptos" pitchFamily="34" charset="-120"/>
                  </a:rPr>
                  <a:t>=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𝛽</m:t>
                        </m:r>
                      </m:e>
                      <m:sub>
                        <m:r>
                          <a:rPr lang="en-US" sz="1600" i="1" dirty="0">
                            <a:latin typeface="Cambria Math" panose="02040503050406030204" charset="0"/>
                            <a:cs typeface="Cambria Math" panose="02040503050406030204" charset="0"/>
                          </a:rPr>
                          <m:t>𝑘</m:t>
                        </m:r>
                      </m:sub>
                    </m:sSub>
                  </m:oMath>
                </a14:m>
                <a:r>
                  <a:rPr lang="en-US" sz="1600" dirty="0">
                    <a:solidFill>
                      <a:srgbClr val="111827"/>
                    </a:solidFill>
                    <a:latin typeface="Aptos" pitchFamily="34" charset="0"/>
                    <a:ea typeface="Aptos" pitchFamily="34" charset="-122"/>
                    <a:cs typeface="Aptos" pitchFamily="34" charset="-120"/>
                  </a:rPr>
                  <a:t> +a function of </a:t>
                </a:r>
                <a14:m>
                  <m:oMath xmlns:m="http://schemas.openxmlformats.org/officeDocument/2006/math">
                    <m:sSub>
                      <m:sSubPr>
                        <m:ctrlPr>
                          <a:rPr lang="en-US" sz="1600" i="1" dirty="0">
                            <a:solidFill>
                              <a:srgbClr val="111827"/>
                            </a:solidFill>
                            <a:latin typeface="Cambria Math" panose="02040503050406030204" pitchFamily="18" charset="0"/>
                            <a:ea typeface="Aptos" pitchFamily="34" charset="-122"/>
                            <a:cs typeface="Cambria Math" panose="02040503050406030204" charset="0"/>
                          </a:rPr>
                        </m:ctrlPr>
                      </m:sSubPr>
                      <m:e>
                        <m:r>
                          <a:rPr lang="en-US" sz="1600" i="1" dirty="0">
                            <a:solidFill>
                              <a:srgbClr val="111827"/>
                            </a:solidFill>
                            <a:latin typeface="Cambria Math" panose="02040503050406030204" charset="0"/>
                            <a:ea typeface="Aptos" pitchFamily="34" charset="-122"/>
                            <a:cs typeface="Cambria Math" panose="02040503050406030204" charset="0"/>
                          </a:rPr>
                          <m:t>𝐽</m:t>
                        </m:r>
                      </m:e>
                      <m:sub>
                        <m:r>
                          <a:rPr lang="en-US" sz="1600" i="1" dirty="0">
                            <a:solidFill>
                              <a:srgbClr val="111827"/>
                            </a:solidFill>
                            <a:latin typeface="Cambria Math" panose="02040503050406030204" charset="0"/>
                            <a:ea typeface="Aptos" pitchFamily="34" charset="-122"/>
                            <a:cs typeface="Cambria Math" panose="02040503050406030204" charset="0"/>
                          </a:rPr>
                          <m:t>𝑛</m:t>
                        </m:r>
                      </m:sub>
                    </m:sSub>
                    <m:r>
                      <a:rPr lang="en-US" sz="1600" dirty="0">
                        <a:solidFill>
                          <a:srgbClr val="111827"/>
                        </a:solidFill>
                        <a:latin typeface="Cambria Math" panose="02040503050406030204" charset="0"/>
                        <a:ea typeface="Aptos" pitchFamily="34" charset="-122"/>
                        <a:cs typeface="Cambria Math" panose="02040503050406030204" charset="0"/>
                      </a:rPr>
                      <m:t>(</m:t>
                    </m:r>
                    <m:r>
                      <m:rPr>
                        <m:sty m:val="p"/>
                      </m:rPr>
                      <a:rPr lang="en-US" sz="1600" dirty="0">
                        <a:solidFill>
                          <a:srgbClr val="111827"/>
                        </a:solidFill>
                        <a:latin typeface="Cambria Math" panose="02040503050406030204" charset="0"/>
                        <a:ea typeface="Aptos" pitchFamily="34" charset="-122"/>
                        <a:cs typeface="Cambria Math" panose="02040503050406030204" charset="0"/>
                      </a:rPr>
                      <m:t>w</m:t>
                    </m:r>
                    <m:r>
                      <a:rPr lang="en-US" sz="1600" dirty="0">
                        <a:solidFill>
                          <a:srgbClr val="111827"/>
                        </a:solidFill>
                        <a:latin typeface="Cambria Math" panose="02040503050406030204" charset="0"/>
                        <a:ea typeface="Aptos" pitchFamily="34" charset="-122"/>
                        <a:cs typeface="Cambria Math" panose="02040503050406030204" charset="0"/>
                      </a:rPr>
                      <m:t>, </m:t>
                    </m:r>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𝛽</m:t>
                        </m:r>
                      </m:e>
                      <m:sub>
                        <m:r>
                          <a:rPr lang="en-US" sz="1600" i="1" dirty="0">
                            <a:latin typeface="Cambria Math" panose="02040503050406030204" charset="0"/>
                            <a:cs typeface="Cambria Math" panose="02040503050406030204" charset="0"/>
                          </a:rPr>
                          <m:t>𝑘</m:t>
                        </m:r>
                      </m:sub>
                    </m:sSub>
                    <m:r>
                      <a:rPr lang="en-US" sz="1600" dirty="0">
                        <a:solidFill>
                          <a:srgbClr val="111827"/>
                        </a:solidFill>
                        <a:latin typeface="Cambria Math" panose="02040503050406030204" charset="0"/>
                        <a:ea typeface="Aptos" pitchFamily="34" charset="-122"/>
                        <a:cs typeface="Cambria Math" panose="02040503050406030204" charset="0"/>
                      </a:rPr>
                      <m:t>)</m:t>
                    </m:r>
                  </m:oMath>
                </a14:m>
                <a:r>
                  <a:rPr lang="en-US" sz="1600" dirty="0">
                    <a:solidFill>
                      <a:srgbClr val="111827"/>
                    </a:solidFill>
                    <a:latin typeface="Aptos" pitchFamily="34" charset="0"/>
                    <a:ea typeface="Aptos" pitchFamily="34" charset="-122"/>
                    <a:cs typeface="Aptos" pitchFamily="34" charset="-120"/>
                  </a:rPr>
                  <a:t> </a:t>
                </a:r>
                <a:endParaRPr lang="en-US" sz="1600" dirty="0"/>
              </a:p>
            </p:txBody>
          </p:sp>
        </mc:Choice>
        <mc:Fallback xmlns="">
          <p:sp>
            <p:nvSpPr>
              <p:cNvPr id="15" name="Text 13"/>
              <p:cNvSpPr>
                <a:spLocks noRot="1" noChangeAspect="1" noMove="1" noResize="1" noEditPoints="1" noAdjustHandles="1" noChangeArrowheads="1" noChangeShapeType="1" noTextEdit="1"/>
              </p:cNvSpPr>
              <p:nvPr>
                <p:custDataLst>
                  <p:tags r:id="rId17"/>
                </p:custDataLst>
              </p:nvPr>
            </p:nvSpPr>
            <p:spPr>
              <a:xfrm>
                <a:off x="6304282" y="2665984"/>
                <a:ext cx="1908302" cy="1283970"/>
              </a:xfrm>
              <a:prstGeom prst="rect">
                <a:avLst/>
              </a:prstGeom>
              <a:blipFill>
                <a:blip r:embed="rId18"/>
                <a:stretch>
                  <a:fillRect l="-6623" r="-1987"/>
                </a:stretch>
              </a:blipFill>
            </p:spPr>
            <p:txBody>
              <a:bodyPr/>
              <a:lstStyle/>
              <a:p>
                <a:r>
                  <a:rPr lang="en-CN">
                    <a:noFill/>
                  </a:rPr>
                  <a:t> </a:t>
                </a:r>
              </a:p>
            </p:txBody>
          </p:sp>
        </mc:Fallback>
      </mc:AlternateContent>
      <p:sp>
        <p:nvSpPr>
          <p:cNvPr id="16" name="Shape 14"/>
          <p:cNvSpPr/>
          <p:nvPr>
            <p:custDataLst>
              <p:tags r:id="rId9"/>
            </p:custDataLst>
          </p:nvPr>
        </p:nvSpPr>
        <p:spPr>
          <a:xfrm>
            <a:off x="8290179" y="3143504"/>
            <a:ext cx="576072" cy="292608"/>
          </a:xfrm>
          <a:prstGeom prst="rightArrow">
            <a:avLst/>
          </a:prstGeom>
          <a:solidFill>
            <a:srgbClr val="CBD3DF"/>
          </a:solidFill>
          <a:ln w="12700">
            <a:solidFill>
              <a:srgbClr val="CBD3DF"/>
            </a:solidFill>
            <a:prstDash val="solid"/>
          </a:ln>
        </p:spPr>
        <p:txBody>
          <a:bodyPr/>
          <a:lstStyle/>
          <a:p>
            <a:endParaRPr lang="en-CN"/>
          </a:p>
        </p:txBody>
      </p:sp>
      <p:sp>
        <p:nvSpPr>
          <p:cNvPr id="17" name="Shape 15"/>
          <p:cNvSpPr/>
          <p:nvPr>
            <p:custDataLst>
              <p:tags r:id="rId10"/>
            </p:custDataLst>
          </p:nvPr>
        </p:nvSpPr>
        <p:spPr>
          <a:xfrm>
            <a:off x="8881745" y="2814320"/>
            <a:ext cx="2494915" cy="960120"/>
          </a:xfrm>
          <a:prstGeom prst="roundRect">
            <a:avLst>
              <a:gd name="adj" fmla="val 5714"/>
            </a:avLst>
          </a:prstGeom>
          <a:solidFill>
            <a:srgbClr val="FFF8EC"/>
          </a:solidFill>
          <a:ln w="12700">
            <a:solidFill>
              <a:srgbClr val="D8E6F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8" name="Text 16"/>
              <p:cNvSpPr/>
              <p:nvPr>
                <p:custDataLst>
                  <p:tags r:id="rId11"/>
                </p:custDataLst>
              </p:nvPr>
            </p:nvSpPr>
            <p:spPr>
              <a:xfrm>
                <a:off x="9046210" y="2951480"/>
                <a:ext cx="2281555" cy="740410"/>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Next threshold </a:t>
                </a:r>
                <a14:m>
                  <m:oMath xmlns:m="http://schemas.openxmlformats.org/officeDocument/2006/math">
                    <m:r>
                      <m:rPr>
                        <m:sty m:val="p"/>
                      </m:rPr>
                      <a:rPr lang="en-US" dirty="0">
                        <a:solidFill>
                          <a:srgbClr val="111827"/>
                        </a:solidFill>
                        <a:latin typeface="Cambria Math" panose="02040503050406030204" pitchFamily="18" charset="0"/>
                        <a:ea typeface="Aptos" pitchFamily="34" charset="-122"/>
                        <a:cs typeface="Aptos" pitchFamily="34" charset="-120"/>
                      </a:rPr>
                      <m:t>v</m:t>
                    </m:r>
                    <m:r>
                      <a:rPr lang="en-US" dirty="0">
                        <a:solidFill>
                          <a:srgbClr val="111827"/>
                        </a:solidFill>
                        <a:latin typeface="Cambria Math" panose="02040503050406030204" pitchFamily="18" charset="0"/>
                        <a:ea typeface="Aptos" pitchFamily="34" charset="-122"/>
                        <a:cs typeface="Aptos" pitchFamily="34" charset="-120"/>
                      </a:rPr>
                      <m:t>(</m:t>
                    </m:r>
                    <m:sSub>
                      <m:sSubPr>
                        <m:ctrlPr>
                          <a:rPr lang="en-US" i="1" dirty="0">
                            <a:latin typeface="Cambria Math" panose="02040503050406030204" pitchFamily="18" charset="0"/>
                            <a:cs typeface="Cambria Math" panose="02040503050406030204" charset="0"/>
                          </a:rPr>
                        </m:ctrlPr>
                      </m:sSubPr>
                      <m:e>
                        <m:r>
                          <a:rPr lang="en-US" i="1" dirty="0">
                            <a:latin typeface="Cambria Math" panose="02040503050406030204" charset="0"/>
                            <a:cs typeface="Cambria Math" panose="02040503050406030204" charset="0"/>
                          </a:rPr>
                          <m:t>𝛽</m:t>
                        </m:r>
                      </m:e>
                      <m:sub>
                        <m:r>
                          <a:rPr lang="en-US" i="1" dirty="0">
                            <a:latin typeface="Cambria Math" panose="02040503050406030204" charset="0"/>
                            <a:cs typeface="Cambria Math" panose="02040503050406030204" charset="0"/>
                          </a:rPr>
                          <m:t>𝑘</m:t>
                        </m:r>
                        <m:r>
                          <a:rPr lang="en-US" i="1" dirty="0">
                            <a:latin typeface="Cambria Math" panose="02040503050406030204" charset="0"/>
                            <a:cs typeface="Cambria Math" panose="02040503050406030204" charset="0"/>
                          </a:rPr>
                          <m:t>+1</m:t>
                        </m:r>
                      </m:sub>
                    </m:sSub>
                  </m:oMath>
                </a14:m>
                <a:r>
                  <a:rPr lang="en-US" dirty="0"/>
                  <a:t>)</a:t>
                </a:r>
              </a:p>
            </p:txBody>
          </p:sp>
        </mc:Choice>
        <mc:Fallback xmlns="">
          <p:sp>
            <p:nvSpPr>
              <p:cNvPr id="18" name="Text 16"/>
              <p:cNvSpPr>
                <a:spLocks noRot="1" noChangeAspect="1" noMove="1" noResize="1" noEditPoints="1" noAdjustHandles="1" noChangeArrowheads="1" noChangeShapeType="1" noTextEdit="1"/>
              </p:cNvSpPr>
              <p:nvPr>
                <p:custDataLst>
                  <p:tags r:id="rId19"/>
                </p:custDataLst>
              </p:nvPr>
            </p:nvSpPr>
            <p:spPr>
              <a:xfrm>
                <a:off x="9046210" y="2951480"/>
                <a:ext cx="2281555" cy="740410"/>
              </a:xfrm>
              <a:prstGeom prst="rect">
                <a:avLst/>
              </a:prstGeom>
              <a:blipFill>
                <a:blip r:embed="rId20"/>
                <a:stretch>
                  <a:fillRect l="-6111" r="-3889"/>
                </a:stretch>
              </a:blipFill>
            </p:spPr>
            <p:txBody>
              <a:bodyPr/>
              <a:lstStyle/>
              <a:p>
                <a:r>
                  <a:rPr lang="en-CN">
                    <a:noFill/>
                  </a:rPr>
                  <a:t> </a:t>
                </a:r>
              </a:p>
            </p:txBody>
          </p:sp>
        </mc:Fallback>
      </mc:AlternateContent>
      <p:sp>
        <p:nvSpPr>
          <p:cNvPr id="24" name="Text 22"/>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7</a:t>
            </a:r>
            <a:endParaRPr lang="en-US" sz="880" dirty="0"/>
          </a:p>
        </p:txBody>
      </p:sp>
      <p:sp>
        <p:nvSpPr>
          <p:cNvPr id="4" name="Text 23">
            <a:extLst>
              <a:ext uri="{FF2B5EF4-FFF2-40B4-BE49-F238E27FC236}">
                <a16:creationId xmlns:a16="http://schemas.microsoft.com/office/drawing/2014/main" id="{AE33F267-0415-6A2D-A6DC-2CC9D4780E9F}"/>
              </a:ext>
            </a:extLst>
          </p:cNvPr>
          <p:cNvSpPr/>
          <p:nvPr>
            <p:custDataLst>
              <p:tags r:id="rId12"/>
            </p:custDataLst>
          </p:nvPr>
        </p:nvSpPr>
        <p:spPr>
          <a:xfrm>
            <a:off x="10017125" y="4330700"/>
            <a:ext cx="1718310" cy="702310"/>
          </a:xfrm>
          <a:prstGeom prst="rect">
            <a:avLst/>
          </a:prstGeom>
          <a:noFill/>
        </p:spPr>
        <p:txBody>
          <a:bodyPr wrap="square" lIns="0" tIns="0" rIns="0" bIns="0" rtlCol="0" anchor="ctr">
            <a:normAutofit/>
          </a:bodyPr>
          <a:lstStyle/>
          <a:p>
            <a:pPr marL="0" indent="0">
              <a:buNone/>
            </a:pPr>
            <a:endParaRPr lang="en-US" sz="1600" dirty="0">
              <a:solidFill>
                <a:srgbClr val="111827"/>
              </a:solidFill>
              <a:latin typeface="Aptos" pitchFamily="34" charset="0"/>
              <a:ea typeface="Aptos" pitchFamily="34" charset="-122"/>
              <a:cs typeface="Aptos" pitchFamily="34" charset="-120"/>
            </a:endParaRPr>
          </a:p>
        </p:txBody>
      </p:sp>
      <p:sp>
        <p:nvSpPr>
          <p:cNvPr id="5" name="TextBox 4">
            <a:extLst>
              <a:ext uri="{FF2B5EF4-FFF2-40B4-BE49-F238E27FC236}">
                <a16:creationId xmlns:a16="http://schemas.microsoft.com/office/drawing/2014/main" id="{3854B61E-EA77-62F1-A636-D344E20C351B}"/>
              </a:ext>
            </a:extLst>
          </p:cNvPr>
          <p:cNvSpPr txBox="1"/>
          <p:nvPr/>
        </p:nvSpPr>
        <p:spPr>
          <a:xfrm>
            <a:off x="9197933" y="4021221"/>
            <a:ext cx="2993762" cy="523220"/>
          </a:xfrm>
          <a:prstGeom prst="rect">
            <a:avLst/>
          </a:prstGeom>
          <a:noFill/>
        </p:spPr>
        <p:txBody>
          <a:bodyPr wrap="square" rtlCol="0">
            <a:spAutoFit/>
          </a:bodyPr>
          <a:lstStyle/>
          <a:p>
            <a:pPr algn="ctr"/>
            <a:r>
              <a:rPr lang="en-US" sz="1400" dirty="0"/>
              <a:t>Optimal threshold function</a:t>
            </a:r>
          </a:p>
          <a:p>
            <a:pPr algn="ctr"/>
            <a:r>
              <a:rPr lang="en-US" sz="1400" dirty="0"/>
              <a:t>Easy to compute</a:t>
            </a:r>
          </a:p>
        </p:txBody>
      </p:sp>
      <p:cxnSp>
        <p:nvCxnSpPr>
          <p:cNvPr id="23" name="Straight Arrow Connector 22">
            <a:extLst>
              <a:ext uri="{FF2B5EF4-FFF2-40B4-BE49-F238E27FC236}">
                <a16:creationId xmlns:a16="http://schemas.microsoft.com/office/drawing/2014/main" id="{38868F0B-49AD-13C1-7A6F-1A43B0B2694D}"/>
              </a:ext>
            </a:extLst>
          </p:cNvPr>
          <p:cNvCxnSpPr>
            <a:cxnSpLocks/>
          </p:cNvCxnSpPr>
          <p:nvPr/>
        </p:nvCxnSpPr>
        <p:spPr>
          <a:xfrm>
            <a:off x="10585519" y="3436112"/>
            <a:ext cx="0" cy="57480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cxnSp>
        <p:nvCxnSpPr>
          <p:cNvPr id="26" name="Straight Arrow Connector 25">
            <a:extLst>
              <a:ext uri="{FF2B5EF4-FFF2-40B4-BE49-F238E27FC236}">
                <a16:creationId xmlns:a16="http://schemas.microsoft.com/office/drawing/2014/main" id="{2B5A3A39-3A38-D1FB-4BE8-6F15D355A1CA}"/>
              </a:ext>
            </a:extLst>
          </p:cNvPr>
          <p:cNvCxnSpPr>
            <a:cxnSpLocks/>
          </p:cNvCxnSpPr>
          <p:nvPr/>
        </p:nvCxnSpPr>
        <p:spPr>
          <a:xfrm>
            <a:off x="3930719" y="3647333"/>
            <a:ext cx="0" cy="574802"/>
          </a:xfrm>
          <a:prstGeom prst="straightConnector1">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7" name="TextBox 26">
            <a:extLst>
              <a:ext uri="{FF2B5EF4-FFF2-40B4-BE49-F238E27FC236}">
                <a16:creationId xmlns:a16="http://schemas.microsoft.com/office/drawing/2014/main" id="{0FA319DC-F75B-D3FE-3652-388F6F2EE068}"/>
              </a:ext>
            </a:extLst>
          </p:cNvPr>
          <p:cNvSpPr txBox="1"/>
          <p:nvPr/>
        </p:nvSpPr>
        <p:spPr>
          <a:xfrm>
            <a:off x="2571700" y="4222135"/>
            <a:ext cx="3951020" cy="523220"/>
          </a:xfrm>
          <a:prstGeom prst="rect">
            <a:avLst/>
          </a:prstGeom>
          <a:noFill/>
        </p:spPr>
        <p:txBody>
          <a:bodyPr wrap="square" rtlCol="0">
            <a:spAutoFit/>
          </a:bodyPr>
          <a:lstStyle/>
          <a:p>
            <a:pPr algn="ctr"/>
            <a:r>
              <a:rPr lang="en-US" sz="1400" dirty="0"/>
              <a:t>Related works on online sampling: n=1</a:t>
            </a:r>
          </a:p>
          <a:p>
            <a:pPr algn="ctr"/>
            <a:r>
              <a:rPr lang="en-US" sz="1400" dirty="0"/>
              <a:t>Our work: n=1,2,…(5 is sufficient in simulation)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Algorithm 1: Robbins-Monro Online Sampling</a:t>
            </a:r>
          </a:p>
        </p:txBody>
      </p:sp>
      <p:sp>
        <p:nvSpPr>
          <p:cNvPr id="13" name="Shape 11"/>
          <p:cNvSpPr/>
          <p:nvPr>
            <p:custDataLst>
              <p:tags r:id="rId1"/>
            </p:custDataLst>
          </p:nvPr>
        </p:nvSpPr>
        <p:spPr>
          <a:xfrm>
            <a:off x="6711188" y="1141095"/>
            <a:ext cx="1874520" cy="1828800"/>
          </a:xfrm>
          <a:prstGeom prst="roundRect">
            <a:avLst>
              <a:gd name="adj" fmla="val 3000"/>
            </a:avLst>
          </a:prstGeom>
          <a:solidFill>
            <a:srgbClr val="FFFFFF"/>
          </a:solidFill>
          <a:ln w="12700">
            <a:solidFill>
              <a:srgbClr val="D8E6FA"/>
            </a:solidFill>
            <a:prstDash val="solid"/>
          </a:ln>
        </p:spPr>
        <p:txBody>
          <a:bodyPr/>
          <a:lstStyle/>
          <a:p>
            <a:endParaRPr lang="en-CN"/>
          </a:p>
        </p:txBody>
      </p:sp>
      <p:sp>
        <p:nvSpPr>
          <p:cNvPr id="14" name="Text 12"/>
          <p:cNvSpPr/>
          <p:nvPr>
            <p:custDataLst>
              <p:tags r:id="rId2"/>
            </p:custDataLst>
          </p:nvPr>
        </p:nvSpPr>
        <p:spPr>
          <a:xfrm>
            <a:off x="6701790" y="1704340"/>
            <a:ext cx="1884045" cy="255905"/>
          </a:xfrm>
          <a:prstGeom prst="rect">
            <a:avLst/>
          </a:prstGeom>
          <a:noFill/>
        </p:spPr>
        <p:txBody>
          <a:bodyPr wrap="square" lIns="0" tIns="0" rIns="0" bIns="0" rtlCol="0" anchor="ctr"/>
          <a:lstStyle/>
          <a:p>
            <a:pPr marL="0" indent="0">
              <a:buNone/>
            </a:pPr>
            <a:r>
              <a:rPr lang="en-US" sz="2000" b="1" dirty="0">
                <a:solidFill>
                  <a:srgbClr val="F26B38"/>
                </a:solidFill>
                <a:latin typeface="Aptos Display" pitchFamily="34" charset="0"/>
                <a:ea typeface="Aptos Display" pitchFamily="34" charset="-122"/>
                <a:cs typeface="Aptos Display" pitchFamily="34" charset="-120"/>
              </a:rPr>
              <a:t>Threshold solve</a:t>
            </a:r>
          </a:p>
        </p:txBody>
      </p:sp>
      <mc:AlternateContent xmlns:mc="http://schemas.openxmlformats.org/markup-compatibility/2006" xmlns:a14="http://schemas.microsoft.com/office/drawing/2010/main">
        <mc:Choice Requires="a14">
          <p:sp>
            <p:nvSpPr>
              <p:cNvPr id="15" name="Text 13"/>
              <p:cNvSpPr/>
              <p:nvPr>
                <p:custDataLst>
                  <p:tags r:id="rId3"/>
                </p:custDataLst>
              </p:nvPr>
            </p:nvSpPr>
            <p:spPr>
              <a:xfrm>
                <a:off x="6803390" y="2112010"/>
                <a:ext cx="1721485" cy="756920"/>
              </a:xfrm>
              <a:prstGeom prst="rect">
                <a:avLst/>
              </a:prstGeom>
              <a:noFill/>
            </p:spPr>
            <p:txBody>
              <a:bodyPr wrap="square" lIns="0" tIns="0" rIns="0" bIns="0" rtlCol="0" anchor="ctr">
                <a:noAutofit/>
              </a:bodyPr>
              <a:lstStyle/>
              <a:p>
                <a:pPr marL="0" indent="0">
                  <a:buNone/>
                </a:pPr>
                <a:r>
                  <a:rPr lang="en-US" sz="1600" dirty="0">
                    <a:solidFill>
                      <a:srgbClr val="111827"/>
                    </a:solidFill>
                    <a:latin typeface="Aptos" pitchFamily="34" charset="0"/>
                    <a:ea typeface="Aptos" pitchFamily="34" charset="-122"/>
                    <a:cs typeface="Aptos" pitchFamily="34" charset="-120"/>
                  </a:rPr>
                  <a:t>compute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𝑣</m:t>
                        </m:r>
                      </m:e>
                      <m:sub>
                        <m:r>
                          <a:rPr lang="en-US" sz="1600" i="1" dirty="0">
                            <a:latin typeface="Cambria Math" panose="02040503050406030204" charset="0"/>
                            <a:cs typeface="Cambria Math" panose="02040503050406030204" charset="0"/>
                          </a:rPr>
                          <m:t>𝑗</m:t>
                        </m:r>
                      </m:sub>
                    </m:sSub>
                  </m:oMath>
                </a14:m>
                <a:r>
                  <a:rPr lang="en-US" sz="1600" dirty="0">
                    <a:solidFill>
                      <a:srgbClr val="111827"/>
                    </a:solidFill>
                    <a:latin typeface="Aptos" pitchFamily="34" charset="0"/>
                    <a:ea typeface="Aptos" pitchFamily="34" charset="-122"/>
                    <a:cs typeface="Aptos" pitchFamily="34" charset="-120"/>
                  </a:rPr>
                  <a:t>(</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𝛽</m:t>
                        </m:r>
                      </m:e>
                      <m:sub>
                        <m:r>
                          <a:rPr lang="en-US" sz="1600" i="1" dirty="0">
                            <a:latin typeface="Cambria Math" panose="02040503050406030204" charset="0"/>
                            <a:cs typeface="Cambria Math" panose="02040503050406030204" charset="0"/>
                          </a:rPr>
                          <m:t>𝑘</m:t>
                        </m:r>
                      </m:sub>
                    </m:sSub>
                  </m:oMath>
                </a14:m>
                <a:r>
                  <a:rPr lang="en-US" sz="1600" dirty="0">
                    <a:solidFill>
                      <a:srgbClr val="111827"/>
                    </a:solidFill>
                    <a:latin typeface="Aptos" pitchFamily="34" charset="0"/>
                    <a:ea typeface="Aptos" pitchFamily="34" charset="-122"/>
                    <a:cs typeface="Aptos" pitchFamily="34" charset="-120"/>
                  </a:rPr>
                  <a:t>) and waiting time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𝜏</m:t>
                        </m:r>
                      </m:e>
                      <m:sub>
                        <m:r>
                          <a:rPr lang="en-US" sz="1600" i="1" dirty="0">
                            <a:latin typeface="Cambria Math" panose="02040503050406030204" charset="0"/>
                            <a:cs typeface="Cambria Math" panose="02040503050406030204" charset="0"/>
                          </a:rPr>
                          <m:t>𝑘</m:t>
                        </m:r>
                        <m:r>
                          <a:rPr lang="en-US" sz="1600" i="1" dirty="0">
                            <a:latin typeface="Cambria Math" panose="02040503050406030204" charset="0"/>
                            <a:cs typeface="Cambria Math" panose="02040503050406030204" charset="0"/>
                          </a:rPr>
                          <m:t>,</m:t>
                        </m:r>
                        <m:r>
                          <a:rPr lang="en-US" sz="1600" i="1" dirty="0">
                            <a:latin typeface="Cambria Math" panose="02040503050406030204" charset="0"/>
                            <a:cs typeface="Cambria Math" panose="02040503050406030204" charset="0"/>
                          </a:rPr>
                          <m:t>𝑗</m:t>
                        </m:r>
                      </m:sub>
                    </m:sSub>
                  </m:oMath>
                </a14:m>
                <a:endParaRPr lang="en-US" sz="1600" dirty="0">
                  <a:solidFill>
                    <a:srgbClr val="111827"/>
                  </a:solidFill>
                  <a:latin typeface="Aptos" pitchFamily="34" charset="0"/>
                  <a:ea typeface="Aptos" pitchFamily="34" charset="-122"/>
                  <a:cs typeface="Aptos" pitchFamily="34" charset="-120"/>
                </a:endParaRPr>
              </a:p>
            </p:txBody>
          </p:sp>
        </mc:Choice>
        <mc:Fallback xmlns="">
          <p:sp>
            <p:nvSpPr>
              <p:cNvPr id="15" name="Text 13"/>
              <p:cNvSpPr>
                <a:spLocks noRot="1" noChangeAspect="1" noMove="1" noResize="1" noEditPoints="1" noAdjustHandles="1" noChangeArrowheads="1" noChangeShapeType="1" noTextEdit="1"/>
              </p:cNvSpPr>
              <p:nvPr>
                <p:custDataLst>
                  <p:tags r:id="rId23"/>
                </p:custDataLst>
              </p:nvPr>
            </p:nvSpPr>
            <p:spPr>
              <a:xfrm>
                <a:off x="6803390" y="2112010"/>
                <a:ext cx="1721485" cy="756920"/>
              </a:xfrm>
              <a:prstGeom prst="rect">
                <a:avLst/>
              </a:prstGeom>
              <a:blipFill>
                <a:blip r:embed="rId24"/>
                <a:stretch>
                  <a:fillRect l="-6569" r="-8759"/>
                </a:stretch>
              </a:blipFill>
            </p:spPr>
            <p:txBody>
              <a:bodyPr/>
              <a:lstStyle/>
              <a:p>
                <a:r>
                  <a:rPr lang="en-CN">
                    <a:noFill/>
                  </a:rPr>
                  <a:t> </a:t>
                </a:r>
              </a:p>
            </p:txBody>
          </p:sp>
        </mc:Fallback>
      </mc:AlternateContent>
      <p:sp>
        <p:nvSpPr>
          <p:cNvPr id="16" name="Text 14"/>
          <p:cNvSpPr/>
          <p:nvPr>
            <p:custDataLst>
              <p:tags r:id="rId4"/>
            </p:custDataLst>
          </p:nvPr>
        </p:nvSpPr>
        <p:spPr>
          <a:xfrm>
            <a:off x="6820916" y="1250823"/>
            <a:ext cx="347472" cy="301752"/>
          </a:xfrm>
          <a:prstGeom prst="rect">
            <a:avLst/>
          </a:prstGeom>
          <a:solidFill>
            <a:srgbClr val="F26B38"/>
          </a:solidFill>
          <a:ln>
            <a:solidFill>
              <a:srgbClr val="F26B38"/>
            </a:solidFill>
          </a:ln>
        </p:spPr>
        <p:txBody>
          <a:bodyPr wrap="square" lIns="0" tIns="0" rIns="0" bIns="0" rtlCol="0" anchor="ctr"/>
          <a:lstStyle/>
          <a:p>
            <a:pPr marL="0" indent="0" algn="ctr">
              <a:buNone/>
            </a:pPr>
            <a:r>
              <a:rPr lang="en-US" sz="1100" b="1" dirty="0">
                <a:solidFill>
                  <a:srgbClr val="FFFFFF"/>
                </a:solidFill>
                <a:latin typeface="Aptos Display" pitchFamily="34" charset="0"/>
              </a:rPr>
              <a:t>1</a:t>
            </a:r>
            <a:endParaRPr lang="en-US" sz="1100" dirty="0"/>
          </a:p>
        </p:txBody>
      </p:sp>
      <p:sp>
        <p:nvSpPr>
          <p:cNvPr id="17" name="Shape 15"/>
          <p:cNvSpPr/>
          <p:nvPr>
            <p:custDataLst>
              <p:tags r:id="rId5"/>
            </p:custDataLst>
          </p:nvPr>
        </p:nvSpPr>
        <p:spPr>
          <a:xfrm>
            <a:off x="8585708" y="1890903"/>
            <a:ext cx="384048" cy="228600"/>
          </a:xfrm>
          <a:prstGeom prst="rightArrow">
            <a:avLst/>
          </a:prstGeom>
          <a:solidFill>
            <a:srgbClr val="CBD3DF"/>
          </a:solidFill>
          <a:ln w="12700">
            <a:solidFill>
              <a:srgbClr val="CBD3DF"/>
            </a:solidFill>
            <a:prstDash val="solid"/>
          </a:ln>
        </p:spPr>
        <p:txBody>
          <a:bodyPr/>
          <a:lstStyle/>
          <a:p>
            <a:endParaRPr lang="en-CN"/>
          </a:p>
        </p:txBody>
      </p:sp>
      <p:sp>
        <p:nvSpPr>
          <p:cNvPr id="18" name="Shape 16"/>
          <p:cNvSpPr/>
          <p:nvPr>
            <p:custDataLst>
              <p:tags r:id="rId6"/>
            </p:custDataLst>
          </p:nvPr>
        </p:nvSpPr>
        <p:spPr>
          <a:xfrm>
            <a:off x="8969756" y="1141095"/>
            <a:ext cx="1874520" cy="1828800"/>
          </a:xfrm>
          <a:prstGeom prst="roundRect">
            <a:avLst>
              <a:gd name="adj" fmla="val 3000"/>
            </a:avLst>
          </a:prstGeom>
          <a:solidFill>
            <a:srgbClr val="F4F8FF"/>
          </a:solidFill>
          <a:ln w="12700">
            <a:solidFill>
              <a:srgbClr val="D8E6FA"/>
            </a:solidFill>
            <a:prstDash val="solid"/>
          </a:ln>
        </p:spPr>
        <p:txBody>
          <a:bodyPr/>
          <a:lstStyle/>
          <a:p>
            <a:endParaRPr lang="en-CN"/>
          </a:p>
        </p:txBody>
      </p:sp>
      <p:sp>
        <p:nvSpPr>
          <p:cNvPr id="19" name="Text 17"/>
          <p:cNvSpPr/>
          <p:nvPr>
            <p:custDataLst>
              <p:tags r:id="rId7"/>
            </p:custDataLst>
          </p:nvPr>
        </p:nvSpPr>
        <p:spPr>
          <a:xfrm>
            <a:off x="9079230" y="1719580"/>
            <a:ext cx="1680845" cy="255905"/>
          </a:xfrm>
          <a:prstGeom prst="rect">
            <a:avLst/>
          </a:prstGeom>
          <a:noFill/>
        </p:spPr>
        <p:txBody>
          <a:bodyPr wrap="square" lIns="0" tIns="0" rIns="0" bIns="0" rtlCol="0" anchor="ctr"/>
          <a:lstStyle/>
          <a:p>
            <a:pPr marL="0" indent="0">
              <a:buNone/>
            </a:pPr>
            <a:r>
              <a:rPr lang="en-US" sz="2000" b="1" dirty="0">
                <a:solidFill>
                  <a:srgbClr val="2BB673"/>
                </a:solidFill>
                <a:latin typeface="Aptos Display" pitchFamily="34" charset="0"/>
                <a:ea typeface="Aptos Display" pitchFamily="34" charset="-122"/>
                <a:cs typeface="Aptos Display" pitchFamily="34" charset="-120"/>
              </a:rPr>
              <a:t>Trajectory</a:t>
            </a:r>
          </a:p>
        </p:txBody>
      </p:sp>
      <p:sp>
        <p:nvSpPr>
          <p:cNvPr id="20" name="Text 18"/>
          <p:cNvSpPr/>
          <p:nvPr>
            <p:custDataLst>
              <p:tags r:id="rId8"/>
            </p:custDataLst>
          </p:nvPr>
        </p:nvSpPr>
        <p:spPr>
          <a:xfrm>
            <a:off x="8996680" y="2192655"/>
            <a:ext cx="1839595" cy="676275"/>
          </a:xfrm>
          <a:prstGeom prst="rect">
            <a:avLst/>
          </a:prstGeom>
          <a:noFill/>
        </p:spPr>
        <p:txBody>
          <a:bodyPr wrap="square" lIns="0" tIns="0" rIns="0" bIns="0" rtlCol="0" anchor="ctr">
            <a:noAutofit/>
          </a:bodyPr>
          <a:lstStyle/>
          <a:p>
            <a:pPr marL="0" indent="0">
              <a:buNone/>
            </a:pPr>
            <a:r>
              <a:rPr lang="en-US" sz="1600" dirty="0">
                <a:solidFill>
                  <a:srgbClr val="111827"/>
                </a:solidFill>
                <a:latin typeface="Aptos" pitchFamily="34" charset="0"/>
                <a:ea typeface="Aptos" pitchFamily="34" charset="-122"/>
                <a:cs typeface="Aptos" pitchFamily="34" charset="-120"/>
              </a:rPr>
              <a:t>observe random delay and Wiener increment</a:t>
            </a:r>
          </a:p>
        </p:txBody>
      </p:sp>
      <p:sp>
        <p:nvSpPr>
          <p:cNvPr id="21" name="Text 19"/>
          <p:cNvSpPr/>
          <p:nvPr>
            <p:custDataLst>
              <p:tags r:id="rId9"/>
            </p:custDataLst>
          </p:nvPr>
        </p:nvSpPr>
        <p:spPr>
          <a:xfrm>
            <a:off x="9079484" y="1250823"/>
            <a:ext cx="347472" cy="301752"/>
          </a:xfrm>
          <a:prstGeom prst="rect">
            <a:avLst/>
          </a:prstGeom>
          <a:solidFill>
            <a:srgbClr val="2BB673"/>
          </a:solidFill>
          <a:ln>
            <a:solidFill>
              <a:srgbClr val="2BB673"/>
            </a:solidFill>
          </a:ln>
        </p:spPr>
        <p:txBody>
          <a:bodyPr wrap="square" lIns="0" tIns="0" rIns="0" bIns="0" rtlCol="0" anchor="ctr"/>
          <a:lstStyle/>
          <a:p>
            <a:pPr marL="0" indent="0" algn="ctr">
              <a:buNone/>
            </a:pPr>
            <a:r>
              <a:rPr lang="en-US" sz="1100" b="1" dirty="0">
                <a:solidFill>
                  <a:srgbClr val="FFFFFF"/>
                </a:solidFill>
                <a:latin typeface="Aptos Display" pitchFamily="34" charset="0"/>
              </a:rPr>
              <a:t>2</a:t>
            </a:r>
            <a:endParaRPr lang="en-US" sz="1100" dirty="0"/>
          </a:p>
        </p:txBody>
      </p:sp>
      <p:sp>
        <p:nvSpPr>
          <p:cNvPr id="22" name="Shape 20"/>
          <p:cNvSpPr/>
          <p:nvPr>
            <p:custDataLst>
              <p:tags r:id="rId10"/>
            </p:custDataLst>
          </p:nvPr>
        </p:nvSpPr>
        <p:spPr>
          <a:xfrm rot="5400000">
            <a:off x="9709531" y="3048508"/>
            <a:ext cx="384048" cy="228600"/>
          </a:xfrm>
          <a:prstGeom prst="rightArrow">
            <a:avLst/>
          </a:prstGeom>
          <a:solidFill>
            <a:srgbClr val="CBD3DF"/>
          </a:solidFill>
          <a:ln w="12700">
            <a:solidFill>
              <a:srgbClr val="CBD3DF"/>
            </a:solidFill>
            <a:prstDash val="solid"/>
          </a:ln>
        </p:spPr>
        <p:txBody>
          <a:bodyPr/>
          <a:lstStyle/>
          <a:p>
            <a:endParaRPr lang="en-CN"/>
          </a:p>
        </p:txBody>
      </p:sp>
      <p:sp>
        <p:nvSpPr>
          <p:cNvPr id="23" name="Shape 21"/>
          <p:cNvSpPr/>
          <p:nvPr>
            <p:custDataLst>
              <p:tags r:id="rId11"/>
            </p:custDataLst>
          </p:nvPr>
        </p:nvSpPr>
        <p:spPr>
          <a:xfrm>
            <a:off x="8982075" y="3323590"/>
            <a:ext cx="1874520" cy="1725930"/>
          </a:xfrm>
          <a:prstGeom prst="roundRect">
            <a:avLst>
              <a:gd name="adj" fmla="val 3000"/>
            </a:avLst>
          </a:prstGeom>
          <a:solidFill>
            <a:srgbClr val="FFFFFF"/>
          </a:solidFill>
          <a:ln w="12700">
            <a:solidFill>
              <a:srgbClr val="D8E6FA"/>
            </a:solidFill>
            <a:prstDash val="solid"/>
          </a:ln>
        </p:spPr>
        <p:txBody>
          <a:bodyPr/>
          <a:lstStyle/>
          <a:p>
            <a:endParaRPr lang="en-CN"/>
          </a:p>
        </p:txBody>
      </p:sp>
      <p:sp>
        <p:nvSpPr>
          <p:cNvPr id="24" name="Text 22"/>
          <p:cNvSpPr/>
          <p:nvPr>
            <p:custDataLst>
              <p:tags r:id="rId12"/>
            </p:custDataLst>
          </p:nvPr>
        </p:nvSpPr>
        <p:spPr>
          <a:xfrm>
            <a:off x="9071991" y="3783076"/>
            <a:ext cx="1545336" cy="256032"/>
          </a:xfrm>
          <a:prstGeom prst="rect">
            <a:avLst/>
          </a:prstGeom>
          <a:noFill/>
        </p:spPr>
        <p:txBody>
          <a:bodyPr wrap="square" lIns="0" tIns="0" rIns="0" bIns="0" rtlCol="0" anchor="ctr"/>
          <a:lstStyle/>
          <a:p>
            <a:pPr marL="0" indent="0">
              <a:buNone/>
            </a:pPr>
            <a:r>
              <a:rPr lang="en-US" sz="2000" b="1" dirty="0">
                <a:solidFill>
                  <a:srgbClr val="C83F49"/>
                </a:solidFill>
                <a:latin typeface="Aptos Display" pitchFamily="34" charset="0"/>
                <a:ea typeface="Aptos Display" pitchFamily="34" charset="-122"/>
                <a:cs typeface="Aptos Display" pitchFamily="34" charset="-120"/>
              </a:rPr>
              <a:t>RM update</a:t>
            </a:r>
          </a:p>
        </p:txBody>
      </p:sp>
      <mc:AlternateContent xmlns:mc="http://schemas.openxmlformats.org/markup-compatibility/2006" xmlns:a14="http://schemas.microsoft.com/office/drawing/2010/main">
        <mc:Choice Requires="a14">
          <p:sp>
            <p:nvSpPr>
              <p:cNvPr id="25" name="Text 23"/>
              <p:cNvSpPr/>
              <p:nvPr>
                <p:custDataLst>
                  <p:tags r:id="rId13"/>
                </p:custDataLst>
              </p:nvPr>
            </p:nvSpPr>
            <p:spPr>
              <a:xfrm>
                <a:off x="9041765" y="4198620"/>
                <a:ext cx="1718310" cy="702310"/>
              </a:xfrm>
              <a:prstGeom prst="rect">
                <a:avLst/>
              </a:prstGeom>
              <a:noFill/>
            </p:spPr>
            <p:txBody>
              <a:bodyPr wrap="square" lIns="0" tIns="0" rIns="0" bIns="0" rtlCol="0" anchor="ctr">
                <a:normAutofit/>
              </a:bodyPr>
              <a:lstStyle/>
              <a:p>
                <a:pPr marL="0" indent="0">
                  <a:buNone/>
                </a:pP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𝛽</m:t>
                        </m:r>
                      </m:e>
                      <m:sub>
                        <m:r>
                          <a:rPr lang="en-US" sz="1600" i="1" dirty="0">
                            <a:latin typeface="Cambria Math" panose="02040503050406030204" charset="0"/>
                            <a:cs typeface="Cambria Math" panose="02040503050406030204" charset="0"/>
                          </a:rPr>
                          <m:t>𝑘</m:t>
                        </m:r>
                        <m:r>
                          <a:rPr lang="en-US" sz="1600" i="1" dirty="0">
                            <a:latin typeface="Cambria Math" panose="02040503050406030204" charset="0"/>
                            <a:cs typeface="Cambria Math" panose="02040503050406030204" charset="0"/>
                          </a:rPr>
                          <m:t>+1</m:t>
                        </m:r>
                      </m:sub>
                    </m:sSub>
                  </m:oMath>
                </a14:m>
                <a:r>
                  <a:rPr lang="en-US" sz="1600" dirty="0">
                    <a:solidFill>
                      <a:srgbClr val="111827"/>
                    </a:solidFill>
                    <a:latin typeface="Aptos" pitchFamily="34" charset="0"/>
                    <a:ea typeface="Aptos" pitchFamily="34" charset="-122"/>
                    <a:cs typeface="Aptos" pitchFamily="34" charset="-120"/>
                  </a:rPr>
                  <a:t> =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𝛽</m:t>
                        </m:r>
                      </m:e>
                      <m:sub>
                        <m:r>
                          <a:rPr lang="en-US" sz="1600" i="1" dirty="0">
                            <a:latin typeface="Cambria Math" panose="02040503050406030204" charset="0"/>
                            <a:cs typeface="Cambria Math" panose="02040503050406030204" charset="0"/>
                          </a:rPr>
                          <m:t>𝑘</m:t>
                        </m:r>
                      </m:sub>
                    </m:sSub>
                  </m:oMath>
                </a14:m>
                <a:r>
                  <a:rPr lang="en-US" sz="1600" dirty="0">
                    <a:solidFill>
                      <a:srgbClr val="111827"/>
                    </a:solidFill>
                    <a:latin typeface="Aptos" pitchFamily="34" charset="0"/>
                    <a:ea typeface="Aptos" pitchFamily="34" charset="-122"/>
                    <a:cs typeface="Aptos" pitchFamily="34" charset="-120"/>
                  </a:rPr>
                  <a:t> +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𝜂</m:t>
                        </m:r>
                      </m:e>
                      <m:sub>
                        <m:r>
                          <a:rPr lang="en-US" sz="1600" i="1" dirty="0">
                            <a:latin typeface="Cambria Math" panose="02040503050406030204" charset="0"/>
                            <a:cs typeface="Cambria Math" panose="02040503050406030204" charset="0"/>
                          </a:rPr>
                          <m:t>𝑘</m:t>
                        </m:r>
                      </m:sub>
                    </m:sSub>
                  </m:oMath>
                </a14:m>
                <a:r>
                  <a:rPr lang="en-US" sz="1600" dirty="0">
                    <a:solidFill>
                      <a:srgbClr val="111827"/>
                    </a:solidFill>
                    <a:latin typeface="Aptos" pitchFamily="34" charset="0"/>
                    <a:ea typeface="Aptos" pitchFamily="34" charset="-122"/>
                    <a:cs typeface="Aptos" pitchFamily="34" charset="-120"/>
                  </a:rPr>
                  <a:t> </a:t>
                </a:r>
                <a14:m>
                  <m:oMath xmlns:m="http://schemas.openxmlformats.org/officeDocument/2006/math">
                    <m:r>
                      <a:rPr lang="en-US" sz="1600" i="1" dirty="0">
                        <a:latin typeface="Cambria Math" panose="02040503050406030204" charset="0"/>
                        <a:cs typeface="Cambria Math" panose="02040503050406030204" charset="0"/>
                      </a:rPr>
                      <m:t>𝑋</m:t>
                    </m:r>
                  </m:oMath>
                </a14:m>
                <a:endParaRPr lang="en-US" sz="1600" dirty="0">
                  <a:solidFill>
                    <a:srgbClr val="111827"/>
                  </a:solidFill>
                  <a:latin typeface="Aptos" pitchFamily="34" charset="0"/>
                  <a:ea typeface="Aptos" pitchFamily="34" charset="-122"/>
                  <a:cs typeface="Aptos" pitchFamily="34" charset="-120"/>
                </a:endParaRPr>
              </a:p>
            </p:txBody>
          </p:sp>
        </mc:Choice>
        <mc:Fallback xmlns="">
          <p:sp>
            <p:nvSpPr>
              <p:cNvPr id="25" name="Text 23"/>
              <p:cNvSpPr>
                <a:spLocks noRot="1" noChangeAspect="1" noMove="1" noResize="1" noEditPoints="1" noAdjustHandles="1" noChangeArrowheads="1" noChangeShapeType="1" noTextEdit="1"/>
              </p:cNvSpPr>
              <p:nvPr>
                <p:custDataLst>
                  <p:tags r:id="rId25"/>
                </p:custDataLst>
              </p:nvPr>
            </p:nvSpPr>
            <p:spPr>
              <a:xfrm>
                <a:off x="9041765" y="4198620"/>
                <a:ext cx="1718310" cy="702310"/>
              </a:xfrm>
              <a:prstGeom prst="rect">
                <a:avLst/>
              </a:prstGeom>
              <a:blipFill>
                <a:blip r:embed="rId26"/>
                <a:stretch>
                  <a:fillRect l="-5109"/>
                </a:stretch>
              </a:blipFill>
            </p:spPr>
            <p:txBody>
              <a:bodyPr/>
              <a:lstStyle/>
              <a:p>
                <a:r>
                  <a:rPr lang="en-CN">
                    <a:noFill/>
                  </a:rPr>
                  <a:t> </a:t>
                </a:r>
              </a:p>
            </p:txBody>
          </p:sp>
        </mc:Fallback>
      </mc:AlternateContent>
      <p:sp>
        <p:nvSpPr>
          <p:cNvPr id="26" name="Text 24"/>
          <p:cNvSpPr/>
          <p:nvPr>
            <p:custDataLst>
              <p:tags r:id="rId14"/>
            </p:custDataLst>
          </p:nvPr>
        </p:nvSpPr>
        <p:spPr>
          <a:xfrm>
            <a:off x="9092057" y="3433318"/>
            <a:ext cx="347472" cy="301752"/>
          </a:xfrm>
          <a:prstGeom prst="rect">
            <a:avLst/>
          </a:prstGeom>
          <a:solidFill>
            <a:srgbClr val="C83F49"/>
          </a:solidFill>
          <a:ln>
            <a:solidFill>
              <a:srgbClr val="C83F49"/>
            </a:solidFill>
          </a:ln>
        </p:spPr>
        <p:txBody>
          <a:bodyPr wrap="square" lIns="0" tIns="0" rIns="0" bIns="0" rtlCol="0" anchor="ctr"/>
          <a:lstStyle/>
          <a:p>
            <a:pPr marL="0" indent="0" algn="ctr">
              <a:buNone/>
            </a:pPr>
            <a:r>
              <a:rPr lang="en-US" sz="1100" b="1" dirty="0">
                <a:solidFill>
                  <a:srgbClr val="FFFFFF"/>
                </a:solidFill>
                <a:latin typeface="Aptos Display" pitchFamily="34" charset="0"/>
              </a:rPr>
              <a:t>3</a:t>
            </a:r>
            <a:endParaRPr lang="en-US" sz="1100" dirty="0"/>
          </a:p>
        </p:txBody>
      </p:sp>
      <p:sp>
        <p:nvSpPr>
          <p:cNvPr id="27" name="Shape 25"/>
          <p:cNvSpPr/>
          <p:nvPr>
            <p:custDataLst>
              <p:tags r:id="rId15"/>
            </p:custDataLst>
          </p:nvPr>
        </p:nvSpPr>
        <p:spPr>
          <a:xfrm flipH="1">
            <a:off x="8543544" y="3979418"/>
            <a:ext cx="384048" cy="228600"/>
          </a:xfrm>
          <a:prstGeom prst="rightArrow">
            <a:avLst/>
          </a:prstGeom>
          <a:solidFill>
            <a:srgbClr val="CBD3DF"/>
          </a:solidFill>
          <a:ln w="12700">
            <a:solidFill>
              <a:srgbClr val="CBD3DF"/>
            </a:solidFill>
            <a:prstDash val="solid"/>
          </a:ln>
        </p:spPr>
        <p:txBody>
          <a:bodyPr/>
          <a:lstStyle/>
          <a:p>
            <a:endParaRPr lang="en-CN"/>
          </a:p>
        </p:txBody>
      </p:sp>
      <p:sp>
        <p:nvSpPr>
          <p:cNvPr id="28" name="Shape 26"/>
          <p:cNvSpPr/>
          <p:nvPr>
            <p:custDataLst>
              <p:tags r:id="rId16"/>
            </p:custDataLst>
          </p:nvPr>
        </p:nvSpPr>
        <p:spPr>
          <a:xfrm>
            <a:off x="6656705" y="3323590"/>
            <a:ext cx="1874520" cy="1724660"/>
          </a:xfrm>
          <a:prstGeom prst="roundRect">
            <a:avLst>
              <a:gd name="adj" fmla="val 3000"/>
            </a:avLst>
          </a:prstGeom>
          <a:solidFill>
            <a:srgbClr val="F4F8FF"/>
          </a:solidFill>
          <a:ln w="12700">
            <a:solidFill>
              <a:srgbClr val="D8E6FA"/>
            </a:solidFill>
            <a:prstDash val="solid"/>
          </a:ln>
        </p:spPr>
        <p:txBody>
          <a:bodyPr/>
          <a:lstStyle/>
          <a:p>
            <a:endParaRPr lang="en-CN"/>
          </a:p>
        </p:txBody>
      </p:sp>
      <p:sp>
        <p:nvSpPr>
          <p:cNvPr id="29" name="Text 27"/>
          <p:cNvSpPr/>
          <p:nvPr>
            <p:custDataLst>
              <p:tags r:id="rId17"/>
            </p:custDataLst>
          </p:nvPr>
        </p:nvSpPr>
        <p:spPr>
          <a:xfrm>
            <a:off x="6686550" y="3756660"/>
            <a:ext cx="1995170" cy="322580"/>
          </a:xfrm>
          <a:prstGeom prst="rect">
            <a:avLst/>
          </a:prstGeom>
          <a:noFill/>
        </p:spPr>
        <p:txBody>
          <a:bodyPr wrap="square" lIns="0" tIns="0" rIns="0" bIns="0" rtlCol="0" anchor="ctr"/>
          <a:lstStyle/>
          <a:p>
            <a:pPr marL="0" indent="0">
              <a:buNone/>
            </a:pPr>
            <a:r>
              <a:rPr lang="en-US" sz="2000" b="1" dirty="0">
                <a:solidFill>
                  <a:srgbClr val="58616D"/>
                </a:solidFill>
                <a:latin typeface="Aptos Display" pitchFamily="34" charset="0"/>
                <a:ea typeface="Aptos Display" pitchFamily="34" charset="-122"/>
                <a:cs typeface="Aptos Display" pitchFamily="34" charset="-120"/>
              </a:rPr>
              <a:t>Budget update</a:t>
            </a:r>
          </a:p>
        </p:txBody>
      </p:sp>
      <mc:AlternateContent xmlns:mc="http://schemas.openxmlformats.org/markup-compatibility/2006" xmlns:a14="http://schemas.microsoft.com/office/drawing/2010/main">
        <mc:Choice Requires="a14">
          <p:sp>
            <p:nvSpPr>
              <p:cNvPr id="30" name="Text 28"/>
              <p:cNvSpPr/>
              <p:nvPr>
                <p:custDataLst>
                  <p:tags r:id="rId18"/>
                </p:custDataLst>
              </p:nvPr>
            </p:nvSpPr>
            <p:spPr>
              <a:xfrm>
                <a:off x="6694170" y="4142740"/>
                <a:ext cx="1784350" cy="908685"/>
              </a:xfrm>
              <a:prstGeom prst="rect">
                <a:avLst/>
              </a:prstGeom>
              <a:noFill/>
            </p:spPr>
            <p:txBody>
              <a:bodyPr wrap="square" lIns="0" tIns="0" rIns="0" bIns="0" rtlCol="0" anchor="ctr">
                <a:normAutofit/>
              </a:bodyPr>
              <a:lstStyle/>
              <a:p>
                <a:pPr marL="0" indent="0">
                  <a:buNone/>
                </a:pPr>
                <a:r>
                  <a:rPr lang="en-US" sz="1600" dirty="0">
                    <a:solidFill>
                      <a:srgbClr val="111827"/>
                    </a:solidFill>
                    <a:latin typeface="Aptos" pitchFamily="34" charset="0"/>
                    <a:ea typeface="Aptos" pitchFamily="34" charset="-122"/>
                    <a:cs typeface="Aptos" pitchFamily="34" charset="-120"/>
                  </a:rPr>
                  <a:t>update </a:t>
                </a: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ea typeface="MS Mincho" charset="0"/>
                            <a:cs typeface="Cambria Math" panose="02040503050406030204" charset="0"/>
                          </a:rPr>
                          <m:t>𝑉</m:t>
                        </m:r>
                      </m:e>
                      <m:sub>
                        <m:r>
                          <a:rPr lang="en-US" sz="1600" i="1" dirty="0">
                            <a:latin typeface="Cambria Math" panose="02040503050406030204" charset="0"/>
                            <a:cs typeface="Cambria Math" panose="02040503050406030204" charset="0"/>
                          </a:rPr>
                          <m:t>𝑘</m:t>
                        </m:r>
                        <m:r>
                          <a:rPr lang="en-US" sz="1600" i="1" dirty="0">
                            <a:latin typeface="Cambria Math" panose="02040503050406030204" charset="0"/>
                            <a:cs typeface="Cambria Math" panose="02040503050406030204" charset="0"/>
                          </a:rPr>
                          <m:t>+1</m:t>
                        </m:r>
                      </m:sub>
                    </m:sSub>
                  </m:oMath>
                </a14:m>
                <a:r>
                  <a:rPr lang="en-US" sz="1600" dirty="0">
                    <a:solidFill>
                      <a:srgbClr val="111827"/>
                    </a:solidFill>
                    <a:latin typeface="Aptos" pitchFamily="34" charset="0"/>
                    <a:ea typeface="Aptos" pitchFamily="34" charset="-122"/>
                    <a:cs typeface="Aptos" pitchFamily="34" charset="-120"/>
                  </a:rPr>
                  <a:t> from empirical sampling interval</a:t>
                </a:r>
              </a:p>
            </p:txBody>
          </p:sp>
        </mc:Choice>
        <mc:Fallback xmlns="">
          <p:sp>
            <p:nvSpPr>
              <p:cNvPr id="30" name="Text 28"/>
              <p:cNvSpPr>
                <a:spLocks noRot="1" noChangeAspect="1" noMove="1" noResize="1" noEditPoints="1" noAdjustHandles="1" noChangeArrowheads="1" noChangeShapeType="1" noTextEdit="1"/>
              </p:cNvSpPr>
              <p:nvPr>
                <p:custDataLst>
                  <p:tags r:id="rId27"/>
                </p:custDataLst>
              </p:nvPr>
            </p:nvSpPr>
            <p:spPr>
              <a:xfrm>
                <a:off x="6694170" y="4142740"/>
                <a:ext cx="1784350" cy="908685"/>
              </a:xfrm>
              <a:prstGeom prst="rect">
                <a:avLst/>
              </a:prstGeom>
              <a:blipFill>
                <a:blip r:embed="rId28"/>
                <a:stretch>
                  <a:fillRect l="-7092" r="-2837" b="-2778"/>
                </a:stretch>
              </a:blipFill>
            </p:spPr>
            <p:txBody>
              <a:bodyPr/>
              <a:lstStyle/>
              <a:p>
                <a:r>
                  <a:rPr lang="en-CN">
                    <a:noFill/>
                  </a:rPr>
                  <a:t> </a:t>
                </a:r>
              </a:p>
            </p:txBody>
          </p:sp>
        </mc:Fallback>
      </mc:AlternateContent>
      <p:sp>
        <p:nvSpPr>
          <p:cNvPr id="31" name="Text 29"/>
          <p:cNvSpPr/>
          <p:nvPr>
            <p:custDataLst>
              <p:tags r:id="rId19"/>
            </p:custDataLst>
          </p:nvPr>
        </p:nvSpPr>
        <p:spPr>
          <a:xfrm>
            <a:off x="6766560" y="3433318"/>
            <a:ext cx="347472" cy="301752"/>
          </a:xfrm>
          <a:prstGeom prst="rect">
            <a:avLst/>
          </a:prstGeom>
          <a:solidFill>
            <a:srgbClr val="58616D"/>
          </a:solidFill>
          <a:ln>
            <a:solidFill>
              <a:srgbClr val="58616D"/>
            </a:solidFill>
          </a:ln>
        </p:spPr>
        <p:txBody>
          <a:bodyPr wrap="square" lIns="0" tIns="0" rIns="0" bIns="0" rtlCol="0" anchor="ctr"/>
          <a:lstStyle/>
          <a:p>
            <a:pPr marL="0" indent="0" algn="ctr">
              <a:buNone/>
            </a:pPr>
            <a:r>
              <a:rPr lang="en-US" sz="1100" b="1" dirty="0">
                <a:solidFill>
                  <a:srgbClr val="FFFFFF"/>
                </a:solidFill>
                <a:latin typeface="Aptos Display" pitchFamily="34" charset="0"/>
              </a:rPr>
              <a:t>4</a:t>
            </a:r>
            <a:endParaRPr lang="en-US" sz="1100" dirty="0"/>
          </a:p>
        </p:txBody>
      </p:sp>
      <p:sp>
        <p:nvSpPr>
          <p:cNvPr id="32" name="Shape 30"/>
          <p:cNvSpPr/>
          <p:nvPr/>
        </p:nvSpPr>
        <p:spPr>
          <a:xfrm>
            <a:off x="5404485" y="5299075"/>
            <a:ext cx="6505575" cy="1155700"/>
          </a:xfrm>
          <a:prstGeom prst="roundRect">
            <a:avLst>
              <a:gd name="adj" fmla="val 6977"/>
            </a:avLst>
          </a:prstGeom>
          <a:solidFill>
            <a:srgbClr val="EAF2FF"/>
          </a:solidFill>
          <a:ln w="12700">
            <a:solidFill>
              <a:srgbClr val="D8E6FA"/>
            </a:solidFill>
            <a:prstDash val="solid"/>
          </a:ln>
        </p:spPr>
        <p:txBody>
          <a:bodyPr/>
          <a:lstStyle/>
          <a:p>
            <a:endParaRPr lang="en-CN"/>
          </a:p>
        </p:txBody>
      </p:sp>
      <p:sp>
        <p:nvSpPr>
          <p:cNvPr id="33" name="Text 31"/>
          <p:cNvSpPr/>
          <p:nvPr/>
        </p:nvSpPr>
        <p:spPr>
          <a:xfrm>
            <a:off x="5568950" y="5426710"/>
            <a:ext cx="6284595" cy="255905"/>
          </a:xfrm>
          <a:prstGeom prst="rect">
            <a:avLst/>
          </a:prstGeom>
          <a:noFill/>
        </p:spPr>
        <p:txBody>
          <a:bodyPr wrap="square" lIns="0" tIns="0" rIns="0" bIns="0" rtlCol="0" anchor="ctr"/>
          <a:lstStyle/>
          <a:p>
            <a:pPr marL="0" indent="0">
              <a:buNone/>
            </a:pPr>
            <a:r>
              <a:rPr lang="en-US" sz="2400" b="1" dirty="0">
                <a:solidFill>
                  <a:srgbClr val="1E63B5"/>
                </a:solidFill>
                <a:latin typeface="Aptos Display" pitchFamily="34" charset="0"/>
                <a:ea typeface="Aptos Display" pitchFamily="34" charset="-122"/>
                <a:cs typeface="Aptos Display" pitchFamily="34" charset="-120"/>
              </a:rPr>
              <a:t>Interpretation</a:t>
            </a:r>
            <a:endParaRPr lang="en-US" sz="2400" dirty="0"/>
          </a:p>
        </p:txBody>
      </p:sp>
      <p:sp>
        <p:nvSpPr>
          <p:cNvPr id="34" name="Text 32"/>
          <p:cNvSpPr/>
          <p:nvPr/>
        </p:nvSpPr>
        <p:spPr>
          <a:xfrm>
            <a:off x="5568950" y="5682615"/>
            <a:ext cx="6284595" cy="675640"/>
          </a:xfrm>
          <a:prstGeom prst="rect">
            <a:avLst/>
          </a:prstGeom>
          <a:noFill/>
        </p:spPr>
        <p:txBody>
          <a:bodyPr wrap="square" lIns="0" tIns="0" rIns="0" bIns="0" rtlCol="0" anchor="ctr">
            <a:noAutofit/>
          </a:bodyPr>
          <a:lstStyle/>
          <a:p>
            <a:pPr marL="0" indent="0">
              <a:buNone/>
            </a:pPr>
            <a:r>
              <a:rPr lang="en-US" sz="1700" dirty="0">
                <a:solidFill>
                  <a:srgbClr val="111827"/>
                </a:solidFill>
                <a:latin typeface="Aptos" pitchFamily="34" charset="0"/>
                <a:ea typeface="Aptos" pitchFamily="34" charset="-122"/>
                <a:cs typeface="Aptos" pitchFamily="34" charset="-120"/>
              </a:rPr>
              <a:t>The policy remains threshold-based, while learning adapts the threshold from the data stream.</a:t>
            </a:r>
          </a:p>
        </p:txBody>
      </p:sp>
      <p:sp>
        <p:nvSpPr>
          <p:cNvPr id="37" name="Text 35"/>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8</a:t>
            </a:r>
            <a:endParaRPr lang="en-US" sz="880" dirty="0"/>
          </a:p>
        </p:txBody>
      </p:sp>
      <p:pic>
        <p:nvPicPr>
          <p:cNvPr id="38" name="图片 37"/>
          <p:cNvPicPr>
            <a:picLocks noChangeAspect="1"/>
          </p:cNvPicPr>
          <p:nvPr/>
        </p:nvPicPr>
        <p:blipFill>
          <a:blip r:embed="rId29"/>
          <a:stretch>
            <a:fillRect/>
          </a:stretch>
        </p:blipFill>
        <p:spPr>
          <a:xfrm>
            <a:off x="40640" y="1025525"/>
            <a:ext cx="5110480" cy="5605145"/>
          </a:xfrm>
          <a:prstGeom prst="rect">
            <a:avLst/>
          </a:prstGeom>
        </p:spPr>
      </p:pic>
      <p:sp>
        <p:nvSpPr>
          <p:cNvPr id="4" name="Shape 15">
            <a:extLst>
              <a:ext uri="{FF2B5EF4-FFF2-40B4-BE49-F238E27FC236}">
                <a16:creationId xmlns:a16="http://schemas.microsoft.com/office/drawing/2014/main" id="{36993E59-BB6D-F32C-E23E-830CDE1C14CF}"/>
              </a:ext>
            </a:extLst>
          </p:cNvPr>
          <p:cNvSpPr/>
          <p:nvPr>
            <p:custDataLst>
              <p:tags r:id="rId20"/>
            </p:custDataLst>
          </p:nvPr>
        </p:nvSpPr>
        <p:spPr>
          <a:xfrm rot="10800000">
            <a:off x="8577707" y="2254758"/>
            <a:ext cx="384048" cy="228600"/>
          </a:xfrm>
          <a:prstGeom prst="rightArrow">
            <a:avLst/>
          </a:prstGeom>
          <a:solidFill>
            <a:srgbClr val="CBD3DF"/>
          </a:solidFill>
          <a:ln w="12700">
            <a:solidFill>
              <a:srgbClr val="CBD3DF"/>
            </a:solidFill>
            <a:prstDash val="solid"/>
          </a:ln>
        </p:spPr>
        <p:txBody>
          <a:bodyPr/>
          <a:lstStyle/>
          <a:p>
            <a:endParaRPr lang="en-CN"/>
          </a:p>
        </p:txBody>
      </p:sp>
      <p:sp>
        <p:nvSpPr>
          <p:cNvPr id="5" name="Rectangle 4">
            <a:extLst>
              <a:ext uri="{FF2B5EF4-FFF2-40B4-BE49-F238E27FC236}">
                <a16:creationId xmlns:a16="http://schemas.microsoft.com/office/drawing/2014/main" id="{D31CDDE1-4C5E-932E-9E08-6BC1EECA0607}"/>
              </a:ext>
            </a:extLst>
          </p:cNvPr>
          <p:cNvSpPr/>
          <p:nvPr/>
        </p:nvSpPr>
        <p:spPr>
          <a:xfrm>
            <a:off x="6451600" y="1025525"/>
            <a:ext cx="4704080" cy="205295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TextBox 34">
            <a:extLst>
              <a:ext uri="{FF2B5EF4-FFF2-40B4-BE49-F238E27FC236}">
                <a16:creationId xmlns:a16="http://schemas.microsoft.com/office/drawing/2014/main" id="{2D11A0A5-F5B1-3FCF-7436-D83EC7CEB057}"/>
              </a:ext>
            </a:extLst>
          </p:cNvPr>
          <p:cNvSpPr txBox="1"/>
          <p:nvPr/>
        </p:nvSpPr>
        <p:spPr>
          <a:xfrm>
            <a:off x="8258013" y="833485"/>
            <a:ext cx="906467" cy="369332"/>
          </a:xfrm>
          <a:prstGeom prst="rect">
            <a:avLst/>
          </a:prstGeom>
          <a:solidFill>
            <a:schemeClr val="bg1"/>
          </a:solidFill>
        </p:spPr>
        <p:txBody>
          <a:bodyPr wrap="none" rtlCol="0">
            <a:spAutoFit/>
          </a:bodyPr>
          <a:lstStyle/>
          <a:p>
            <a:r>
              <a:rPr lang="en-CN" dirty="0"/>
              <a:t>j=1 to 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Stability Enhancement: Polyak-Ruppert Averaging</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Variance reduction makes the online policy usable in finite time (more practical in simulation).</a:t>
            </a:r>
            <a:endParaRPr lang="en-US" dirty="0"/>
          </a:p>
        </p:txBody>
      </p:sp>
      <p:sp>
        <p:nvSpPr>
          <p:cNvPr id="8" name="Shape 6"/>
          <p:cNvSpPr/>
          <p:nvPr/>
        </p:nvSpPr>
        <p:spPr>
          <a:xfrm>
            <a:off x="6310630" y="1417320"/>
            <a:ext cx="4695825" cy="1177290"/>
          </a:xfrm>
          <a:prstGeom prst="roundRect">
            <a:avLst>
              <a:gd name="adj" fmla="val 5217"/>
            </a:avLst>
          </a:prstGeom>
          <a:solidFill>
            <a:srgbClr val="FFF4F5"/>
          </a:solidFill>
          <a:ln w="12700">
            <a:solidFill>
              <a:srgbClr val="FFD8DD"/>
            </a:solidFill>
            <a:prstDash val="solid"/>
          </a:ln>
        </p:spPr>
        <p:txBody>
          <a:bodyPr/>
          <a:lstStyle/>
          <a:p>
            <a:endParaRPr lang="en-CN"/>
          </a:p>
        </p:txBody>
      </p:sp>
      <p:sp>
        <p:nvSpPr>
          <p:cNvPr id="9" name="Text 7"/>
          <p:cNvSpPr/>
          <p:nvPr/>
        </p:nvSpPr>
        <p:spPr>
          <a:xfrm>
            <a:off x="6435090" y="1488186"/>
            <a:ext cx="4059936" cy="256032"/>
          </a:xfrm>
          <a:prstGeom prst="rect">
            <a:avLst/>
          </a:prstGeom>
          <a:noFill/>
        </p:spPr>
        <p:txBody>
          <a:bodyPr wrap="square" lIns="0" tIns="0" rIns="0" bIns="0" rtlCol="0" anchor="ctr"/>
          <a:lstStyle/>
          <a:p>
            <a:pPr marL="0" indent="0">
              <a:buNone/>
            </a:pPr>
            <a:r>
              <a:rPr lang="en-US" sz="2400" b="1" dirty="0">
                <a:solidFill>
                  <a:srgbClr val="C83F49"/>
                </a:solidFill>
                <a:latin typeface="Aptos Display" pitchFamily="34" charset="0"/>
                <a:ea typeface="Aptos Display" pitchFamily="34" charset="-122"/>
                <a:cs typeface="Aptos Display" pitchFamily="34" charset="-120"/>
              </a:rPr>
              <a:t>Problem</a:t>
            </a:r>
          </a:p>
        </p:txBody>
      </p:sp>
      <p:sp>
        <p:nvSpPr>
          <p:cNvPr id="10" name="Text 8"/>
          <p:cNvSpPr/>
          <p:nvPr/>
        </p:nvSpPr>
        <p:spPr>
          <a:xfrm>
            <a:off x="6446520" y="1762760"/>
            <a:ext cx="4395470" cy="769112"/>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Plain RM converges asymptotically but can fluctuate heavily under random delays and failures.</a:t>
            </a:r>
          </a:p>
        </p:txBody>
      </p:sp>
      <p:sp>
        <p:nvSpPr>
          <p:cNvPr id="11" name="Shape 9"/>
          <p:cNvSpPr/>
          <p:nvPr/>
        </p:nvSpPr>
        <p:spPr>
          <a:xfrm>
            <a:off x="6309995" y="2788920"/>
            <a:ext cx="4697730" cy="1108710"/>
          </a:xfrm>
          <a:prstGeom prst="roundRect">
            <a:avLst>
              <a:gd name="adj" fmla="val 5217"/>
            </a:avLst>
          </a:prstGeom>
          <a:solidFill>
            <a:srgbClr val="F2FBF6"/>
          </a:solidFill>
          <a:ln w="12700">
            <a:solidFill>
              <a:srgbClr val="D3EFDD"/>
            </a:solidFill>
            <a:prstDash val="solid"/>
          </a:ln>
        </p:spPr>
        <p:txBody>
          <a:bodyPr/>
          <a:lstStyle/>
          <a:p>
            <a:endParaRPr lang="en-CN"/>
          </a:p>
        </p:txBody>
      </p:sp>
      <p:sp>
        <p:nvSpPr>
          <p:cNvPr id="12" name="Text 10"/>
          <p:cNvSpPr/>
          <p:nvPr/>
        </p:nvSpPr>
        <p:spPr>
          <a:xfrm>
            <a:off x="6446520" y="2836926"/>
            <a:ext cx="4059936" cy="256032"/>
          </a:xfrm>
          <a:prstGeom prst="rect">
            <a:avLst/>
          </a:prstGeom>
          <a:noFill/>
        </p:spPr>
        <p:txBody>
          <a:bodyPr wrap="square" lIns="0" tIns="0" rIns="0" bIns="0" rtlCol="0" anchor="ctr"/>
          <a:lstStyle/>
          <a:p>
            <a:pPr marL="0" indent="0">
              <a:buNone/>
            </a:pPr>
            <a:r>
              <a:rPr lang="en-US" sz="2400" b="1" dirty="0">
                <a:solidFill>
                  <a:srgbClr val="2BB673"/>
                </a:solidFill>
                <a:latin typeface="Aptos Display" pitchFamily="34" charset="0"/>
                <a:ea typeface="Aptos Display" pitchFamily="34" charset="-122"/>
                <a:cs typeface="Aptos Display" pitchFamily="34" charset="-120"/>
              </a:rPr>
              <a:t>Solution</a:t>
            </a:r>
          </a:p>
        </p:txBody>
      </p:sp>
      <p:sp>
        <p:nvSpPr>
          <p:cNvPr id="13" name="Text 11"/>
          <p:cNvSpPr/>
          <p:nvPr/>
        </p:nvSpPr>
        <p:spPr>
          <a:xfrm>
            <a:off x="6462395" y="3255264"/>
            <a:ext cx="4059936" cy="484632"/>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Average iterates to form a stabilized estimate used by the next decision.</a:t>
            </a:r>
          </a:p>
        </p:txBody>
      </p:sp>
      <p:sp>
        <p:nvSpPr>
          <p:cNvPr id="14" name="Shape 12"/>
          <p:cNvSpPr/>
          <p:nvPr/>
        </p:nvSpPr>
        <p:spPr>
          <a:xfrm>
            <a:off x="6297930" y="4091940"/>
            <a:ext cx="4709160" cy="1152525"/>
          </a:xfrm>
          <a:prstGeom prst="roundRect">
            <a:avLst>
              <a:gd name="adj" fmla="val 6000"/>
            </a:avLst>
          </a:prstGeom>
          <a:solidFill>
            <a:srgbClr val="EAF2FF"/>
          </a:solidFill>
          <a:ln w="12700">
            <a:solidFill>
              <a:srgbClr val="D8E6FA"/>
            </a:solidFill>
            <a:prstDash val="solid"/>
          </a:ln>
        </p:spPr>
        <p:txBody>
          <a:bodyPr/>
          <a:lstStyle/>
          <a:p>
            <a:endParaRPr lang="en-CN"/>
          </a:p>
        </p:txBody>
      </p:sp>
      <p:sp>
        <p:nvSpPr>
          <p:cNvPr id="15" name="Text 13"/>
          <p:cNvSpPr/>
          <p:nvPr/>
        </p:nvSpPr>
        <p:spPr>
          <a:xfrm>
            <a:off x="6462522" y="4219956"/>
            <a:ext cx="4379976" cy="256032"/>
          </a:xfrm>
          <a:prstGeom prst="rect">
            <a:avLst/>
          </a:prstGeom>
          <a:noFill/>
        </p:spPr>
        <p:txBody>
          <a:bodyPr wrap="square" lIns="0" tIns="0" rIns="0" bIns="0" rtlCol="0" anchor="ctr"/>
          <a:lstStyle/>
          <a:p>
            <a:pPr marL="0" indent="0">
              <a:buNone/>
            </a:pPr>
            <a:r>
              <a:rPr lang="en-US" sz="2400" b="1" dirty="0">
                <a:solidFill>
                  <a:srgbClr val="1E63B5"/>
                </a:solidFill>
                <a:latin typeface="Aptos Display" pitchFamily="34" charset="0"/>
                <a:ea typeface="Aptos Display" pitchFamily="34" charset="-122"/>
                <a:cs typeface="Aptos Display" pitchFamily="34" charset="-120"/>
              </a:rPr>
              <a:t>PR estimate</a:t>
            </a:r>
          </a:p>
        </p:txBody>
      </p:sp>
      <mc:AlternateContent xmlns:mc="http://schemas.openxmlformats.org/markup-compatibility/2006" xmlns:a14="http://schemas.microsoft.com/office/drawing/2010/main">
        <mc:Choice Requires="a14">
          <p:sp>
            <p:nvSpPr>
              <p:cNvPr id="16" name="Text 14"/>
              <p:cNvSpPr/>
              <p:nvPr/>
            </p:nvSpPr>
            <p:spPr>
              <a:xfrm>
                <a:off x="6435090" y="4494530"/>
                <a:ext cx="2753360" cy="718820"/>
              </a:xfrm>
              <a:prstGeom prst="rect">
                <a:avLst/>
              </a:prstGeom>
              <a:noFill/>
            </p:spPr>
            <p:txBody>
              <a:bodyPr wrap="square" lIns="0" tIns="0" rIns="0" bIns="0" rtlCol="0" anchor="ctr">
                <a:no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sz="1700" i="1" dirty="0">
                              <a:solidFill>
                                <a:srgbClr val="111827"/>
                              </a:solidFill>
                              <a:latin typeface="Cambria Math" panose="02040503050406030204" pitchFamily="18" charset="0"/>
                              <a:ea typeface="Aptos" pitchFamily="34" charset="-122"/>
                              <a:cs typeface="Cambria Math" panose="02040503050406030204" charset="0"/>
                            </a:rPr>
                          </m:ctrlPr>
                        </m:sSubPr>
                        <m:e>
                          <m:r>
                            <a:rPr lang="en-US" sz="1700" i="1" dirty="0">
                              <a:solidFill>
                                <a:srgbClr val="111827"/>
                              </a:solidFill>
                              <a:latin typeface="Cambria Math" panose="02040503050406030204" charset="0"/>
                              <a:ea typeface="Aptos" pitchFamily="34" charset="-122"/>
                              <a:cs typeface="Cambria Math" panose="02040503050406030204" charset="0"/>
                            </a:rPr>
                            <m:t>𝛩</m:t>
                          </m:r>
                        </m:e>
                        <m:sub>
                          <m:r>
                            <a:rPr lang="en-US" sz="1700" i="1" dirty="0">
                              <a:solidFill>
                                <a:srgbClr val="111827"/>
                              </a:solidFill>
                              <a:latin typeface="Cambria Math" panose="02040503050406030204" charset="0"/>
                              <a:ea typeface="Aptos" pitchFamily="34" charset="-122"/>
                              <a:cs typeface="Cambria Math" panose="02040503050406030204" charset="0"/>
                            </a:rPr>
                            <m:t>𝑘</m:t>
                          </m:r>
                        </m:sub>
                      </m:sSub>
                      <m:r>
                        <a:rPr lang="en-US" sz="1700" dirty="0">
                          <a:solidFill>
                            <a:srgbClr val="111827"/>
                          </a:solidFill>
                          <a:latin typeface="Cambria Math" panose="02040503050406030204" charset="0"/>
                          <a:ea typeface="Aptos" pitchFamily="34" charset="-122"/>
                          <a:cs typeface="Cambria Math" panose="02040503050406030204" charset="0"/>
                        </a:rPr>
                        <m:t> = </m:t>
                      </m:r>
                      <m:f>
                        <m:fPr>
                          <m:ctrlPr>
                            <a:rPr lang="en-US" sz="1700" i="1" dirty="0">
                              <a:solidFill>
                                <a:srgbClr val="111827"/>
                              </a:solidFill>
                              <a:latin typeface="Cambria Math" panose="02040503050406030204" pitchFamily="18" charset="0"/>
                              <a:ea typeface="Aptos" pitchFamily="34" charset="-122"/>
                              <a:cs typeface="Cambria Math" panose="02040503050406030204" charset="0"/>
                            </a:rPr>
                          </m:ctrlPr>
                        </m:fPr>
                        <m:num>
                          <m:r>
                            <a:rPr lang="en-US" sz="1700" i="1" dirty="0">
                              <a:solidFill>
                                <a:srgbClr val="111827"/>
                              </a:solidFill>
                              <a:latin typeface="Cambria Math" panose="02040503050406030204" charset="0"/>
                              <a:ea typeface="Aptos" pitchFamily="34" charset="-122"/>
                              <a:cs typeface="Cambria Math" panose="02040503050406030204" charset="0"/>
                            </a:rPr>
                            <m:t>1</m:t>
                          </m:r>
                        </m:num>
                        <m:den>
                          <m:r>
                            <a:rPr lang="en-US" sz="1700" i="1" dirty="0">
                              <a:solidFill>
                                <a:srgbClr val="111827"/>
                              </a:solidFill>
                              <a:latin typeface="Cambria Math" panose="02040503050406030204" charset="0"/>
                              <a:ea typeface="Aptos" pitchFamily="34" charset="-122"/>
                              <a:cs typeface="Cambria Math" panose="02040503050406030204" charset="0"/>
                            </a:rPr>
                            <m:t>𝑘</m:t>
                          </m:r>
                        </m:den>
                      </m:f>
                      <m:nary>
                        <m:naryPr>
                          <m:chr m:val="∑"/>
                          <m:limLoc m:val="undOvr"/>
                          <m:ctrlPr>
                            <a:rPr lang="en-US" sz="1700" i="1" dirty="0">
                              <a:solidFill>
                                <a:srgbClr val="111827"/>
                              </a:solidFill>
                              <a:latin typeface="Cambria Math" panose="02040503050406030204" pitchFamily="18" charset="0"/>
                              <a:ea typeface="Aptos" pitchFamily="34" charset="-122"/>
                              <a:cs typeface="Cambria Math" panose="02040503050406030204" charset="0"/>
                            </a:rPr>
                          </m:ctrlPr>
                        </m:naryPr>
                        <m:sub>
                          <m:r>
                            <a:rPr lang="en-US" sz="1700" i="1" dirty="0">
                              <a:solidFill>
                                <a:srgbClr val="111827"/>
                              </a:solidFill>
                              <a:latin typeface="Cambria Math" panose="02040503050406030204" charset="0"/>
                              <a:ea typeface="Aptos" pitchFamily="34" charset="-122"/>
                              <a:cs typeface="Cambria Math" panose="02040503050406030204" charset="0"/>
                            </a:rPr>
                            <m:t>𝑖</m:t>
                          </m:r>
                          <m:r>
                            <a:rPr lang="en-US" sz="1700" i="1" dirty="0">
                              <a:solidFill>
                                <a:srgbClr val="111827"/>
                              </a:solidFill>
                              <a:latin typeface="Cambria Math" panose="02040503050406030204" charset="0"/>
                              <a:ea typeface="Aptos" pitchFamily="34" charset="-122"/>
                              <a:cs typeface="Cambria Math" panose="02040503050406030204" charset="0"/>
                            </a:rPr>
                            <m:t>=1</m:t>
                          </m:r>
                        </m:sub>
                        <m:sup>
                          <m:r>
                            <a:rPr lang="en-US" sz="1700" i="1" dirty="0">
                              <a:solidFill>
                                <a:srgbClr val="111827"/>
                              </a:solidFill>
                              <a:latin typeface="Cambria Math" panose="02040503050406030204" charset="0"/>
                              <a:ea typeface="Aptos" pitchFamily="34" charset="-122"/>
                              <a:cs typeface="Cambria Math" panose="02040503050406030204" charset="0"/>
                            </a:rPr>
                            <m:t>𝑘</m:t>
                          </m:r>
                        </m:sup>
                        <m:e>
                          <m:sSub>
                            <m:sSubPr>
                              <m:ctrlPr>
                                <a:rPr lang="en-US" sz="1700" i="1" dirty="0">
                                  <a:latin typeface="Cambria Math" panose="02040503050406030204" pitchFamily="18" charset="0"/>
                                  <a:cs typeface="Cambria Math" panose="02040503050406030204" charset="0"/>
                                </a:rPr>
                              </m:ctrlPr>
                            </m:sSubPr>
                            <m:e>
                              <m:r>
                                <a:rPr lang="en-US" sz="1700" i="1" dirty="0">
                                  <a:latin typeface="Cambria Math" panose="02040503050406030204" charset="0"/>
                                  <a:cs typeface="Cambria Math" panose="02040503050406030204" charset="0"/>
                                </a:rPr>
                                <m:t>𝛽</m:t>
                              </m:r>
                            </m:e>
                            <m:sub>
                              <m:r>
                                <a:rPr lang="en-US" sz="1700" i="1" dirty="0">
                                  <a:latin typeface="Cambria Math" panose="02040503050406030204" charset="0"/>
                                  <a:cs typeface="Cambria Math" panose="02040503050406030204" charset="0"/>
                                </a:rPr>
                                <m:t>𝑖</m:t>
                              </m:r>
                            </m:sub>
                          </m:sSub>
                        </m:e>
                      </m:nary>
                      <m:r>
                        <a:rPr lang="en-US" sz="1700" dirty="0">
                          <a:solidFill>
                            <a:srgbClr val="111827"/>
                          </a:solidFill>
                          <a:latin typeface="Cambria Math" panose="02040503050406030204" charset="0"/>
                          <a:ea typeface="Aptos" pitchFamily="34" charset="-122"/>
                          <a:cs typeface="Cambria Math" panose="02040503050406030204" charset="0"/>
                        </a:rPr>
                        <m:t> </m:t>
                      </m:r>
                    </m:oMath>
                  </m:oMathPara>
                </a14:m>
                <a:endParaRPr lang="en-US" sz="600" i="1" dirty="0">
                  <a:latin typeface="Cambria Math" panose="02040503050406030204" charset="0"/>
                  <a:cs typeface="Cambria Math" panose="02040503050406030204" charset="0"/>
                </a:endParaRPr>
              </a:p>
            </p:txBody>
          </p:sp>
        </mc:Choice>
        <mc:Fallback xmlns="">
          <p:sp>
            <p:nvSpPr>
              <p:cNvPr id="16" name="Text 14"/>
              <p:cNvSpPr>
                <a:spLocks noRot="1" noChangeAspect="1" noMove="1" noResize="1" noEditPoints="1" noAdjustHandles="1" noChangeArrowheads="1" noChangeShapeType="1" noTextEdit="1"/>
              </p:cNvSpPr>
              <p:nvPr/>
            </p:nvSpPr>
            <p:spPr>
              <a:xfrm>
                <a:off x="6435090" y="4494530"/>
                <a:ext cx="2753360" cy="718820"/>
              </a:xfrm>
              <a:prstGeom prst="rect">
                <a:avLst/>
              </a:prstGeom>
              <a:blipFill rotWithShape="1">
                <a:blip r:embed="rId3"/>
                <a:stretch>
                  <a:fillRect t="-1060" b="-1148"/>
                </a:stretch>
              </a:blipFill>
            </p:spPr>
            <p:txBody>
              <a:bodyPr/>
              <a:lstStyle/>
              <a:p>
                <a:r>
                  <a:rPr lang="zh-CN" altLang="en-US">
                    <a:noFill/>
                  </a:rPr>
                  <a:t> </a:t>
                </a:r>
              </a:p>
            </p:txBody>
          </p:sp>
        </mc:Fallback>
      </mc:AlternateContent>
      <p:sp>
        <p:nvSpPr>
          <p:cNvPr id="17" name="Shape 15"/>
          <p:cNvSpPr/>
          <p:nvPr/>
        </p:nvSpPr>
        <p:spPr>
          <a:xfrm>
            <a:off x="6297930" y="5472430"/>
            <a:ext cx="4709160" cy="1048385"/>
          </a:xfrm>
          <a:prstGeom prst="roundRect">
            <a:avLst>
              <a:gd name="adj" fmla="val 6000"/>
            </a:avLst>
          </a:prstGeom>
          <a:solidFill>
            <a:srgbClr val="FFF4E4"/>
          </a:solidFill>
          <a:ln w="12700">
            <a:solidFill>
              <a:srgbClr val="F5D8AA"/>
            </a:solidFill>
            <a:prstDash val="solid"/>
          </a:ln>
        </p:spPr>
        <p:txBody>
          <a:bodyPr/>
          <a:lstStyle/>
          <a:p>
            <a:endParaRPr lang="en-CN"/>
          </a:p>
        </p:txBody>
      </p:sp>
      <p:sp>
        <p:nvSpPr>
          <p:cNvPr id="18" name="Text 16"/>
          <p:cNvSpPr/>
          <p:nvPr/>
        </p:nvSpPr>
        <p:spPr>
          <a:xfrm>
            <a:off x="6462522" y="5472684"/>
            <a:ext cx="4379976" cy="256032"/>
          </a:xfrm>
          <a:prstGeom prst="rect">
            <a:avLst/>
          </a:prstGeom>
          <a:noFill/>
        </p:spPr>
        <p:txBody>
          <a:bodyPr wrap="square" lIns="0" tIns="0" rIns="0" bIns="0" rtlCol="0" anchor="ctr"/>
          <a:lstStyle/>
          <a:p>
            <a:pPr marL="0" indent="0">
              <a:buNone/>
            </a:pPr>
            <a:r>
              <a:rPr lang="en-US" sz="2400" b="1" dirty="0">
                <a:solidFill>
                  <a:srgbClr val="F26B38"/>
                </a:solidFill>
                <a:latin typeface="Aptos Display" pitchFamily="34" charset="0"/>
                <a:ea typeface="Aptos Display" pitchFamily="34" charset="-122"/>
                <a:cs typeface="Aptos Display" pitchFamily="34" charset="-120"/>
              </a:rPr>
              <a:t>Step size</a:t>
            </a:r>
          </a:p>
        </p:txBody>
      </p:sp>
      <mc:AlternateContent xmlns:mc="http://schemas.openxmlformats.org/markup-compatibility/2006" xmlns:a14="http://schemas.microsoft.com/office/drawing/2010/main">
        <mc:Choice Requires="a14">
          <p:sp>
            <p:nvSpPr>
              <p:cNvPr id="19" name="Text 17"/>
              <p:cNvSpPr/>
              <p:nvPr/>
            </p:nvSpPr>
            <p:spPr>
              <a:xfrm>
                <a:off x="6462522" y="5811012"/>
                <a:ext cx="4379976" cy="347472"/>
              </a:xfrm>
              <a:prstGeom prst="rect">
                <a:avLst/>
              </a:prstGeom>
              <a:noFill/>
            </p:spPr>
            <p:txBody>
              <a:bodyPr wrap="square" lIns="0" tIns="0" rIns="0" bIns="0" rtlCol="0" anchor="ctr">
                <a:normAutofit/>
              </a:bodyPr>
              <a:lstStyle/>
              <a:p>
                <a:pPr marL="0" indent="0">
                  <a:buNone/>
                </a:pPr>
                <a14:m>
                  <m:oMath xmlns:m="http://schemas.openxmlformats.org/officeDocument/2006/math">
                    <m:sSub>
                      <m:sSubPr>
                        <m:ctrlPr>
                          <a:rPr lang="en-US" sz="1600" i="1" dirty="0">
                            <a:latin typeface="Cambria Math" panose="02040503050406030204" pitchFamily="18" charset="0"/>
                            <a:cs typeface="Cambria Math" panose="02040503050406030204" charset="0"/>
                          </a:rPr>
                        </m:ctrlPr>
                      </m:sSubPr>
                      <m:e>
                        <m:r>
                          <a:rPr lang="en-US" sz="1600" i="1" dirty="0">
                            <a:latin typeface="Cambria Math" panose="02040503050406030204" charset="0"/>
                            <a:cs typeface="Cambria Math" panose="02040503050406030204" charset="0"/>
                          </a:rPr>
                          <m:t>𝜂</m:t>
                        </m:r>
                      </m:e>
                      <m:sub>
                        <m:r>
                          <a:rPr lang="en-US" sz="1600" i="1" dirty="0">
                            <a:latin typeface="Cambria Math" panose="02040503050406030204" charset="0"/>
                            <a:cs typeface="Cambria Math" panose="02040503050406030204" charset="0"/>
                          </a:rPr>
                          <m:t>𝑘</m:t>
                        </m:r>
                      </m:sub>
                    </m:sSub>
                  </m:oMath>
                </a14:m>
                <a:r>
                  <a:rPr lang="en-US" sz="1600" dirty="0">
                    <a:solidFill>
                      <a:srgbClr val="111827"/>
                    </a:solidFill>
                    <a:latin typeface="Aptos" pitchFamily="34" charset="0"/>
                    <a:ea typeface="Aptos" pitchFamily="34" charset="-122"/>
                    <a:cs typeface="Aptos" pitchFamily="34" charset="-120"/>
                  </a:rPr>
                  <a:t> = P/k</a:t>
                </a:r>
                <a:endParaRPr lang="en-US" sz="1600" dirty="0"/>
              </a:p>
            </p:txBody>
          </p:sp>
        </mc:Choice>
        <mc:Fallback xmlns="">
          <p:sp>
            <p:nvSpPr>
              <p:cNvPr id="19" name="Text 17"/>
              <p:cNvSpPr>
                <a:spLocks noRot="1" noChangeAspect="1" noMove="1" noResize="1" noEditPoints="1" noAdjustHandles="1" noChangeArrowheads="1" noChangeShapeType="1" noTextEdit="1"/>
              </p:cNvSpPr>
              <p:nvPr/>
            </p:nvSpPr>
            <p:spPr>
              <a:xfrm>
                <a:off x="6462522" y="5811012"/>
                <a:ext cx="4379976" cy="347472"/>
              </a:xfrm>
              <a:prstGeom prst="rect">
                <a:avLst/>
              </a:prstGeom>
              <a:blipFill rotWithShape="1">
                <a:blip r:embed="rId4"/>
                <a:stretch>
                  <a:fillRect l="-3" t="-37" r="12" b="73"/>
                </a:stretch>
              </a:blipFill>
            </p:spPr>
            <p:txBody>
              <a:bodyPr/>
              <a:lstStyle/>
              <a:p>
                <a:r>
                  <a:rPr lang="zh-CN" altLang="en-US">
                    <a:noFill/>
                  </a:rPr>
                  <a:t> </a:t>
                </a:r>
              </a:p>
            </p:txBody>
          </p:sp>
        </mc:Fallback>
      </mc:AlternateContent>
      <p:sp>
        <p:nvSpPr>
          <p:cNvPr id="22" name="Text 20"/>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9</a:t>
            </a:r>
            <a:endParaRPr lang="en-US" sz="880" dirty="0"/>
          </a:p>
        </p:txBody>
      </p:sp>
      <p:pic>
        <p:nvPicPr>
          <p:cNvPr id="23" name="图片 22"/>
          <p:cNvPicPr>
            <a:picLocks noChangeAspect="1"/>
          </p:cNvPicPr>
          <p:nvPr/>
        </p:nvPicPr>
        <p:blipFill>
          <a:blip r:embed="rId5"/>
          <a:stretch>
            <a:fillRect/>
          </a:stretch>
        </p:blipFill>
        <p:spPr>
          <a:xfrm>
            <a:off x="0" y="1232535"/>
            <a:ext cx="4422140" cy="5653405"/>
          </a:xfrm>
          <a:prstGeom prst="rect">
            <a:avLst/>
          </a:prstGeom>
        </p:spPr>
      </p:pic>
      <p:sp>
        <p:nvSpPr>
          <p:cNvPr id="4" name="Rectangle 3">
            <a:extLst>
              <a:ext uri="{FF2B5EF4-FFF2-40B4-BE49-F238E27FC236}">
                <a16:creationId xmlns:a16="http://schemas.microsoft.com/office/drawing/2014/main" id="{EA3BC732-288D-9C1A-C52F-D31A707A28CD}"/>
              </a:ext>
            </a:extLst>
          </p:cNvPr>
          <p:cNvSpPr/>
          <p:nvPr/>
        </p:nvSpPr>
        <p:spPr>
          <a:xfrm>
            <a:off x="396240" y="5019040"/>
            <a:ext cx="3037840" cy="791972"/>
          </a:xfrm>
          <a:prstGeom prst="rect">
            <a:avLst/>
          </a:prstGeom>
          <a:noFill/>
          <a:ln w="317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Theoretical Guarantees</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The algorithm is not only convergent - it is rate-optimal.</a:t>
            </a:r>
            <a:endParaRPr lang="en-US" dirty="0"/>
          </a:p>
        </p:txBody>
      </p:sp>
      <p:sp>
        <p:nvSpPr>
          <p:cNvPr id="9" name="Shape 6"/>
          <p:cNvSpPr/>
          <p:nvPr/>
        </p:nvSpPr>
        <p:spPr>
          <a:xfrm>
            <a:off x="293370" y="1329690"/>
            <a:ext cx="4526280" cy="337820"/>
          </a:xfrm>
          <a:prstGeom prst="roundRect">
            <a:avLst>
              <a:gd name="adj" fmla="val 8824"/>
            </a:avLst>
          </a:prstGeom>
          <a:noFill/>
          <a:ln w="12700">
            <a:solidFill>
              <a:srgbClr val="D8E6FA"/>
            </a:solidFill>
            <a:prstDash val="solid"/>
          </a:ln>
        </p:spPr>
        <p:txBody>
          <a:bodyPr/>
          <a:lstStyle/>
          <a:p>
            <a:endParaRPr lang="en-CN" dirty="0"/>
          </a:p>
        </p:txBody>
      </p:sp>
      <p:sp>
        <p:nvSpPr>
          <p:cNvPr id="10" name="Text 7"/>
          <p:cNvSpPr/>
          <p:nvPr/>
        </p:nvSpPr>
        <p:spPr>
          <a:xfrm>
            <a:off x="457962" y="1368044"/>
            <a:ext cx="4197096" cy="256032"/>
          </a:xfrm>
          <a:prstGeom prst="rect">
            <a:avLst/>
          </a:prstGeom>
          <a:noFill/>
        </p:spPr>
        <p:txBody>
          <a:bodyPr wrap="square" lIns="0" tIns="0" rIns="0" bIns="0" rtlCol="0" anchor="ctr"/>
          <a:lstStyle/>
          <a:p>
            <a:pPr marL="0" indent="0">
              <a:buNone/>
            </a:pPr>
            <a:r>
              <a:rPr lang="en-US" sz="2000" b="1" dirty="0">
                <a:solidFill>
                  <a:srgbClr val="1E63B5"/>
                </a:solidFill>
                <a:latin typeface="Aptos Display" pitchFamily="34" charset="0"/>
                <a:ea typeface="Aptos Display" pitchFamily="34" charset="-122"/>
                <a:cs typeface="Aptos Display" pitchFamily="34" charset="-120"/>
              </a:rPr>
              <a:t>Convergence</a:t>
            </a:r>
            <a:endParaRPr lang="en-US" sz="2000" dirty="0"/>
          </a:p>
        </p:txBody>
      </p:sp>
      <p:sp>
        <p:nvSpPr>
          <p:cNvPr id="12" name="Shape 9"/>
          <p:cNvSpPr/>
          <p:nvPr/>
        </p:nvSpPr>
        <p:spPr>
          <a:xfrm>
            <a:off x="293370" y="3905885"/>
            <a:ext cx="4526280" cy="382905"/>
          </a:xfrm>
          <a:prstGeom prst="roundRect">
            <a:avLst>
              <a:gd name="adj" fmla="val 8824"/>
            </a:avLst>
          </a:prstGeom>
          <a:solidFill>
            <a:srgbClr val="FFFFFF"/>
          </a:solidFill>
          <a:ln w="12700">
            <a:solidFill>
              <a:srgbClr val="D8E6FA"/>
            </a:solidFill>
            <a:prstDash val="solid"/>
          </a:ln>
        </p:spPr>
        <p:txBody>
          <a:bodyPr/>
          <a:lstStyle/>
          <a:p>
            <a:endParaRPr lang="en-CN"/>
          </a:p>
        </p:txBody>
      </p:sp>
      <p:sp>
        <p:nvSpPr>
          <p:cNvPr id="13" name="Text 10"/>
          <p:cNvSpPr/>
          <p:nvPr/>
        </p:nvSpPr>
        <p:spPr>
          <a:xfrm>
            <a:off x="457962" y="3989070"/>
            <a:ext cx="4197096" cy="256032"/>
          </a:xfrm>
          <a:prstGeom prst="rect">
            <a:avLst/>
          </a:prstGeom>
          <a:noFill/>
        </p:spPr>
        <p:txBody>
          <a:bodyPr wrap="square" lIns="0" tIns="0" rIns="0" bIns="0" rtlCol="0" anchor="ctr"/>
          <a:lstStyle/>
          <a:p>
            <a:pPr marL="0" indent="0">
              <a:buNone/>
            </a:pPr>
            <a:r>
              <a:rPr lang="en-US" sz="2000" b="1" dirty="0">
                <a:solidFill>
                  <a:srgbClr val="2BB673"/>
                </a:solidFill>
                <a:latin typeface="Aptos Display" pitchFamily="34" charset="0"/>
                <a:ea typeface="Aptos Display" pitchFamily="34" charset="-122"/>
                <a:cs typeface="Aptos Display" pitchFamily="34" charset="-120"/>
              </a:rPr>
              <a:t>Rate</a:t>
            </a:r>
          </a:p>
        </p:txBody>
      </p:sp>
      <p:sp>
        <p:nvSpPr>
          <p:cNvPr id="15" name="Shape 12"/>
          <p:cNvSpPr/>
          <p:nvPr/>
        </p:nvSpPr>
        <p:spPr>
          <a:xfrm>
            <a:off x="6137910" y="1308100"/>
            <a:ext cx="4526280" cy="356870"/>
          </a:xfrm>
          <a:prstGeom prst="roundRect">
            <a:avLst>
              <a:gd name="adj" fmla="val 8824"/>
            </a:avLst>
          </a:prstGeom>
          <a:noFill/>
          <a:ln w="12700">
            <a:solidFill>
              <a:srgbClr val="D8E6FA"/>
            </a:solidFill>
            <a:prstDash val="solid"/>
          </a:ln>
        </p:spPr>
        <p:txBody>
          <a:bodyPr/>
          <a:lstStyle/>
          <a:p>
            <a:endParaRPr lang="en-CN"/>
          </a:p>
        </p:txBody>
      </p:sp>
      <p:sp>
        <p:nvSpPr>
          <p:cNvPr id="16" name="Text 13"/>
          <p:cNvSpPr/>
          <p:nvPr/>
        </p:nvSpPr>
        <p:spPr>
          <a:xfrm>
            <a:off x="6266942" y="1373886"/>
            <a:ext cx="4197096" cy="256032"/>
          </a:xfrm>
          <a:prstGeom prst="rect">
            <a:avLst/>
          </a:prstGeom>
          <a:noFill/>
        </p:spPr>
        <p:txBody>
          <a:bodyPr wrap="square" lIns="0" tIns="0" rIns="0" bIns="0" rtlCol="0" anchor="ctr"/>
          <a:lstStyle/>
          <a:p>
            <a:pPr marL="0" indent="0">
              <a:buNone/>
            </a:pPr>
            <a:r>
              <a:rPr lang="en-US" sz="2000" b="1" dirty="0">
                <a:solidFill>
                  <a:srgbClr val="C83F49"/>
                </a:solidFill>
                <a:latin typeface="Aptos Display" pitchFamily="34" charset="0"/>
                <a:ea typeface="Aptos Display" pitchFamily="34" charset="-122"/>
                <a:cs typeface="Aptos Display" pitchFamily="34" charset="-120"/>
                <a:sym typeface="+mn-ea"/>
              </a:rPr>
              <a:t>Achieves tight Lower bound</a:t>
            </a:r>
            <a:endParaRPr lang="en-US" sz="2000" dirty="0"/>
          </a:p>
        </p:txBody>
      </p:sp>
      <p:sp>
        <p:nvSpPr>
          <p:cNvPr id="25" name="Text 22"/>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10</a:t>
            </a:r>
            <a:endParaRPr lang="en-US" sz="880" dirty="0"/>
          </a:p>
        </p:txBody>
      </p:sp>
      <p:sp>
        <p:nvSpPr>
          <p:cNvPr id="27" name="Shape 0"/>
          <p:cNvSpPr/>
          <p:nvPr/>
        </p:nvSpPr>
        <p:spPr>
          <a:xfrm>
            <a:off x="4298950" y="1941195"/>
            <a:ext cx="297180" cy="207645"/>
          </a:xfrm>
          <a:prstGeom prst="rect">
            <a:avLst/>
          </a:prstGeom>
          <a:solidFill>
            <a:srgbClr val="FFFFFF"/>
          </a:solidFill>
          <a:ln w="12700">
            <a:solidFill>
              <a:srgbClr val="FFFFFF"/>
            </a:solidFill>
            <a:prstDash val="solid"/>
          </a:ln>
        </p:spPr>
        <p:txBody>
          <a:bodyPr/>
          <a:lstStyle/>
          <a:p>
            <a:endParaRPr lang="en-CN"/>
          </a:p>
        </p:txBody>
      </p:sp>
      <p:sp>
        <p:nvSpPr>
          <p:cNvPr id="28" name="Shape 0"/>
          <p:cNvSpPr/>
          <p:nvPr/>
        </p:nvSpPr>
        <p:spPr>
          <a:xfrm>
            <a:off x="4298950" y="3000375"/>
            <a:ext cx="297180" cy="207645"/>
          </a:xfrm>
          <a:prstGeom prst="rect">
            <a:avLst/>
          </a:prstGeom>
          <a:solidFill>
            <a:srgbClr val="FFFFFF"/>
          </a:solidFill>
          <a:ln w="12700">
            <a:solidFill>
              <a:srgbClr val="FFFFFF"/>
            </a:solidFill>
            <a:prstDash val="solid"/>
          </a:ln>
        </p:spPr>
        <p:txBody>
          <a:bodyPr/>
          <a:lstStyle/>
          <a:p>
            <a:endParaRPr lang="en-CN"/>
          </a:p>
        </p:txBody>
      </p:sp>
      <p:pic>
        <p:nvPicPr>
          <p:cNvPr id="29" name="图片 28"/>
          <p:cNvPicPr>
            <a:picLocks noChangeAspect="1"/>
          </p:cNvPicPr>
          <p:nvPr/>
        </p:nvPicPr>
        <p:blipFill>
          <a:blip r:embed="rId9"/>
          <a:stretch>
            <a:fillRect/>
          </a:stretch>
        </p:blipFill>
        <p:spPr>
          <a:xfrm>
            <a:off x="293370" y="1671320"/>
            <a:ext cx="4515485" cy="2068195"/>
          </a:xfrm>
          <a:prstGeom prst="rect">
            <a:avLst/>
          </a:prstGeom>
        </p:spPr>
      </p:pic>
      <p:pic>
        <p:nvPicPr>
          <p:cNvPr id="30" name="图片 29"/>
          <p:cNvPicPr>
            <a:picLocks noChangeAspect="1"/>
          </p:cNvPicPr>
          <p:nvPr/>
        </p:nvPicPr>
        <p:blipFill>
          <a:blip r:embed="rId10"/>
          <a:stretch>
            <a:fillRect/>
          </a:stretch>
        </p:blipFill>
        <p:spPr>
          <a:xfrm>
            <a:off x="6137910" y="1671320"/>
            <a:ext cx="4523105" cy="1889760"/>
          </a:xfrm>
          <a:prstGeom prst="rect">
            <a:avLst/>
          </a:prstGeom>
        </p:spPr>
      </p:pic>
      <p:pic>
        <p:nvPicPr>
          <p:cNvPr id="31" name="图片 30"/>
          <p:cNvPicPr>
            <a:picLocks noChangeAspect="1"/>
          </p:cNvPicPr>
          <p:nvPr/>
        </p:nvPicPr>
        <p:blipFill>
          <a:blip r:embed="rId11"/>
          <a:stretch>
            <a:fillRect/>
          </a:stretch>
        </p:blipFill>
        <p:spPr>
          <a:xfrm>
            <a:off x="293370" y="4365625"/>
            <a:ext cx="4514850" cy="2228850"/>
          </a:xfrm>
          <a:prstGeom prst="rect">
            <a:avLst/>
          </a:prstGeom>
        </p:spPr>
      </p:pic>
      <p:sp>
        <p:nvSpPr>
          <p:cNvPr id="4" name="Shape 6"/>
          <p:cNvSpPr/>
          <p:nvPr>
            <p:custDataLst>
              <p:tags r:id="rId1"/>
            </p:custDataLst>
          </p:nvPr>
        </p:nvSpPr>
        <p:spPr>
          <a:xfrm>
            <a:off x="6095365" y="3738880"/>
            <a:ext cx="5580380" cy="733425"/>
          </a:xfrm>
          <a:prstGeom prst="roundRect">
            <a:avLst>
              <a:gd name="adj" fmla="val 7059"/>
            </a:avLst>
          </a:prstGeom>
          <a:solidFill>
            <a:srgbClr val="EAF2FF"/>
          </a:solidFill>
          <a:ln w="12700">
            <a:solidFill>
              <a:srgbClr val="D8E6F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1" name="Text 8"/>
              <p:cNvSpPr/>
              <p:nvPr>
                <p:custDataLst>
                  <p:tags r:id="rId2"/>
                </p:custDataLst>
              </p:nvPr>
            </p:nvSpPr>
            <p:spPr>
              <a:xfrm>
                <a:off x="6138545" y="3691890"/>
                <a:ext cx="5366385" cy="774065"/>
              </a:xfrm>
              <a:prstGeom prst="rect">
                <a:avLst/>
              </a:prstGeom>
              <a:noFill/>
            </p:spPr>
            <p:txBody>
              <a:bodyPr wrap="square" lIns="0" tIns="0" rIns="0" bIns="0" rtlCol="0" anchor="ctr">
                <a:noAutofit/>
              </a:bodyPr>
              <a:lstStyle/>
              <a:p>
                <a:pPr marL="0" indent="0">
                  <a:buNone/>
                </a:pPr>
                <a14:m>
                  <m:oMath xmlns:m="http://schemas.openxmlformats.org/officeDocument/2006/math">
                    <m:sSup>
                      <m:sSupPr>
                        <m:ctrlPr>
                          <a:rPr lang="en-US" i="1" dirty="0">
                            <a:solidFill>
                              <a:srgbClr val="111827"/>
                            </a:solidFill>
                            <a:latin typeface="Cambria Math" panose="02040503050406030204" pitchFamily="18" charset="0"/>
                            <a:ea typeface="Aptos" pitchFamily="34" charset="-122"/>
                            <a:cs typeface="Cambria Math" panose="02040503050406030204" charset="0"/>
                          </a:rPr>
                        </m:ctrlPr>
                      </m:sSupPr>
                      <m:e>
                        <m:r>
                          <a:rPr lang="en-US" i="1" dirty="0">
                            <a:solidFill>
                              <a:srgbClr val="111827"/>
                            </a:solidFill>
                            <a:latin typeface="Cambria Math" panose="02040503050406030204" charset="0"/>
                            <a:ea typeface="Aptos" pitchFamily="34" charset="-122"/>
                            <a:cs typeface="Cambria Math" panose="02040503050406030204" charset="0"/>
                          </a:rPr>
                          <m:t>𝛽</m:t>
                        </m:r>
                      </m:e>
                      <m:sup>
                        <m:r>
                          <a:rPr lang="en-US" i="1" dirty="0">
                            <a:solidFill>
                              <a:srgbClr val="111827"/>
                            </a:solidFill>
                            <a:latin typeface="Cambria Math" panose="02040503050406030204" charset="0"/>
                            <a:ea typeface="Aptos" pitchFamily="34" charset="-122"/>
                            <a:cs typeface="Cambria Math" panose="02040503050406030204" charset="0"/>
                          </a:rPr>
                          <m:t>∗</m:t>
                        </m:r>
                      </m:sup>
                    </m:sSup>
                    <m:r>
                      <a:rPr lang="en-US" i="1" dirty="0">
                        <a:solidFill>
                          <a:srgbClr val="111827"/>
                        </a:solidFill>
                        <a:latin typeface="Cambria Math" panose="02040503050406030204" charset="0"/>
                        <a:ea typeface="Aptos" pitchFamily="34" charset="-122"/>
                        <a:cs typeface="Cambria Math" panose="02040503050406030204" charset="0"/>
                      </a:rPr>
                      <m:t>→</m:t>
                    </m:r>
                    <m:sSub>
                      <m:sSubPr>
                        <m:ctrlPr>
                          <a:rPr lang="en-US" i="1" dirty="0">
                            <a:latin typeface="Cambria Math" panose="02040503050406030204" pitchFamily="18" charset="0"/>
                            <a:cs typeface="Cambria Math" panose="02040503050406030204" charset="0"/>
                          </a:rPr>
                        </m:ctrlPr>
                      </m:sSubPr>
                      <m:e>
                        <m:r>
                          <a:rPr lang="en-US" i="1" dirty="0">
                            <a:latin typeface="Cambria Math" panose="02040503050406030204" charset="0"/>
                            <a:cs typeface="Cambria Math" panose="02040503050406030204" charset="0"/>
                          </a:rPr>
                          <m:t>𝛽</m:t>
                        </m:r>
                      </m:e>
                      <m:sub>
                        <m:r>
                          <a:rPr lang="en-US" i="1" dirty="0">
                            <a:latin typeface="Cambria Math" panose="02040503050406030204" charset="0"/>
                            <a:cs typeface="Cambria Math" panose="02040503050406030204" charset="0"/>
                          </a:rPr>
                          <m:t>𝑘</m:t>
                        </m:r>
                      </m:sub>
                    </m:sSub>
                  </m:oMath>
                </a14:m>
                <a:r>
                  <a:rPr lang="en-US" altLang="zh-CN" dirty="0">
                    <a:solidFill>
                      <a:srgbClr val="111827"/>
                    </a:solidFill>
                    <a:latin typeface="Aptos" pitchFamily="34" charset="0"/>
                    <a:ea typeface="Aptos" pitchFamily="34" charset="-122"/>
                    <a:cs typeface="Aptos" pitchFamily="34" charset="-120"/>
                  </a:rPr>
                  <a:t> almost surely, so the learned sampling threshold eventually matches the offline-optimal one.</a:t>
                </a:r>
              </a:p>
            </p:txBody>
          </p:sp>
        </mc:Choice>
        <mc:Fallback xmlns="">
          <p:sp>
            <p:nvSpPr>
              <p:cNvPr id="11" name="Text 8"/>
              <p:cNvSpPr>
                <a:spLocks noRot="1" noChangeAspect="1" noMove="1" noResize="1" noEditPoints="1" noAdjustHandles="1" noChangeArrowheads="1" noChangeShapeType="1" noTextEdit="1"/>
              </p:cNvSpPr>
              <p:nvPr>
                <p:custDataLst>
                  <p:tags r:id="rId12"/>
                </p:custDataLst>
              </p:nvPr>
            </p:nvSpPr>
            <p:spPr>
              <a:xfrm>
                <a:off x="6138545" y="3691890"/>
                <a:ext cx="5366385" cy="774065"/>
              </a:xfrm>
              <a:prstGeom prst="rect">
                <a:avLst/>
              </a:prstGeom>
              <a:blipFill rotWithShape="1">
                <a:blip r:embed="rId13"/>
                <a:stretch>
                  <a:fillRect r="-225"/>
                </a:stretch>
              </a:blipFill>
            </p:spPr>
            <p:txBody>
              <a:bodyPr/>
              <a:lstStyle/>
              <a:p>
                <a:r>
                  <a:rPr lang="zh-CN" altLang="en-US">
                    <a:noFill/>
                  </a:rPr>
                  <a:t> </a:t>
                </a:r>
              </a:p>
            </p:txBody>
          </p:sp>
        </mc:Fallback>
      </mc:AlternateContent>
      <p:sp>
        <p:nvSpPr>
          <p:cNvPr id="8" name="Shape 9"/>
          <p:cNvSpPr/>
          <p:nvPr>
            <p:custDataLst>
              <p:tags r:id="rId3"/>
            </p:custDataLst>
          </p:nvPr>
        </p:nvSpPr>
        <p:spPr>
          <a:xfrm>
            <a:off x="6093460" y="4625340"/>
            <a:ext cx="5588635" cy="789940"/>
          </a:xfrm>
          <a:prstGeom prst="roundRect">
            <a:avLst>
              <a:gd name="adj" fmla="val 7059"/>
            </a:avLst>
          </a:prstGeom>
          <a:solidFill>
            <a:srgbClr val="FFF4E4"/>
          </a:solidFill>
          <a:ln w="12700">
            <a:solidFill>
              <a:srgbClr val="F5D8A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7" name="Text 11"/>
              <p:cNvSpPr/>
              <p:nvPr>
                <p:custDataLst>
                  <p:tags r:id="rId4"/>
                </p:custDataLst>
              </p:nvPr>
            </p:nvSpPr>
            <p:spPr>
              <a:xfrm>
                <a:off x="6137910" y="4612640"/>
                <a:ext cx="5500370" cy="777240"/>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The estimation error decays as </a:t>
                </a:r>
                <a14:m>
                  <m:oMath xmlns:m="http://schemas.openxmlformats.org/officeDocument/2006/math">
                    <m:r>
                      <a:rPr lang="en-US" altLang="zh-CN" i="1" dirty="0">
                        <a:solidFill>
                          <a:srgbClr val="111827"/>
                        </a:solidFill>
                        <a:latin typeface="Cambria Math" panose="02040503050406030204" charset="0"/>
                        <a:ea typeface="Aptos" pitchFamily="34" charset="-122"/>
                        <a:cs typeface="Cambria Math" panose="02040503050406030204" charset="0"/>
                      </a:rPr>
                      <m:t>𝑂</m:t>
                    </m:r>
                    <m:r>
                      <a:rPr lang="en-US" altLang="zh-CN" i="1" dirty="0">
                        <a:solidFill>
                          <a:srgbClr val="111827"/>
                        </a:solidFill>
                        <a:latin typeface="Cambria Math" panose="02040503050406030204" charset="0"/>
                        <a:ea typeface="Aptos" pitchFamily="34" charset="-122"/>
                        <a:cs typeface="Cambria Math" panose="02040503050406030204" charset="0"/>
                      </a:rPr>
                      <m:t>(1/</m:t>
                    </m:r>
                    <m:r>
                      <a:rPr lang="en-US" altLang="zh-CN" i="1" dirty="0">
                        <a:solidFill>
                          <a:srgbClr val="111827"/>
                        </a:solidFill>
                        <a:latin typeface="Cambria Math" panose="02040503050406030204" charset="0"/>
                        <a:ea typeface="Aptos" pitchFamily="34" charset="-122"/>
                        <a:cs typeface="Cambria Math" panose="02040503050406030204" charset="0"/>
                      </a:rPr>
                      <m:t>𝑘</m:t>
                    </m:r>
                    <m:r>
                      <a:rPr lang="en-US" altLang="zh-CN" i="1" dirty="0">
                        <a:solidFill>
                          <a:srgbClr val="111827"/>
                        </a:solidFill>
                        <a:latin typeface="Cambria Math" panose="02040503050406030204" charset="0"/>
                        <a:ea typeface="Aptos" pitchFamily="34" charset="-122"/>
                        <a:cs typeface="Cambria Math" panose="02040503050406030204" charset="0"/>
                      </a:rPr>
                      <m:t>)</m:t>
                    </m:r>
                  </m:oMath>
                </a14:m>
                <a:r>
                  <a:rPr lang="en-US" altLang="zh-CN" dirty="0">
                    <a:solidFill>
                      <a:srgbClr val="111827"/>
                    </a:solidFill>
                    <a:latin typeface="Aptos" pitchFamily="34" charset="0"/>
                    <a:ea typeface="Aptos" pitchFamily="34" charset="-122"/>
                    <a:cs typeface="Aptos" pitchFamily="34" charset="-120"/>
                  </a:rPr>
                  <a:t>, meaning the online learner becomes accurate at the optimal stochastic-approximation rate. </a:t>
                </a:r>
              </a:p>
            </p:txBody>
          </p:sp>
        </mc:Choice>
        <mc:Fallback xmlns="">
          <p:sp>
            <p:nvSpPr>
              <p:cNvPr id="17" name="Text 11"/>
              <p:cNvSpPr>
                <a:spLocks noRot="1" noChangeAspect="1" noMove="1" noResize="1" noEditPoints="1" noAdjustHandles="1" noChangeArrowheads="1" noChangeShapeType="1" noTextEdit="1"/>
              </p:cNvSpPr>
              <p:nvPr>
                <p:custDataLst>
                  <p:tags r:id="rId14"/>
                </p:custDataLst>
              </p:nvPr>
            </p:nvSpPr>
            <p:spPr>
              <a:xfrm>
                <a:off x="6137910" y="4612640"/>
                <a:ext cx="5500370" cy="777240"/>
              </a:xfrm>
              <a:prstGeom prst="rect">
                <a:avLst/>
              </a:prstGeom>
              <a:blipFill rotWithShape="1">
                <a:blip r:embed="rId15"/>
                <a:stretch>
                  <a:fillRect t="-5719" b="-2042"/>
                </a:stretch>
              </a:blipFill>
            </p:spPr>
            <p:txBody>
              <a:bodyPr/>
              <a:lstStyle/>
              <a:p>
                <a:r>
                  <a:rPr lang="zh-CN" altLang="en-US">
                    <a:noFill/>
                  </a:rPr>
                  <a:t> </a:t>
                </a:r>
              </a:p>
            </p:txBody>
          </p:sp>
        </mc:Fallback>
      </mc:AlternateContent>
      <p:sp>
        <p:nvSpPr>
          <p:cNvPr id="18" name="Shape 12"/>
          <p:cNvSpPr/>
          <p:nvPr>
            <p:custDataLst>
              <p:tags r:id="rId5"/>
            </p:custDataLst>
          </p:nvPr>
        </p:nvSpPr>
        <p:spPr>
          <a:xfrm>
            <a:off x="6093460" y="5574665"/>
            <a:ext cx="5582285" cy="771525"/>
          </a:xfrm>
          <a:prstGeom prst="roundRect">
            <a:avLst>
              <a:gd name="adj" fmla="val 7059"/>
            </a:avLst>
          </a:prstGeom>
          <a:solidFill>
            <a:srgbClr val="F2FBF6"/>
          </a:solidFill>
          <a:ln w="12700">
            <a:solidFill>
              <a:srgbClr val="D3EFDD"/>
            </a:solidFill>
            <a:prstDash val="solid"/>
          </a:ln>
        </p:spPr>
        <p:txBody>
          <a:bodyPr/>
          <a:lstStyle/>
          <a:p>
            <a:endParaRPr lang="zh-CN" altLang="en-US"/>
          </a:p>
        </p:txBody>
      </p:sp>
      <mc:AlternateContent xmlns:mc="http://schemas.openxmlformats.org/markup-compatibility/2006" xmlns:a14="http://schemas.microsoft.com/office/drawing/2010/main">
        <mc:Choice Requires="a14">
          <p:sp>
            <p:nvSpPr>
              <p:cNvPr id="20" name="Text 14"/>
              <p:cNvSpPr/>
              <p:nvPr>
                <p:custDataLst>
                  <p:tags r:id="rId6"/>
                </p:custDataLst>
              </p:nvPr>
            </p:nvSpPr>
            <p:spPr>
              <a:xfrm>
                <a:off x="6138545" y="5624830"/>
                <a:ext cx="5450840" cy="633095"/>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No online algorithm can improve the worst-case rate beyond </a:t>
                </a:r>
                <a14:m>
                  <m:oMath xmlns:m="http://schemas.openxmlformats.org/officeDocument/2006/math">
                    <m:r>
                      <a:rPr lang="en-US" altLang="zh-CN" i="1" dirty="0">
                        <a:solidFill>
                          <a:srgbClr val="111827"/>
                        </a:solidFill>
                        <a:latin typeface="Cambria Math" panose="02040503050406030204" charset="0"/>
                        <a:ea typeface="Aptos" pitchFamily="34" charset="-122"/>
                        <a:cs typeface="Cambria Math" panose="02040503050406030204" charset="0"/>
                      </a:rPr>
                      <m:t>𝛺</m:t>
                    </m:r>
                    <m:r>
                      <a:rPr lang="en-US" altLang="zh-CN" i="1" dirty="0">
                        <a:solidFill>
                          <a:srgbClr val="111827"/>
                        </a:solidFill>
                        <a:latin typeface="Cambria Math" panose="02040503050406030204" charset="0"/>
                        <a:ea typeface="Aptos" pitchFamily="34" charset="-122"/>
                        <a:cs typeface="Cambria Math" panose="02040503050406030204" charset="0"/>
                      </a:rPr>
                      <m:t>(1/</m:t>
                    </m:r>
                    <m:r>
                      <a:rPr lang="en-US" altLang="zh-CN" i="1" dirty="0">
                        <a:solidFill>
                          <a:srgbClr val="111827"/>
                        </a:solidFill>
                        <a:latin typeface="Cambria Math" panose="02040503050406030204" charset="0"/>
                        <a:ea typeface="Aptos" pitchFamily="34" charset="-122"/>
                        <a:cs typeface="Cambria Math" panose="02040503050406030204" charset="0"/>
                      </a:rPr>
                      <m:t>𝑘</m:t>
                    </m:r>
                    <m:r>
                      <a:rPr lang="en-US" altLang="zh-CN" i="1" dirty="0">
                        <a:solidFill>
                          <a:srgbClr val="111827"/>
                        </a:solidFill>
                        <a:latin typeface="Cambria Math" panose="02040503050406030204" charset="0"/>
                        <a:ea typeface="Aptos" pitchFamily="34" charset="-122"/>
                        <a:cs typeface="Cambria Math" panose="02040503050406030204" charset="0"/>
                      </a:rPr>
                      <m:t>)</m:t>
                    </m:r>
                  </m:oMath>
                </a14:m>
                <a:r>
                  <a:rPr lang="en-US" altLang="zh-CN" dirty="0">
                    <a:solidFill>
                      <a:srgbClr val="111827"/>
                    </a:solidFill>
                    <a:latin typeface="Aptos" pitchFamily="34" charset="0"/>
                    <a:ea typeface="Aptos" pitchFamily="34" charset="-122"/>
                    <a:cs typeface="Aptos" pitchFamily="34" charset="-120"/>
                  </a:rPr>
                  <a:t>, which shows our algorithm is minimax-rate optimal.</a:t>
                </a:r>
                <a:endParaRPr lang="zh-CN" altLang="en-US" dirty="0">
                  <a:solidFill>
                    <a:srgbClr val="111827"/>
                  </a:solidFill>
                  <a:latin typeface="Aptos" pitchFamily="34" charset="0"/>
                  <a:ea typeface="Aptos" pitchFamily="34" charset="-122"/>
                  <a:cs typeface="Aptos" pitchFamily="34" charset="-120"/>
                </a:endParaRPr>
              </a:p>
            </p:txBody>
          </p:sp>
        </mc:Choice>
        <mc:Fallback xmlns="">
          <p:sp>
            <p:nvSpPr>
              <p:cNvPr id="20" name="Text 14"/>
              <p:cNvSpPr>
                <a:spLocks noRot="1" noChangeAspect="1" noMove="1" noResize="1" noEditPoints="1" noAdjustHandles="1" noChangeArrowheads="1" noChangeShapeType="1" noTextEdit="1"/>
              </p:cNvSpPr>
              <p:nvPr>
                <p:custDataLst>
                  <p:tags r:id="rId16"/>
                </p:custDataLst>
              </p:nvPr>
            </p:nvSpPr>
            <p:spPr>
              <a:xfrm>
                <a:off x="6138545" y="5624830"/>
                <a:ext cx="5450840" cy="633095"/>
              </a:xfrm>
              <a:prstGeom prst="rect">
                <a:avLst/>
              </a:prstGeom>
              <a:blipFill rotWithShape="1">
                <a:blip r:embed="rId17"/>
                <a:stretch>
                  <a:fillRect t="-18355" b="-13942"/>
                </a:stretch>
              </a:blipFill>
            </p:spPr>
            <p:txBody>
              <a:bodyPr/>
              <a:lstStyle/>
              <a:p>
                <a:r>
                  <a:rPr lang="zh-CN" altLang="en-US">
                    <a:noFill/>
                  </a:rPr>
                  <a:t> </a:t>
                </a:r>
              </a:p>
            </p:txBody>
          </p:sp>
        </mc:Fallback>
      </mc:AlternateContent>
      <p:sp>
        <p:nvSpPr>
          <p:cNvPr id="5" name="Shape 0"/>
          <p:cNvSpPr/>
          <p:nvPr/>
        </p:nvSpPr>
        <p:spPr>
          <a:xfrm>
            <a:off x="4435475" y="6141720"/>
            <a:ext cx="372745" cy="339725"/>
          </a:xfrm>
          <a:prstGeom prst="rect">
            <a:avLst/>
          </a:prstGeom>
          <a:solidFill>
            <a:srgbClr val="FFFFFF"/>
          </a:solidFill>
          <a:ln w="12700">
            <a:solidFill>
              <a:srgbClr val="FFFFFF"/>
            </a:solidFill>
            <a:prstDash val="solid"/>
          </a:ln>
        </p:spPr>
        <p:txBody>
          <a:bodyPr/>
          <a:lstStyle/>
          <a:p>
            <a:endParaRPr lang="en-CN"/>
          </a:p>
        </p:txBody>
      </p:sp>
      <p:sp>
        <p:nvSpPr>
          <p:cNvPr id="14" name="Shape 0"/>
          <p:cNvSpPr/>
          <p:nvPr/>
        </p:nvSpPr>
        <p:spPr>
          <a:xfrm>
            <a:off x="4415155" y="5234940"/>
            <a:ext cx="318135" cy="339725"/>
          </a:xfrm>
          <a:prstGeom prst="rect">
            <a:avLst/>
          </a:prstGeom>
          <a:solidFill>
            <a:srgbClr val="FFFFFF"/>
          </a:solidFill>
          <a:ln w="12700">
            <a:solidFill>
              <a:srgbClr val="FFFFFF"/>
            </a:solidFill>
            <a:prstDash val="solid"/>
          </a:ln>
        </p:spPr>
        <p:txBody>
          <a:bodyPr/>
          <a:lstStyle/>
          <a:p>
            <a:endParaRPr lang="en-CN"/>
          </a:p>
        </p:txBody>
      </p:sp>
      <p:sp>
        <p:nvSpPr>
          <p:cNvPr id="19" name="Shape 0"/>
          <p:cNvSpPr/>
          <p:nvPr/>
        </p:nvSpPr>
        <p:spPr>
          <a:xfrm>
            <a:off x="10288270" y="2119630"/>
            <a:ext cx="372745" cy="339725"/>
          </a:xfrm>
          <a:prstGeom prst="rect">
            <a:avLst/>
          </a:prstGeom>
          <a:solidFill>
            <a:srgbClr val="FFFFFF"/>
          </a:solidFill>
          <a:ln w="12700">
            <a:solidFill>
              <a:srgbClr val="FFFFFF"/>
            </a:solidFill>
            <a:prstDash val="solid"/>
          </a:ln>
        </p:spPr>
        <p:txBody>
          <a:bodyPr/>
          <a:lstStyle/>
          <a:p>
            <a:endParaRPr lang="en-CN"/>
          </a:p>
        </p:txBody>
      </p:sp>
      <p:sp>
        <p:nvSpPr>
          <p:cNvPr id="21" name="Shape 0"/>
          <p:cNvSpPr/>
          <p:nvPr/>
        </p:nvSpPr>
        <p:spPr>
          <a:xfrm>
            <a:off x="10366375" y="3089275"/>
            <a:ext cx="372745" cy="339725"/>
          </a:xfrm>
          <a:prstGeom prst="rect">
            <a:avLst/>
          </a:prstGeom>
          <a:solidFill>
            <a:srgbClr val="FFFFFF"/>
          </a:solidFill>
          <a:ln w="12700">
            <a:solidFill>
              <a:srgbClr val="FFFFFF"/>
            </a:solidFill>
            <a:prstDash val="solid"/>
          </a:ln>
        </p:spPr>
        <p:txBody>
          <a:bodyPr/>
          <a:lstStyle/>
          <a:p>
            <a:endParaRPr lang="en-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Theoretical Guarantees</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The algorithm is not only rate-optimal but also with high stability</a:t>
            </a:r>
            <a:endParaRPr lang="en-US" dirty="0"/>
          </a:p>
        </p:txBody>
      </p:sp>
      <p:sp>
        <p:nvSpPr>
          <p:cNvPr id="18" name="Shape 15"/>
          <p:cNvSpPr/>
          <p:nvPr/>
        </p:nvSpPr>
        <p:spPr>
          <a:xfrm>
            <a:off x="607695" y="1426845"/>
            <a:ext cx="4526280" cy="492760"/>
          </a:xfrm>
          <a:prstGeom prst="roundRect">
            <a:avLst>
              <a:gd name="adj" fmla="val 8824"/>
            </a:avLst>
          </a:prstGeom>
          <a:solidFill>
            <a:srgbClr val="FFFFFF"/>
          </a:solidFill>
          <a:ln w="12700">
            <a:solidFill>
              <a:srgbClr val="D8E6FA"/>
            </a:solidFill>
            <a:prstDash val="solid"/>
          </a:ln>
        </p:spPr>
        <p:txBody>
          <a:bodyPr/>
          <a:lstStyle/>
          <a:p>
            <a:endParaRPr lang="en-CN"/>
          </a:p>
        </p:txBody>
      </p:sp>
      <p:sp>
        <p:nvSpPr>
          <p:cNvPr id="19" name="Text 16"/>
          <p:cNvSpPr/>
          <p:nvPr/>
        </p:nvSpPr>
        <p:spPr>
          <a:xfrm>
            <a:off x="772287" y="1536827"/>
            <a:ext cx="4197096" cy="256032"/>
          </a:xfrm>
          <a:prstGeom prst="rect">
            <a:avLst/>
          </a:prstGeom>
          <a:noFill/>
        </p:spPr>
        <p:txBody>
          <a:bodyPr wrap="square" lIns="0" tIns="0" rIns="0" bIns="0" rtlCol="0" anchor="ctr"/>
          <a:lstStyle/>
          <a:p>
            <a:pPr marL="0" indent="0">
              <a:buNone/>
            </a:pPr>
            <a:r>
              <a:rPr lang="en-US" sz="2000" b="1" dirty="0">
                <a:solidFill>
                  <a:srgbClr val="C83F49"/>
                </a:solidFill>
                <a:latin typeface="Aptos Display" pitchFamily="34" charset="0"/>
                <a:ea typeface="Aptos Display" pitchFamily="34" charset="-122"/>
                <a:cs typeface="Aptos Display" pitchFamily="34" charset="-120"/>
              </a:rPr>
              <a:t>Stability</a:t>
            </a:r>
          </a:p>
        </p:txBody>
      </p:sp>
      <p:sp>
        <p:nvSpPr>
          <p:cNvPr id="21" name="Shape 18"/>
          <p:cNvSpPr/>
          <p:nvPr/>
        </p:nvSpPr>
        <p:spPr>
          <a:xfrm>
            <a:off x="6496685" y="1426845"/>
            <a:ext cx="4526280" cy="492760"/>
          </a:xfrm>
          <a:prstGeom prst="roundRect">
            <a:avLst>
              <a:gd name="adj" fmla="val 7692"/>
            </a:avLst>
          </a:prstGeom>
          <a:solidFill>
            <a:srgbClr val="F8FAFC"/>
          </a:solidFill>
          <a:ln w="12700">
            <a:solidFill>
              <a:srgbClr val="DFE7F2"/>
            </a:solidFill>
            <a:prstDash val="solid"/>
          </a:ln>
        </p:spPr>
        <p:txBody>
          <a:bodyPr/>
          <a:lstStyle/>
          <a:p>
            <a:endParaRPr lang="en-CN"/>
          </a:p>
        </p:txBody>
      </p:sp>
      <p:sp>
        <p:nvSpPr>
          <p:cNvPr id="22" name="Text 19"/>
          <p:cNvSpPr/>
          <p:nvPr/>
        </p:nvSpPr>
        <p:spPr>
          <a:xfrm>
            <a:off x="6661150" y="1483995"/>
            <a:ext cx="4197350" cy="293370"/>
          </a:xfrm>
          <a:prstGeom prst="rect">
            <a:avLst/>
          </a:prstGeom>
          <a:noFill/>
        </p:spPr>
        <p:txBody>
          <a:bodyPr wrap="square" lIns="0" tIns="0" rIns="0" bIns="0" rtlCol="0" anchor="ctr"/>
          <a:lstStyle/>
          <a:p>
            <a:pPr marL="0" indent="0">
              <a:buNone/>
            </a:pPr>
            <a:r>
              <a:rPr lang="en-US" sz="2000" b="1" dirty="0">
                <a:solidFill>
                  <a:srgbClr val="0B1F3A"/>
                </a:solidFill>
                <a:latin typeface="Aptos Display" pitchFamily="34" charset="0"/>
                <a:ea typeface="Aptos Display" pitchFamily="34" charset="-122"/>
                <a:cs typeface="Aptos Display" pitchFamily="34" charset="-120"/>
              </a:rPr>
              <a:t>Accleration</a:t>
            </a:r>
          </a:p>
        </p:txBody>
      </p:sp>
      <p:sp>
        <p:nvSpPr>
          <p:cNvPr id="25" name="Text 22"/>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11</a:t>
            </a:r>
            <a:endParaRPr lang="en-US" sz="880" dirty="0"/>
          </a:p>
        </p:txBody>
      </p:sp>
      <p:sp>
        <p:nvSpPr>
          <p:cNvPr id="27" name="Shape 0"/>
          <p:cNvSpPr/>
          <p:nvPr/>
        </p:nvSpPr>
        <p:spPr>
          <a:xfrm>
            <a:off x="4298950" y="1941195"/>
            <a:ext cx="297180" cy="207645"/>
          </a:xfrm>
          <a:prstGeom prst="rect">
            <a:avLst/>
          </a:prstGeom>
          <a:solidFill>
            <a:srgbClr val="FFFFFF"/>
          </a:solidFill>
          <a:ln w="12700">
            <a:solidFill>
              <a:srgbClr val="FFFFFF"/>
            </a:solidFill>
            <a:prstDash val="solid"/>
          </a:ln>
        </p:spPr>
        <p:txBody>
          <a:bodyPr/>
          <a:lstStyle/>
          <a:p>
            <a:endParaRPr lang="en-CN"/>
          </a:p>
        </p:txBody>
      </p:sp>
      <p:sp>
        <p:nvSpPr>
          <p:cNvPr id="28" name="Shape 0"/>
          <p:cNvSpPr/>
          <p:nvPr/>
        </p:nvSpPr>
        <p:spPr>
          <a:xfrm>
            <a:off x="4298950" y="3000375"/>
            <a:ext cx="297180" cy="207645"/>
          </a:xfrm>
          <a:prstGeom prst="rect">
            <a:avLst/>
          </a:prstGeom>
          <a:solidFill>
            <a:srgbClr val="FFFFFF"/>
          </a:solidFill>
          <a:ln w="12700">
            <a:solidFill>
              <a:srgbClr val="FFFFFF"/>
            </a:solidFill>
            <a:prstDash val="solid"/>
          </a:ln>
        </p:spPr>
        <p:txBody>
          <a:bodyPr/>
          <a:lstStyle/>
          <a:p>
            <a:endParaRPr lang="en-CN"/>
          </a:p>
        </p:txBody>
      </p:sp>
      <p:pic>
        <p:nvPicPr>
          <p:cNvPr id="8" name="图片 7"/>
          <p:cNvPicPr>
            <a:picLocks noChangeAspect="1"/>
          </p:cNvPicPr>
          <p:nvPr/>
        </p:nvPicPr>
        <p:blipFill>
          <a:blip r:embed="rId9"/>
          <a:stretch>
            <a:fillRect/>
          </a:stretch>
        </p:blipFill>
        <p:spPr>
          <a:xfrm>
            <a:off x="305435" y="1941195"/>
            <a:ext cx="5380355" cy="1263015"/>
          </a:xfrm>
          <a:prstGeom prst="rect">
            <a:avLst/>
          </a:prstGeom>
        </p:spPr>
      </p:pic>
      <p:pic>
        <p:nvPicPr>
          <p:cNvPr id="24" name="图片 23"/>
          <p:cNvPicPr>
            <a:picLocks noChangeAspect="1"/>
          </p:cNvPicPr>
          <p:nvPr/>
        </p:nvPicPr>
        <p:blipFill>
          <a:blip r:embed="rId10"/>
          <a:stretch>
            <a:fillRect/>
          </a:stretch>
        </p:blipFill>
        <p:spPr>
          <a:xfrm>
            <a:off x="6305550" y="1919605"/>
            <a:ext cx="4994275" cy="1612900"/>
          </a:xfrm>
          <a:prstGeom prst="rect">
            <a:avLst/>
          </a:prstGeom>
        </p:spPr>
      </p:pic>
      <p:sp>
        <p:nvSpPr>
          <p:cNvPr id="9" name="Shape 6"/>
          <p:cNvSpPr/>
          <p:nvPr>
            <p:custDataLst>
              <p:tags r:id="rId1"/>
            </p:custDataLst>
          </p:nvPr>
        </p:nvSpPr>
        <p:spPr>
          <a:xfrm>
            <a:off x="403225" y="3873500"/>
            <a:ext cx="10896600" cy="733425"/>
          </a:xfrm>
          <a:prstGeom prst="roundRect">
            <a:avLst>
              <a:gd name="adj" fmla="val 7059"/>
            </a:avLst>
          </a:prstGeom>
          <a:solidFill>
            <a:srgbClr val="EAF2FF"/>
          </a:solidFill>
          <a:ln w="12700">
            <a:solidFill>
              <a:srgbClr val="D8E6F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1" name="Text 8"/>
              <p:cNvSpPr/>
              <p:nvPr>
                <p:custDataLst>
                  <p:tags r:id="rId2"/>
                </p:custDataLst>
              </p:nvPr>
            </p:nvSpPr>
            <p:spPr>
              <a:xfrm>
                <a:off x="446405" y="3826510"/>
                <a:ext cx="10478770" cy="774065"/>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Variable-window averaging smooths noisy RM updates.</a:t>
                </a:r>
              </a:p>
              <a:p>
                <a:pPr marL="0" indent="0">
                  <a:buNone/>
                </a:pPr>
                <a:r>
                  <a:rPr lang="en-US" altLang="zh-CN" dirty="0">
                    <a:solidFill>
                      <a:srgbClr val="111827"/>
                    </a:solidFill>
                    <a:latin typeface="Aptos" pitchFamily="34" charset="0"/>
                    <a:ea typeface="Aptos" pitchFamily="34" charset="-122"/>
                    <a:cs typeface="Aptos" pitchFamily="34" charset="-120"/>
                  </a:rPr>
                  <a:t>The averaged error becomes asymptotically zero-mean, and its variance decays as </a:t>
                </a:r>
                <a14:m>
                  <m:oMath xmlns:m="http://schemas.openxmlformats.org/officeDocument/2006/math">
                    <m:r>
                      <a:rPr lang="en-US" altLang="zh-CN" i="1" dirty="0">
                        <a:solidFill>
                          <a:srgbClr val="111827"/>
                        </a:solidFill>
                        <a:latin typeface="Cambria Math" panose="02040503050406030204" charset="0"/>
                        <a:ea typeface="Aptos" pitchFamily="34" charset="-122"/>
                        <a:cs typeface="Cambria Math" panose="02040503050406030204" charset="0"/>
                      </a:rPr>
                      <m:t>1/</m:t>
                    </m:r>
                    <m:r>
                      <a:rPr lang="en-US" altLang="zh-CN" i="1" dirty="0">
                        <a:solidFill>
                          <a:srgbClr val="111827"/>
                        </a:solidFill>
                        <a:latin typeface="Cambria Math" panose="02040503050406030204" charset="0"/>
                        <a:ea typeface="Aptos" pitchFamily="34" charset="-122"/>
                        <a:cs typeface="Cambria Math" panose="02040503050406030204" charset="0"/>
                      </a:rPr>
                      <m:t>𝑡</m:t>
                    </m:r>
                  </m:oMath>
                </a14:m>
                <a:r>
                  <a:rPr lang="en-US" altLang="zh-CN" dirty="0">
                    <a:solidFill>
                      <a:srgbClr val="111827"/>
                    </a:solidFill>
                    <a:latin typeface="Aptos" pitchFamily="34" charset="0"/>
                    <a:ea typeface="Aptos" pitchFamily="34" charset="-122"/>
                    <a:cs typeface="Aptos" pitchFamily="34" charset="-120"/>
                  </a:rPr>
                  <a:t>.</a:t>
                </a:r>
              </a:p>
            </p:txBody>
          </p:sp>
        </mc:Choice>
        <mc:Fallback xmlns="">
          <p:sp>
            <p:nvSpPr>
              <p:cNvPr id="11" name="Text 8"/>
              <p:cNvSpPr>
                <a:spLocks noRot="1" noChangeAspect="1" noMove="1" noResize="1" noEditPoints="1" noAdjustHandles="1" noChangeArrowheads="1" noChangeShapeType="1" noTextEdit="1"/>
              </p:cNvSpPr>
              <p:nvPr>
                <p:custDataLst>
                  <p:tags r:id="rId11"/>
                </p:custDataLst>
              </p:nvPr>
            </p:nvSpPr>
            <p:spPr>
              <a:xfrm>
                <a:off x="446405" y="3826510"/>
                <a:ext cx="10478770" cy="774065"/>
              </a:xfrm>
              <a:prstGeom prst="rect">
                <a:avLst/>
              </a:prstGeom>
              <a:blipFill rotWithShape="1">
                <a:blip r:embed="rId12"/>
                <a:stretch>
                  <a:fillRect/>
                </a:stretch>
              </a:blipFill>
            </p:spPr>
            <p:txBody>
              <a:bodyPr/>
              <a:lstStyle/>
              <a:p>
                <a:r>
                  <a:rPr lang="zh-CN" altLang="en-US">
                    <a:noFill/>
                  </a:rPr>
                  <a:t> </a:t>
                </a:r>
              </a:p>
            </p:txBody>
          </p:sp>
        </mc:Fallback>
      </mc:AlternateContent>
      <p:sp>
        <p:nvSpPr>
          <p:cNvPr id="10" name="Shape 9"/>
          <p:cNvSpPr/>
          <p:nvPr>
            <p:custDataLst>
              <p:tags r:id="rId3"/>
            </p:custDataLst>
          </p:nvPr>
        </p:nvSpPr>
        <p:spPr>
          <a:xfrm>
            <a:off x="401320" y="4759960"/>
            <a:ext cx="10913110" cy="789940"/>
          </a:xfrm>
          <a:prstGeom prst="roundRect">
            <a:avLst>
              <a:gd name="adj" fmla="val 7059"/>
            </a:avLst>
          </a:prstGeom>
          <a:solidFill>
            <a:srgbClr val="FFF4E4"/>
          </a:solidFill>
          <a:ln w="12700">
            <a:solidFill>
              <a:srgbClr val="F5D8AA"/>
            </a:solidFill>
            <a:prstDash val="solid"/>
          </a:ln>
        </p:spPr>
        <p:txBody>
          <a:bodyPr/>
          <a:lstStyle/>
          <a:p>
            <a:endParaRPr lang="en-CN"/>
          </a:p>
        </p:txBody>
      </p:sp>
      <mc:AlternateContent xmlns:mc="http://schemas.openxmlformats.org/markup-compatibility/2006" xmlns:a14="http://schemas.microsoft.com/office/drawing/2010/main">
        <mc:Choice Requires="a14">
          <p:sp>
            <p:nvSpPr>
              <p:cNvPr id="17" name="Text 11"/>
              <p:cNvSpPr/>
              <p:nvPr>
                <p:custDataLst>
                  <p:tags r:id="rId4"/>
                </p:custDataLst>
              </p:nvPr>
            </p:nvSpPr>
            <p:spPr>
              <a:xfrm>
                <a:off x="445770" y="4747260"/>
                <a:ext cx="10740390" cy="777240"/>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PR averaging allows a larger </a:t>
                </a:r>
                <a14:m>
                  <m:oMath xmlns:m="http://schemas.openxmlformats.org/officeDocument/2006/math">
                    <m:r>
                      <a:rPr lang="en-US" altLang="zh-CN" i="1" dirty="0">
                        <a:solidFill>
                          <a:srgbClr val="111827"/>
                        </a:solidFill>
                        <a:latin typeface="Cambria Math" panose="02040503050406030204" charset="0"/>
                        <a:ea typeface="Aptos" pitchFamily="34" charset="-122"/>
                        <a:cs typeface="Cambria Math" panose="02040503050406030204" charset="0"/>
                      </a:rPr>
                      <m:t>𝑂</m:t>
                    </m:r>
                    <m:r>
                      <a:rPr lang="en-US" altLang="zh-CN" i="1" dirty="0">
                        <a:solidFill>
                          <a:srgbClr val="111827"/>
                        </a:solidFill>
                        <a:latin typeface="Cambria Math" panose="02040503050406030204" charset="0"/>
                        <a:ea typeface="Aptos" pitchFamily="34" charset="-122"/>
                        <a:cs typeface="Cambria Math" panose="02040503050406030204" charset="0"/>
                      </a:rPr>
                      <m:t>(1/</m:t>
                    </m:r>
                    <m:r>
                      <a:rPr lang="en-US" altLang="zh-CN" i="1" dirty="0">
                        <a:solidFill>
                          <a:srgbClr val="111827"/>
                        </a:solidFill>
                        <a:latin typeface="Cambria Math" panose="02040503050406030204" charset="0"/>
                        <a:ea typeface="Aptos" pitchFamily="34" charset="-122"/>
                        <a:cs typeface="Cambria Math" panose="02040503050406030204" charset="0"/>
                      </a:rPr>
                      <m:t>𝑘</m:t>
                    </m:r>
                    <m:r>
                      <a:rPr lang="en-US" altLang="zh-CN" i="1" dirty="0">
                        <a:solidFill>
                          <a:srgbClr val="111827"/>
                        </a:solidFill>
                        <a:latin typeface="Cambria Math" panose="02040503050406030204" charset="0"/>
                        <a:ea typeface="Aptos" pitchFamily="34" charset="-122"/>
                        <a:cs typeface="Cambria Math" panose="02040503050406030204" charset="0"/>
                      </a:rPr>
                      <m:t>)</m:t>
                    </m:r>
                  </m:oMath>
                </a14:m>
                <a:r>
                  <a:rPr lang="en-US" altLang="zh-CN" dirty="0">
                    <a:solidFill>
                      <a:srgbClr val="111827"/>
                    </a:solidFill>
                    <a:latin typeface="Aptos" pitchFamily="34" charset="0"/>
                    <a:ea typeface="Aptos" pitchFamily="34" charset="-122"/>
                    <a:cs typeface="Aptos" pitchFamily="34" charset="-120"/>
                  </a:rPr>
                  <a:t> step size while keeping the averaged estimate stable.</a:t>
                </a:r>
              </a:p>
            </p:txBody>
          </p:sp>
        </mc:Choice>
        <mc:Fallback xmlns="">
          <p:sp>
            <p:nvSpPr>
              <p:cNvPr id="17" name="Text 11"/>
              <p:cNvSpPr>
                <a:spLocks noRot="1" noChangeAspect="1" noMove="1" noResize="1" noEditPoints="1" noAdjustHandles="1" noChangeArrowheads="1" noChangeShapeType="1" noTextEdit="1"/>
              </p:cNvSpPr>
              <p:nvPr>
                <p:custDataLst>
                  <p:tags r:id="rId13"/>
                </p:custDataLst>
              </p:nvPr>
            </p:nvSpPr>
            <p:spPr>
              <a:xfrm>
                <a:off x="445770" y="4747260"/>
                <a:ext cx="10740390" cy="777240"/>
              </a:xfrm>
              <a:prstGeom prst="rect">
                <a:avLst/>
              </a:prstGeom>
              <a:blipFill rotWithShape="1">
                <a:blip r:embed="rId14"/>
                <a:stretch>
                  <a:fillRect/>
                </a:stretch>
              </a:blipFill>
            </p:spPr>
            <p:txBody>
              <a:bodyPr/>
              <a:lstStyle/>
              <a:p>
                <a:r>
                  <a:rPr lang="zh-CN" altLang="en-US">
                    <a:noFill/>
                  </a:rPr>
                  <a:t> </a:t>
                </a:r>
              </a:p>
            </p:txBody>
          </p:sp>
        </mc:Fallback>
      </mc:AlternateContent>
      <p:sp>
        <p:nvSpPr>
          <p:cNvPr id="12" name="Shape 12"/>
          <p:cNvSpPr/>
          <p:nvPr>
            <p:custDataLst>
              <p:tags r:id="rId5"/>
            </p:custDataLst>
          </p:nvPr>
        </p:nvSpPr>
        <p:spPr>
          <a:xfrm>
            <a:off x="401320" y="5709285"/>
            <a:ext cx="10900410" cy="771525"/>
          </a:xfrm>
          <a:prstGeom prst="roundRect">
            <a:avLst>
              <a:gd name="adj" fmla="val 7059"/>
            </a:avLst>
          </a:prstGeom>
          <a:solidFill>
            <a:srgbClr val="F2FBF6"/>
          </a:solidFill>
          <a:ln w="12700">
            <a:solidFill>
              <a:srgbClr val="D3EFDD"/>
            </a:solidFill>
            <a:prstDash val="solid"/>
          </a:ln>
        </p:spPr>
        <p:txBody>
          <a:bodyPr/>
          <a:lstStyle/>
          <a:p>
            <a:endParaRPr lang="zh-CN" altLang="en-US"/>
          </a:p>
        </p:txBody>
      </p:sp>
      <mc:AlternateContent xmlns:mc="http://schemas.openxmlformats.org/markup-compatibility/2006" xmlns:a14="http://schemas.microsoft.com/office/drawing/2010/main">
        <mc:Choice Requires="a14">
          <p:sp>
            <p:nvSpPr>
              <p:cNvPr id="20" name="Text 14"/>
              <p:cNvSpPr/>
              <p:nvPr>
                <p:custDataLst>
                  <p:tags r:id="rId6"/>
                </p:custDataLst>
              </p:nvPr>
            </p:nvSpPr>
            <p:spPr>
              <a:xfrm>
                <a:off x="446405" y="5759450"/>
                <a:ext cx="10643870" cy="633095"/>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The normalized error under PR averaging has variance </a:t>
                </a:r>
                <a14:m>
                  <m:oMath xmlns:m="http://schemas.openxmlformats.org/officeDocument/2006/math">
                    <m:r>
                      <a:rPr lang="en-US" altLang="zh-CN" i="1" dirty="0">
                        <a:solidFill>
                          <a:srgbClr val="111827"/>
                        </a:solidFill>
                        <a:latin typeface="Cambria Math" panose="02040503050406030204" charset="0"/>
                        <a:ea typeface="Aptos" pitchFamily="34" charset="-122"/>
                        <a:cs typeface="Cambria Math" panose="02040503050406030204" charset="0"/>
                      </a:rPr>
                      <m:t>𝑉</m:t>
                    </m:r>
                    <m:r>
                      <a:rPr lang="en-US" altLang="zh-CN" i="1" dirty="0">
                        <a:solidFill>
                          <a:srgbClr val="111827"/>
                        </a:solidFill>
                        <a:latin typeface="Cambria Math" panose="02040503050406030204" charset="0"/>
                        <a:ea typeface="Aptos" pitchFamily="34" charset="-122"/>
                        <a:cs typeface="Cambria Math" panose="02040503050406030204" charset="0"/>
                      </a:rPr>
                      <m:t>/</m:t>
                    </m:r>
                    <m:r>
                      <a:rPr lang="en-US" altLang="zh-CN" i="1" dirty="0">
                        <a:solidFill>
                          <a:srgbClr val="111827"/>
                        </a:solidFill>
                        <a:latin typeface="Cambria Math" panose="02040503050406030204" charset="0"/>
                        <a:ea typeface="Aptos" pitchFamily="34" charset="-122"/>
                        <a:cs typeface="Cambria Math" panose="02040503050406030204" charset="0"/>
                      </a:rPr>
                      <m:t>𝑘</m:t>
                    </m:r>
                  </m:oMath>
                </a14:m>
                <a:r>
                  <a:rPr lang="en-US" altLang="zh-CN" dirty="0">
                    <a:solidFill>
                      <a:srgbClr val="111827"/>
                    </a:solidFill>
                    <a:latin typeface="Aptos" pitchFamily="34" charset="0"/>
                    <a:ea typeface="Aptos" pitchFamily="34" charset="-122"/>
                    <a:cs typeface="Aptos" pitchFamily="34" charset="-120"/>
                  </a:rPr>
                  <a:t>, meaning the estimate becomes increasingly concentrated around </a:t>
                </a:r>
                <a14:m>
                  <m:oMath xmlns:m="http://schemas.openxmlformats.org/officeDocument/2006/math">
                    <m:sSup>
                      <m:sSupPr>
                        <m:ctrlPr>
                          <a:rPr lang="en-US" i="1" dirty="0">
                            <a:solidFill>
                              <a:srgbClr val="111827"/>
                            </a:solidFill>
                            <a:latin typeface="Cambria Math" panose="02040503050406030204" pitchFamily="18" charset="0"/>
                            <a:ea typeface="Aptos" pitchFamily="34" charset="-122"/>
                            <a:cs typeface="Cambria Math" panose="02040503050406030204" charset="0"/>
                          </a:rPr>
                        </m:ctrlPr>
                      </m:sSupPr>
                      <m:e>
                        <m:r>
                          <a:rPr lang="en-US" i="1" dirty="0">
                            <a:solidFill>
                              <a:srgbClr val="111827"/>
                            </a:solidFill>
                            <a:latin typeface="Cambria Math" panose="02040503050406030204" charset="0"/>
                            <a:ea typeface="Aptos" pitchFamily="34" charset="-122"/>
                            <a:cs typeface="Cambria Math" panose="02040503050406030204" charset="0"/>
                          </a:rPr>
                          <m:t>𝛽</m:t>
                        </m:r>
                      </m:e>
                      <m:sup>
                        <m:r>
                          <a:rPr lang="en-US" i="1" dirty="0">
                            <a:solidFill>
                              <a:srgbClr val="111827"/>
                            </a:solidFill>
                            <a:latin typeface="Cambria Math" panose="02040503050406030204" charset="0"/>
                            <a:ea typeface="Aptos" pitchFamily="34" charset="-122"/>
                            <a:cs typeface="Cambria Math" panose="02040503050406030204" charset="0"/>
                          </a:rPr>
                          <m:t>∗</m:t>
                        </m:r>
                      </m:sup>
                    </m:sSup>
                  </m:oMath>
                </a14:m>
                <a:r>
                  <a:rPr lang="en-US" altLang="zh-CN" dirty="0">
                    <a:solidFill>
                      <a:srgbClr val="111827"/>
                    </a:solidFill>
                    <a:latin typeface="Aptos" pitchFamily="34" charset="0"/>
                    <a:ea typeface="Aptos" pitchFamily="34" charset="-122"/>
                    <a:cs typeface="Aptos" pitchFamily="34" charset="-120"/>
                  </a:rPr>
                  <a:t>.</a:t>
                </a:r>
              </a:p>
            </p:txBody>
          </p:sp>
        </mc:Choice>
        <mc:Fallback xmlns="">
          <p:sp>
            <p:nvSpPr>
              <p:cNvPr id="20" name="Text 14"/>
              <p:cNvSpPr>
                <a:spLocks noRot="1" noChangeAspect="1" noMove="1" noResize="1" noEditPoints="1" noAdjustHandles="1" noChangeArrowheads="1" noChangeShapeType="1" noTextEdit="1"/>
              </p:cNvSpPr>
              <p:nvPr>
                <p:custDataLst>
                  <p:tags r:id="rId15"/>
                </p:custDataLst>
              </p:nvPr>
            </p:nvSpPr>
            <p:spPr>
              <a:xfrm>
                <a:off x="446405" y="5759450"/>
                <a:ext cx="10643870" cy="633095"/>
              </a:xfrm>
              <a:prstGeom prst="rect">
                <a:avLst/>
              </a:prstGeom>
              <a:blipFill rotWithShape="1">
                <a:blip r:embed="rId1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84214DC-3D34-4531-3E7F-721E8F42B3D8}"/>
                  </a:ext>
                </a:extLst>
              </p:cNvPr>
              <p:cNvSpPr txBox="1"/>
              <p:nvPr/>
            </p:nvSpPr>
            <p:spPr>
              <a:xfrm>
                <a:off x="772287" y="3344178"/>
                <a:ext cx="4739246" cy="338554"/>
              </a:xfrm>
              <a:prstGeom prst="rect">
                <a:avLst/>
              </a:prstGeom>
              <a:noFill/>
            </p:spPr>
            <p:txBody>
              <a:bodyPr wrap="none" rtlCol="0">
                <a:spAutoFit/>
              </a:bodyPr>
              <a:lstStyle/>
              <a:p>
                <a:r>
                  <a:rPr lang="en-CN" sz="1600" dirty="0">
                    <a:solidFill>
                      <a:srgbClr val="C00000"/>
                    </a:solidFill>
                  </a:rPr>
                  <a:t>without PR averaging: the error </a:t>
                </a:r>
                <a14:m>
                  <m:oMath xmlns:m="http://schemas.openxmlformats.org/officeDocument/2006/math">
                    <m:sSub>
                      <m:sSubPr>
                        <m:ctrlPr>
                          <a:rPr lang="en-US" sz="1600" b="0" i="1" smtClean="0">
                            <a:solidFill>
                              <a:srgbClr val="C00000"/>
                            </a:solidFill>
                            <a:latin typeface="Cambria Math" panose="02040503050406030204" pitchFamily="18" charset="0"/>
                          </a:rPr>
                        </m:ctrlPr>
                      </m:sSubPr>
                      <m:e>
                        <m:r>
                          <a:rPr lang="en-US" sz="1600" b="0" i="1" smtClean="0">
                            <a:solidFill>
                              <a:srgbClr val="C00000"/>
                            </a:solidFill>
                            <a:latin typeface="Cambria Math" panose="02040503050406030204" pitchFamily="18" charset="0"/>
                          </a:rPr>
                          <m:t>𝑈</m:t>
                        </m:r>
                      </m:e>
                      <m:sub>
                        <m:r>
                          <a:rPr lang="en-US" sz="1600" b="0" i="1" smtClean="0">
                            <a:solidFill>
                              <a:srgbClr val="C00000"/>
                            </a:solidFill>
                            <a:latin typeface="Cambria Math" panose="02040503050406030204" pitchFamily="18" charset="0"/>
                          </a:rPr>
                          <m:t>𝑘</m:t>
                        </m:r>
                      </m:sub>
                    </m:sSub>
                    <m:r>
                      <a:rPr lang="en-US" sz="1600" b="0" i="1" smtClean="0">
                        <a:solidFill>
                          <a:srgbClr val="C00000"/>
                        </a:solidFill>
                        <a:latin typeface="Cambria Math" panose="02040503050406030204" pitchFamily="18" charset="0"/>
                      </a:rPr>
                      <m:t>(</m:t>
                    </m:r>
                    <m:r>
                      <a:rPr lang="en-US" sz="1600" b="0" i="1" smtClean="0">
                        <a:solidFill>
                          <a:srgbClr val="C00000"/>
                        </a:solidFill>
                        <a:latin typeface="Cambria Math" panose="02040503050406030204" pitchFamily="18" charset="0"/>
                      </a:rPr>
                      <m:t>𝑡</m:t>
                    </m:r>
                    <m:r>
                      <a:rPr lang="en-US" sz="1600" b="0" i="1" smtClean="0">
                        <a:solidFill>
                          <a:srgbClr val="C00000"/>
                        </a:solidFill>
                        <a:latin typeface="Cambria Math" panose="02040503050406030204" pitchFamily="18" charset="0"/>
                      </a:rPr>
                      <m:t>)</m:t>
                    </m:r>
                  </m:oMath>
                </a14:m>
                <a:r>
                  <a:rPr lang="en-CN" sz="1600" dirty="0">
                    <a:solidFill>
                      <a:srgbClr val="C00000"/>
                    </a:solidFill>
                  </a:rPr>
                  <a:t> is much larger </a:t>
                </a:r>
              </a:p>
            </p:txBody>
          </p:sp>
        </mc:Choice>
        <mc:Fallback xmlns="">
          <p:sp>
            <p:nvSpPr>
              <p:cNvPr id="4" name="TextBox 3">
                <a:extLst>
                  <a:ext uri="{FF2B5EF4-FFF2-40B4-BE49-F238E27FC236}">
                    <a16:creationId xmlns:a16="http://schemas.microsoft.com/office/drawing/2014/main" id="{584214DC-3D34-4531-3E7F-721E8F42B3D8}"/>
                  </a:ext>
                </a:extLst>
              </p:cNvPr>
              <p:cNvSpPr txBox="1">
                <a:spLocks noRot="1" noChangeAspect="1" noMove="1" noResize="1" noEditPoints="1" noAdjustHandles="1" noChangeArrowheads="1" noChangeShapeType="1" noTextEdit="1"/>
              </p:cNvSpPr>
              <p:nvPr/>
            </p:nvSpPr>
            <p:spPr>
              <a:xfrm>
                <a:off x="772287" y="3344178"/>
                <a:ext cx="4739246" cy="338554"/>
              </a:xfrm>
              <a:prstGeom prst="rect">
                <a:avLst/>
              </a:prstGeom>
              <a:blipFill>
                <a:blip r:embed="rId17"/>
                <a:stretch>
                  <a:fillRect l="-535" t="-3704" b="-22222"/>
                </a:stretch>
              </a:blipFill>
            </p:spPr>
            <p:txBody>
              <a:bodyPr/>
              <a:lstStyle/>
              <a:p>
                <a:r>
                  <a:rPr lang="en-CN">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Result I: MSE Converges to the Offline Optimum</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The PR version converges faster and more smoothly.</a:t>
            </a:r>
            <a:endParaRPr lang="en-US" dirty="0"/>
          </a:p>
        </p:txBody>
      </p:sp>
      <p:sp>
        <p:nvSpPr>
          <p:cNvPr id="9" name="Shape 6"/>
          <p:cNvSpPr/>
          <p:nvPr>
            <p:custDataLst>
              <p:tags r:id="rId1"/>
            </p:custDataLst>
          </p:nvPr>
        </p:nvSpPr>
        <p:spPr>
          <a:xfrm>
            <a:off x="7086600" y="1417320"/>
            <a:ext cx="4199255" cy="1257300"/>
          </a:xfrm>
          <a:prstGeom prst="roundRect">
            <a:avLst>
              <a:gd name="adj" fmla="val 7059"/>
            </a:avLst>
          </a:prstGeom>
          <a:solidFill>
            <a:srgbClr val="EAF2FF"/>
          </a:solidFill>
          <a:ln w="12700">
            <a:solidFill>
              <a:srgbClr val="D8E6FA"/>
            </a:solidFill>
            <a:prstDash val="solid"/>
          </a:ln>
        </p:spPr>
        <p:txBody>
          <a:bodyPr/>
          <a:lstStyle/>
          <a:p>
            <a:endParaRPr lang="en-CN"/>
          </a:p>
        </p:txBody>
      </p:sp>
      <p:sp>
        <p:nvSpPr>
          <p:cNvPr id="10" name="Text 7"/>
          <p:cNvSpPr/>
          <p:nvPr>
            <p:custDataLst>
              <p:tags r:id="rId2"/>
            </p:custDataLst>
          </p:nvPr>
        </p:nvSpPr>
        <p:spPr>
          <a:xfrm>
            <a:off x="7251192" y="1545336"/>
            <a:ext cx="3191256" cy="256032"/>
          </a:xfrm>
          <a:prstGeom prst="rect">
            <a:avLst/>
          </a:prstGeom>
          <a:noFill/>
        </p:spPr>
        <p:txBody>
          <a:bodyPr wrap="square" lIns="0" tIns="0" rIns="0" bIns="0" rtlCol="0" anchor="ctr"/>
          <a:lstStyle/>
          <a:p>
            <a:pPr marL="0" indent="0">
              <a:buNone/>
            </a:pPr>
            <a:r>
              <a:rPr lang="en-US" sz="2400" b="1" dirty="0">
                <a:solidFill>
                  <a:srgbClr val="1E63B5"/>
                </a:solidFill>
                <a:latin typeface="Aptos Display" pitchFamily="34" charset="0"/>
                <a:ea typeface="Aptos Display" pitchFamily="34" charset="-122"/>
                <a:cs typeface="Aptos Display" pitchFamily="34" charset="-120"/>
              </a:rPr>
              <a:t>Observation 1</a:t>
            </a:r>
          </a:p>
        </p:txBody>
      </p:sp>
      <p:sp>
        <p:nvSpPr>
          <p:cNvPr id="11" name="Text 8"/>
          <p:cNvSpPr/>
          <p:nvPr>
            <p:custDataLst>
              <p:tags r:id="rId3"/>
            </p:custDataLst>
          </p:nvPr>
        </p:nvSpPr>
        <p:spPr>
          <a:xfrm>
            <a:off x="7251065" y="1883410"/>
            <a:ext cx="3881120" cy="61277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Signal-aware policies outperform AoI-only sampling.</a:t>
            </a:r>
          </a:p>
        </p:txBody>
      </p:sp>
      <p:sp>
        <p:nvSpPr>
          <p:cNvPr id="12" name="Shape 9"/>
          <p:cNvSpPr/>
          <p:nvPr>
            <p:custDataLst>
              <p:tags r:id="rId4"/>
            </p:custDataLst>
          </p:nvPr>
        </p:nvSpPr>
        <p:spPr>
          <a:xfrm>
            <a:off x="7086600" y="3195320"/>
            <a:ext cx="4199255" cy="1186815"/>
          </a:xfrm>
          <a:prstGeom prst="roundRect">
            <a:avLst>
              <a:gd name="adj" fmla="val 7059"/>
            </a:avLst>
          </a:prstGeom>
          <a:solidFill>
            <a:srgbClr val="FFF4F5"/>
          </a:solidFill>
          <a:ln w="12700">
            <a:solidFill>
              <a:srgbClr val="FFD8DD"/>
            </a:solidFill>
            <a:prstDash val="solid"/>
          </a:ln>
        </p:spPr>
        <p:txBody>
          <a:bodyPr/>
          <a:lstStyle/>
          <a:p>
            <a:endParaRPr lang="en-CN"/>
          </a:p>
        </p:txBody>
      </p:sp>
      <p:sp>
        <p:nvSpPr>
          <p:cNvPr id="13" name="Text 10"/>
          <p:cNvSpPr/>
          <p:nvPr>
            <p:custDataLst>
              <p:tags r:id="rId5"/>
            </p:custDataLst>
          </p:nvPr>
        </p:nvSpPr>
        <p:spPr>
          <a:xfrm>
            <a:off x="7251192" y="3323463"/>
            <a:ext cx="3191256" cy="256032"/>
          </a:xfrm>
          <a:prstGeom prst="rect">
            <a:avLst/>
          </a:prstGeom>
          <a:noFill/>
        </p:spPr>
        <p:txBody>
          <a:bodyPr wrap="square" lIns="0" tIns="0" rIns="0" bIns="0" rtlCol="0" anchor="ctr"/>
          <a:lstStyle/>
          <a:p>
            <a:pPr marL="0" indent="0">
              <a:buNone/>
            </a:pPr>
            <a:r>
              <a:rPr lang="en-US" sz="2400" b="1" dirty="0">
                <a:solidFill>
                  <a:srgbClr val="C83F49"/>
                </a:solidFill>
                <a:latin typeface="Aptos Display" pitchFamily="34" charset="0"/>
                <a:ea typeface="Aptos Display" pitchFamily="34" charset="-122"/>
                <a:cs typeface="Aptos Display" pitchFamily="34" charset="-120"/>
              </a:rPr>
              <a:t>Observation 2</a:t>
            </a:r>
          </a:p>
        </p:txBody>
      </p:sp>
      <p:sp>
        <p:nvSpPr>
          <p:cNvPr id="14" name="Text 11"/>
          <p:cNvSpPr/>
          <p:nvPr>
            <p:custDataLst>
              <p:tags r:id="rId6"/>
            </p:custDataLst>
          </p:nvPr>
        </p:nvSpPr>
        <p:spPr>
          <a:xfrm>
            <a:off x="7251065" y="3662045"/>
            <a:ext cx="3881120" cy="52895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Ignoring unreliability leaves a visible MSE gap.</a:t>
            </a:r>
          </a:p>
        </p:txBody>
      </p:sp>
      <p:sp>
        <p:nvSpPr>
          <p:cNvPr id="15" name="Shape 12"/>
          <p:cNvSpPr/>
          <p:nvPr>
            <p:custDataLst>
              <p:tags r:id="rId7"/>
            </p:custDataLst>
          </p:nvPr>
        </p:nvSpPr>
        <p:spPr>
          <a:xfrm>
            <a:off x="7086600" y="4909820"/>
            <a:ext cx="4205605" cy="1072515"/>
          </a:xfrm>
          <a:prstGeom prst="roundRect">
            <a:avLst>
              <a:gd name="adj" fmla="val 7059"/>
            </a:avLst>
          </a:prstGeom>
          <a:solidFill>
            <a:srgbClr val="F2FBF6"/>
          </a:solidFill>
          <a:ln w="12700">
            <a:solidFill>
              <a:srgbClr val="D3EFDD"/>
            </a:solidFill>
            <a:prstDash val="solid"/>
          </a:ln>
        </p:spPr>
        <p:txBody>
          <a:bodyPr/>
          <a:lstStyle/>
          <a:p>
            <a:endParaRPr lang="en-CN"/>
          </a:p>
        </p:txBody>
      </p:sp>
      <p:sp>
        <p:nvSpPr>
          <p:cNvPr id="16" name="Text 13"/>
          <p:cNvSpPr/>
          <p:nvPr>
            <p:custDataLst>
              <p:tags r:id="rId8"/>
            </p:custDataLst>
          </p:nvPr>
        </p:nvSpPr>
        <p:spPr>
          <a:xfrm>
            <a:off x="7251192" y="5038090"/>
            <a:ext cx="3191256" cy="256032"/>
          </a:xfrm>
          <a:prstGeom prst="rect">
            <a:avLst/>
          </a:prstGeom>
          <a:noFill/>
        </p:spPr>
        <p:txBody>
          <a:bodyPr wrap="square" lIns="0" tIns="0" rIns="0" bIns="0" rtlCol="0" anchor="ctr"/>
          <a:lstStyle/>
          <a:p>
            <a:pPr marL="0" indent="0">
              <a:buNone/>
            </a:pPr>
            <a:r>
              <a:rPr lang="en-US" sz="2400" b="1" dirty="0">
                <a:solidFill>
                  <a:srgbClr val="2BB673"/>
                </a:solidFill>
                <a:latin typeface="Aptos Display" pitchFamily="34" charset="0"/>
                <a:ea typeface="Aptos Display" pitchFamily="34" charset="-122"/>
                <a:cs typeface="Aptos Display" pitchFamily="34" charset="-120"/>
              </a:rPr>
              <a:t>Observation 3</a:t>
            </a:r>
          </a:p>
        </p:txBody>
      </p:sp>
      <p:sp>
        <p:nvSpPr>
          <p:cNvPr id="17" name="Text 14"/>
          <p:cNvSpPr/>
          <p:nvPr>
            <p:custDataLst>
              <p:tags r:id="rId9"/>
            </p:custDataLst>
          </p:nvPr>
        </p:nvSpPr>
        <p:spPr>
          <a:xfrm>
            <a:off x="7251065" y="5356860"/>
            <a:ext cx="3881755" cy="535940"/>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RM+PR reaches the offline optimum faster than RM.</a:t>
            </a:r>
          </a:p>
        </p:txBody>
      </p:sp>
      <p:sp>
        <p:nvSpPr>
          <p:cNvPr id="20" name="Text 17"/>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12</a:t>
            </a:r>
            <a:endParaRPr lang="en-US" sz="880" dirty="0"/>
          </a:p>
        </p:txBody>
      </p:sp>
      <p:pic>
        <p:nvPicPr>
          <p:cNvPr id="22" name="图片 21"/>
          <p:cNvPicPr>
            <a:picLocks noChangeAspect="1"/>
          </p:cNvPicPr>
          <p:nvPr/>
        </p:nvPicPr>
        <p:blipFill>
          <a:blip r:embed="rId12"/>
          <a:stretch>
            <a:fillRect/>
          </a:stretch>
        </p:blipFill>
        <p:spPr>
          <a:xfrm>
            <a:off x="603250" y="1311910"/>
            <a:ext cx="4990465" cy="2951480"/>
          </a:xfrm>
          <a:prstGeom prst="rect">
            <a:avLst/>
          </a:prstGeom>
        </p:spPr>
      </p:pic>
      <p:sp>
        <p:nvSpPr>
          <p:cNvPr id="4" name="文本框 3"/>
          <p:cNvSpPr txBox="1"/>
          <p:nvPr/>
        </p:nvSpPr>
        <p:spPr>
          <a:xfrm>
            <a:off x="567055" y="4661535"/>
            <a:ext cx="5676900" cy="923330"/>
          </a:xfrm>
          <a:prstGeom prst="rect">
            <a:avLst/>
          </a:prstGeom>
          <a:noFill/>
        </p:spPr>
        <p:txBody>
          <a:bodyPr wrap="square" rtlCol="0">
            <a:spAutoFit/>
          </a:bodyPr>
          <a:lstStyle/>
          <a:p>
            <a:r>
              <a:rPr lang="en-US" altLang="zh-CN" dirty="0"/>
              <a:t>Verify whether the proposed online policies can learn the offline-optimal MSE performance under unknown delay statistics and unreliable transmissions.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CN"/>
          </a:p>
        </p:txBody>
      </p:sp>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Result II: </a:t>
            </a:r>
            <a:r>
              <a:rPr lang="en-US" sz="3200" b="1" dirty="0">
                <a:solidFill>
                  <a:srgbClr val="0B1F3A"/>
                </a:solidFill>
                <a:latin typeface="Aptos Display" pitchFamily="34" charset="0"/>
                <a:ea typeface="Aptos Display" pitchFamily="34" charset="-122"/>
                <a:cs typeface="Aptos Display" pitchFamily="34" charset="-120"/>
                <a:sym typeface="+mn-ea"/>
              </a:rPr>
              <a:t>MSE Converges with</a:t>
            </a:r>
            <a:r>
              <a:rPr lang="en-US" sz="3200" b="1" dirty="0">
                <a:solidFill>
                  <a:srgbClr val="0B1F3A"/>
                </a:solidFill>
                <a:latin typeface="Aptos Display" pitchFamily="34" charset="0"/>
                <a:ea typeface="Aptos Display" pitchFamily="34" charset="-122"/>
                <a:cs typeface="Aptos Display" pitchFamily="34" charset="-120"/>
              </a:rPr>
              <a:t> Constraint </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sym typeface="+mn-ea"/>
              </a:rPr>
              <a:t>The PR version converges faster and more smoothly with constraint. </a:t>
            </a:r>
            <a:endParaRPr lang="en-US" dirty="0"/>
          </a:p>
        </p:txBody>
      </p:sp>
      <p:sp>
        <p:nvSpPr>
          <p:cNvPr id="9" name="Shape 6"/>
          <p:cNvSpPr/>
          <p:nvPr>
            <p:custDataLst>
              <p:tags r:id="rId1"/>
            </p:custDataLst>
          </p:nvPr>
        </p:nvSpPr>
        <p:spPr>
          <a:xfrm>
            <a:off x="7086600" y="1417320"/>
            <a:ext cx="3564890" cy="1286510"/>
          </a:xfrm>
          <a:prstGeom prst="roundRect">
            <a:avLst>
              <a:gd name="adj" fmla="val 7059"/>
            </a:avLst>
          </a:prstGeom>
          <a:solidFill>
            <a:srgbClr val="EAF2FF"/>
          </a:solidFill>
          <a:ln w="12700">
            <a:solidFill>
              <a:srgbClr val="D8E6FA"/>
            </a:solidFill>
            <a:prstDash val="solid"/>
          </a:ln>
        </p:spPr>
        <p:txBody>
          <a:bodyPr/>
          <a:lstStyle/>
          <a:p>
            <a:endParaRPr lang="en-CN"/>
          </a:p>
        </p:txBody>
      </p:sp>
      <p:sp>
        <p:nvSpPr>
          <p:cNvPr id="10" name="Text 7"/>
          <p:cNvSpPr/>
          <p:nvPr>
            <p:custDataLst>
              <p:tags r:id="rId2"/>
            </p:custDataLst>
          </p:nvPr>
        </p:nvSpPr>
        <p:spPr>
          <a:xfrm>
            <a:off x="7253270" y="1546952"/>
            <a:ext cx="3231550" cy="259265"/>
          </a:xfrm>
          <a:prstGeom prst="rect">
            <a:avLst/>
          </a:prstGeom>
          <a:noFill/>
        </p:spPr>
        <p:txBody>
          <a:bodyPr wrap="square" lIns="0" tIns="0" rIns="0" bIns="0" rtlCol="0" anchor="ctr"/>
          <a:lstStyle/>
          <a:p>
            <a:pPr marL="0" indent="0">
              <a:buNone/>
            </a:pPr>
            <a:r>
              <a:rPr lang="en-US" sz="2400" b="1" dirty="0">
                <a:solidFill>
                  <a:srgbClr val="1E63B5"/>
                </a:solidFill>
                <a:latin typeface="Aptos Display" pitchFamily="34" charset="0"/>
                <a:ea typeface="Aptos Display" pitchFamily="34" charset="-122"/>
                <a:cs typeface="Aptos Display" pitchFamily="34" charset="-120"/>
              </a:rPr>
              <a:t>Accuracy</a:t>
            </a:r>
          </a:p>
        </p:txBody>
      </p:sp>
      <p:sp>
        <p:nvSpPr>
          <p:cNvPr id="11" name="Text 8"/>
          <p:cNvSpPr/>
          <p:nvPr>
            <p:custDataLst>
              <p:tags r:id="rId3"/>
            </p:custDataLst>
          </p:nvPr>
        </p:nvSpPr>
        <p:spPr>
          <a:xfrm>
            <a:off x="7252970" y="1969770"/>
            <a:ext cx="3231515" cy="542290"/>
          </a:xfrm>
          <a:prstGeom prst="rect">
            <a:avLst/>
          </a:prstGeom>
          <a:noFill/>
        </p:spPr>
        <p:txBody>
          <a:bodyPr wrap="square" lIns="0" tIns="0" rIns="0" bIns="0" rtlCol="0" anchor="ctr">
            <a:noAutofit/>
          </a:bodyPr>
          <a:lstStyle/>
          <a:p>
            <a:pPr marL="0" indent="0">
              <a:buNone/>
            </a:pPr>
            <a:r>
              <a:rPr lang="en-US" sz="1700" dirty="0">
                <a:solidFill>
                  <a:srgbClr val="111827"/>
                </a:solidFill>
                <a:latin typeface="Aptos" pitchFamily="34" charset="0"/>
                <a:ea typeface="Aptos" pitchFamily="34" charset="-122"/>
                <a:cs typeface="Aptos" pitchFamily="34" charset="-120"/>
              </a:rPr>
              <a:t>MSE remains close to the offline optimum under the constraint.</a:t>
            </a:r>
          </a:p>
        </p:txBody>
      </p:sp>
      <p:sp>
        <p:nvSpPr>
          <p:cNvPr id="12" name="Shape 9"/>
          <p:cNvSpPr/>
          <p:nvPr>
            <p:custDataLst>
              <p:tags r:id="rId4"/>
            </p:custDataLst>
          </p:nvPr>
        </p:nvSpPr>
        <p:spPr>
          <a:xfrm>
            <a:off x="7086600" y="3372485"/>
            <a:ext cx="3564890" cy="1181735"/>
          </a:xfrm>
          <a:prstGeom prst="roundRect">
            <a:avLst>
              <a:gd name="adj" fmla="val 7059"/>
            </a:avLst>
          </a:prstGeom>
          <a:solidFill>
            <a:srgbClr val="FFF4E4"/>
          </a:solidFill>
          <a:ln w="12700">
            <a:solidFill>
              <a:srgbClr val="F5D8AA"/>
            </a:solidFill>
            <a:prstDash val="solid"/>
          </a:ln>
        </p:spPr>
        <p:txBody>
          <a:bodyPr/>
          <a:lstStyle/>
          <a:p>
            <a:endParaRPr lang="en-CN"/>
          </a:p>
        </p:txBody>
      </p:sp>
      <p:sp>
        <p:nvSpPr>
          <p:cNvPr id="13" name="Text 10"/>
          <p:cNvSpPr/>
          <p:nvPr>
            <p:custDataLst>
              <p:tags r:id="rId5"/>
            </p:custDataLst>
          </p:nvPr>
        </p:nvSpPr>
        <p:spPr>
          <a:xfrm>
            <a:off x="7253270" y="3501956"/>
            <a:ext cx="3231550" cy="259265"/>
          </a:xfrm>
          <a:prstGeom prst="rect">
            <a:avLst/>
          </a:prstGeom>
          <a:noFill/>
        </p:spPr>
        <p:txBody>
          <a:bodyPr wrap="square" lIns="0" tIns="0" rIns="0" bIns="0" rtlCol="0" anchor="ctr"/>
          <a:lstStyle/>
          <a:p>
            <a:pPr marL="0" indent="0">
              <a:buNone/>
            </a:pPr>
            <a:r>
              <a:rPr lang="en-US" sz="2400" b="1" dirty="0">
                <a:solidFill>
                  <a:srgbClr val="F26B38"/>
                </a:solidFill>
                <a:latin typeface="Aptos Display" pitchFamily="34" charset="0"/>
                <a:ea typeface="Aptos Display" pitchFamily="34" charset="-122"/>
                <a:cs typeface="Aptos Display" pitchFamily="34" charset="-120"/>
              </a:rPr>
              <a:t>Budget</a:t>
            </a:r>
          </a:p>
        </p:txBody>
      </p:sp>
      <mc:AlternateContent xmlns:mc="http://schemas.openxmlformats.org/markup-compatibility/2006" xmlns:a14="http://schemas.microsoft.com/office/drawing/2010/main">
        <mc:Choice Requires="a14">
          <p:sp>
            <p:nvSpPr>
              <p:cNvPr id="14" name="Text 11"/>
              <p:cNvSpPr/>
              <p:nvPr>
                <p:custDataLst>
                  <p:tags r:id="rId6"/>
                </p:custDataLst>
              </p:nvPr>
            </p:nvSpPr>
            <p:spPr>
              <a:xfrm>
                <a:off x="7252970" y="3844290"/>
                <a:ext cx="3376295" cy="56832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The average interval approaches </a:t>
                </a:r>
                <a14:m>
                  <m:oMath xmlns:m="http://schemas.openxmlformats.org/officeDocument/2006/math">
                    <m:sSub>
                      <m:sSubPr>
                        <m:ctrlPr>
                          <a:rPr lang="en-US" i="1" dirty="0">
                            <a:solidFill>
                              <a:srgbClr val="111827"/>
                            </a:solidFill>
                            <a:latin typeface="Cambria Math" panose="02040503050406030204" pitchFamily="18" charset="0"/>
                            <a:ea typeface="Aptos" pitchFamily="34" charset="-122"/>
                            <a:cs typeface="Cambria Math" panose="02040503050406030204" charset="0"/>
                          </a:rPr>
                        </m:ctrlPr>
                      </m:sSubPr>
                      <m:e>
                        <m:r>
                          <a:rPr lang="en-US" i="1" dirty="0">
                            <a:solidFill>
                              <a:srgbClr val="111827"/>
                            </a:solidFill>
                            <a:latin typeface="Cambria Math" panose="02040503050406030204" charset="0"/>
                            <a:ea typeface="Aptos" pitchFamily="34" charset="-122"/>
                            <a:cs typeface="Cambria Math" panose="02040503050406030204" charset="0"/>
                          </a:rPr>
                          <m:t>𝑓</m:t>
                        </m:r>
                      </m:e>
                      <m:sub>
                        <m:r>
                          <a:rPr lang="en-US" i="1" dirty="0">
                            <a:solidFill>
                              <a:srgbClr val="111827"/>
                            </a:solidFill>
                            <a:latin typeface="Cambria Math" panose="02040503050406030204" charset="0"/>
                            <a:ea typeface="Aptos" pitchFamily="34" charset="-122"/>
                            <a:cs typeface="Cambria Math" panose="02040503050406030204" charset="0"/>
                          </a:rPr>
                          <m:t>𝑚𝑎𝑥</m:t>
                        </m:r>
                      </m:sub>
                    </m:sSub>
                  </m:oMath>
                </a14:m>
                <a:endParaRPr lang="en-US" dirty="0">
                  <a:solidFill>
                    <a:srgbClr val="111827"/>
                  </a:solidFill>
                  <a:latin typeface="Aptos" pitchFamily="34" charset="0"/>
                  <a:ea typeface="Aptos" pitchFamily="34" charset="-122"/>
                  <a:cs typeface="Aptos" pitchFamily="34" charset="-120"/>
                </a:endParaRPr>
              </a:p>
            </p:txBody>
          </p:sp>
        </mc:Choice>
        <mc:Fallback xmlns="">
          <p:sp>
            <p:nvSpPr>
              <p:cNvPr id="14" name="Text 11"/>
              <p:cNvSpPr>
                <a:spLocks noRot="1" noChangeAspect="1" noMove="1" noResize="1" noEditPoints="1" noAdjustHandles="1" noChangeArrowheads="1" noChangeShapeType="1" noTextEdit="1"/>
              </p:cNvSpPr>
              <p:nvPr>
                <p:custDataLst>
                  <p:tags r:id="rId12"/>
                </p:custDataLst>
              </p:nvPr>
            </p:nvSpPr>
            <p:spPr>
              <a:xfrm>
                <a:off x="7252970" y="3844290"/>
                <a:ext cx="3376295" cy="568325"/>
              </a:xfrm>
              <a:prstGeom prst="rect">
                <a:avLst/>
              </a:prstGeom>
              <a:blipFill rotWithShape="1">
                <a:blip r:embed="rId13"/>
                <a:stretch>
                  <a:fillRect t="-2123"/>
                </a:stretch>
              </a:blipFill>
            </p:spPr>
            <p:txBody>
              <a:bodyPr/>
              <a:lstStyle/>
              <a:p>
                <a:r>
                  <a:rPr lang="zh-CN" altLang="en-US">
                    <a:noFill/>
                  </a:rPr>
                  <a:t> </a:t>
                </a:r>
              </a:p>
            </p:txBody>
          </p:sp>
        </mc:Fallback>
      </mc:AlternateContent>
      <p:sp>
        <p:nvSpPr>
          <p:cNvPr id="15" name="Shape 12"/>
          <p:cNvSpPr/>
          <p:nvPr>
            <p:custDataLst>
              <p:tags r:id="rId7"/>
            </p:custDataLst>
          </p:nvPr>
        </p:nvSpPr>
        <p:spPr>
          <a:xfrm>
            <a:off x="7087870" y="5197475"/>
            <a:ext cx="3564890" cy="1136650"/>
          </a:xfrm>
          <a:prstGeom prst="roundRect">
            <a:avLst>
              <a:gd name="adj" fmla="val 7059"/>
            </a:avLst>
          </a:prstGeom>
          <a:solidFill>
            <a:srgbClr val="F2FBF6"/>
          </a:solidFill>
          <a:ln w="12700">
            <a:solidFill>
              <a:srgbClr val="D3EFDD"/>
            </a:solidFill>
            <a:prstDash val="solid"/>
          </a:ln>
        </p:spPr>
        <p:txBody>
          <a:bodyPr/>
          <a:lstStyle/>
          <a:p>
            <a:endParaRPr lang="en-CN"/>
          </a:p>
        </p:txBody>
      </p:sp>
      <p:sp>
        <p:nvSpPr>
          <p:cNvPr id="16" name="Text 13"/>
          <p:cNvSpPr/>
          <p:nvPr>
            <p:custDataLst>
              <p:tags r:id="rId8"/>
            </p:custDataLst>
          </p:nvPr>
        </p:nvSpPr>
        <p:spPr>
          <a:xfrm>
            <a:off x="7254540" y="5327419"/>
            <a:ext cx="3231550" cy="259265"/>
          </a:xfrm>
          <a:prstGeom prst="rect">
            <a:avLst/>
          </a:prstGeom>
          <a:noFill/>
        </p:spPr>
        <p:txBody>
          <a:bodyPr wrap="square" lIns="0" tIns="0" rIns="0" bIns="0" rtlCol="0" anchor="ctr"/>
          <a:lstStyle/>
          <a:p>
            <a:pPr marL="0" indent="0">
              <a:buNone/>
            </a:pPr>
            <a:r>
              <a:rPr lang="en-US" sz="2400" b="1" dirty="0">
                <a:solidFill>
                  <a:srgbClr val="2BB673"/>
                </a:solidFill>
                <a:latin typeface="Aptos Display" pitchFamily="34" charset="0"/>
                <a:ea typeface="Aptos Display" pitchFamily="34" charset="-122"/>
                <a:cs typeface="Aptos Display" pitchFamily="34" charset="-120"/>
              </a:rPr>
              <a:t>Stability</a:t>
            </a:r>
          </a:p>
        </p:txBody>
      </p:sp>
      <p:sp>
        <p:nvSpPr>
          <p:cNvPr id="17" name="Text 14"/>
          <p:cNvSpPr/>
          <p:nvPr>
            <p:custDataLst>
              <p:tags r:id="rId9"/>
            </p:custDataLst>
          </p:nvPr>
        </p:nvSpPr>
        <p:spPr>
          <a:xfrm>
            <a:off x="7254240" y="5643245"/>
            <a:ext cx="3231515" cy="630555"/>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PR averaging reduces oscillation around the target.</a:t>
            </a:r>
          </a:p>
        </p:txBody>
      </p:sp>
      <p:sp>
        <p:nvSpPr>
          <p:cNvPr id="20" name="Text 17"/>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13</a:t>
            </a:r>
            <a:endParaRPr lang="en-US" sz="880" dirty="0"/>
          </a:p>
        </p:txBody>
      </p:sp>
      <p:pic>
        <p:nvPicPr>
          <p:cNvPr id="21" name="图片 20"/>
          <p:cNvPicPr>
            <a:picLocks noChangeAspect="1"/>
          </p:cNvPicPr>
          <p:nvPr/>
        </p:nvPicPr>
        <p:blipFill>
          <a:blip r:embed="rId14"/>
          <a:stretch>
            <a:fillRect/>
          </a:stretch>
        </p:blipFill>
        <p:spPr>
          <a:xfrm>
            <a:off x="567055" y="1417320"/>
            <a:ext cx="4792980" cy="2832100"/>
          </a:xfrm>
          <a:prstGeom prst="rect">
            <a:avLst/>
          </a:prstGeom>
        </p:spPr>
      </p:pic>
      <p:sp>
        <p:nvSpPr>
          <p:cNvPr id="4" name="文本框 3"/>
          <p:cNvSpPr txBox="1"/>
          <p:nvPr/>
        </p:nvSpPr>
        <p:spPr>
          <a:xfrm>
            <a:off x="732155" y="4519295"/>
            <a:ext cx="5494020" cy="1814830"/>
          </a:xfrm>
          <a:prstGeom prst="rect">
            <a:avLst/>
          </a:prstGeom>
        </p:spPr>
        <p:txBody>
          <a:bodyPr wrap="square">
            <a:spAutoFit/>
          </a:bodyPr>
          <a:lstStyle/>
          <a:p>
            <a:pPr algn="l">
              <a:buClrTx/>
              <a:buSzTx/>
              <a:buFontTx/>
            </a:pPr>
            <a:r>
              <a:rPr lang="en-US" sz="2400" b="1" dirty="0">
                <a:solidFill>
                  <a:srgbClr val="F26B38"/>
                </a:solidFill>
                <a:latin typeface="Aptos Display" pitchFamily="34" charset="0"/>
                <a:ea typeface="Aptos Display" pitchFamily="34" charset="-122"/>
                <a:cs typeface="Aptos Display" pitchFamily="34" charset="-120"/>
              </a:rPr>
              <a:t>Purpose</a:t>
            </a:r>
          </a:p>
          <a:p>
            <a:endParaRPr lang="en-US" altLang="zh-CN" sz="1600"/>
          </a:p>
          <a:p>
            <a:r>
              <a:rPr lang="en-US" altLang="zh-CN"/>
              <a:t>To evaluate whether the proposed online policies can still approach the offline-optimal MSE when the sampler is constrained by a maximum sampling frequency.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CN"/>
          </a:p>
        </p:txBody>
      </p:sp>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Result III: Stable Constraint Satisfaction</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The same learning framework controls resource usage.</a:t>
            </a:r>
            <a:endParaRPr lang="en-US" dirty="0"/>
          </a:p>
        </p:txBody>
      </p:sp>
      <p:sp>
        <p:nvSpPr>
          <p:cNvPr id="9" name="Shape 6"/>
          <p:cNvSpPr/>
          <p:nvPr>
            <p:custDataLst>
              <p:tags r:id="rId1"/>
            </p:custDataLst>
          </p:nvPr>
        </p:nvSpPr>
        <p:spPr>
          <a:xfrm>
            <a:off x="7086600" y="1417320"/>
            <a:ext cx="4900295" cy="1244600"/>
          </a:xfrm>
          <a:prstGeom prst="roundRect">
            <a:avLst>
              <a:gd name="adj" fmla="val 7059"/>
            </a:avLst>
          </a:prstGeom>
          <a:solidFill>
            <a:srgbClr val="EAF2FF"/>
          </a:solidFill>
          <a:ln w="12700">
            <a:solidFill>
              <a:srgbClr val="D8E6FA"/>
            </a:solidFill>
            <a:prstDash val="solid"/>
          </a:ln>
        </p:spPr>
        <p:txBody>
          <a:bodyPr/>
          <a:lstStyle/>
          <a:p>
            <a:endParaRPr lang="en-CN"/>
          </a:p>
        </p:txBody>
      </p:sp>
      <p:sp>
        <p:nvSpPr>
          <p:cNvPr id="10" name="Text 7"/>
          <p:cNvSpPr/>
          <p:nvPr>
            <p:custDataLst>
              <p:tags r:id="rId2"/>
            </p:custDataLst>
          </p:nvPr>
        </p:nvSpPr>
        <p:spPr>
          <a:xfrm>
            <a:off x="7251065" y="1480820"/>
            <a:ext cx="4443095" cy="255905"/>
          </a:xfrm>
          <a:prstGeom prst="rect">
            <a:avLst/>
          </a:prstGeom>
          <a:noFill/>
        </p:spPr>
        <p:txBody>
          <a:bodyPr wrap="square" lIns="0" tIns="0" rIns="0" bIns="0" rtlCol="0" anchor="ctr"/>
          <a:lstStyle/>
          <a:p>
            <a:pPr marL="0" indent="0">
              <a:buNone/>
            </a:pPr>
            <a:r>
              <a:rPr lang="en-US" altLang="zh-CN" sz="2400" b="1" dirty="0">
                <a:solidFill>
                  <a:srgbClr val="1E63B5"/>
                </a:solidFill>
                <a:latin typeface="Aptos Display" pitchFamily="34" charset="0"/>
                <a:ea typeface="Aptos Display" pitchFamily="34" charset="-122"/>
                <a:cs typeface="Aptos Display" pitchFamily="34" charset="-120"/>
              </a:rPr>
              <a:t>Stability improvement</a:t>
            </a:r>
          </a:p>
        </p:txBody>
      </p:sp>
      <p:sp>
        <p:nvSpPr>
          <p:cNvPr id="11" name="Text 8"/>
          <p:cNvSpPr/>
          <p:nvPr>
            <p:custDataLst>
              <p:tags r:id="rId3"/>
            </p:custDataLst>
          </p:nvPr>
        </p:nvSpPr>
        <p:spPr>
          <a:xfrm>
            <a:off x="7233285" y="1788795"/>
            <a:ext cx="4741545" cy="774065"/>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PR averaging reduces oscillations in the learned threshold, leading to a smoother and more stable sampling interval curve.</a:t>
            </a:r>
          </a:p>
        </p:txBody>
      </p:sp>
      <p:sp>
        <p:nvSpPr>
          <p:cNvPr id="12" name="Shape 9"/>
          <p:cNvSpPr/>
          <p:nvPr>
            <p:custDataLst>
              <p:tags r:id="rId4"/>
            </p:custDataLst>
          </p:nvPr>
        </p:nvSpPr>
        <p:spPr>
          <a:xfrm>
            <a:off x="7086600" y="3053715"/>
            <a:ext cx="4900295" cy="1046480"/>
          </a:xfrm>
          <a:prstGeom prst="roundRect">
            <a:avLst>
              <a:gd name="adj" fmla="val 7059"/>
            </a:avLst>
          </a:prstGeom>
          <a:solidFill>
            <a:srgbClr val="FFF4E4"/>
          </a:solidFill>
          <a:ln w="12700">
            <a:solidFill>
              <a:srgbClr val="F5D8AA"/>
            </a:solidFill>
            <a:prstDash val="solid"/>
          </a:ln>
        </p:spPr>
        <p:txBody>
          <a:bodyPr/>
          <a:lstStyle/>
          <a:p>
            <a:endParaRPr lang="en-CN"/>
          </a:p>
        </p:txBody>
      </p:sp>
      <p:sp>
        <p:nvSpPr>
          <p:cNvPr id="13" name="Text 10"/>
          <p:cNvSpPr/>
          <p:nvPr>
            <p:custDataLst>
              <p:tags r:id="rId5"/>
            </p:custDataLst>
          </p:nvPr>
        </p:nvSpPr>
        <p:spPr>
          <a:xfrm>
            <a:off x="7251065" y="3117215"/>
            <a:ext cx="4443095" cy="255905"/>
          </a:xfrm>
          <a:prstGeom prst="rect">
            <a:avLst/>
          </a:prstGeom>
          <a:noFill/>
        </p:spPr>
        <p:txBody>
          <a:bodyPr wrap="square" lIns="0" tIns="0" rIns="0" bIns="0" rtlCol="0" anchor="ctr"/>
          <a:lstStyle/>
          <a:p>
            <a:pPr marL="0" indent="0">
              <a:buNone/>
            </a:pPr>
            <a:r>
              <a:rPr lang="en-US" sz="2400" b="1" dirty="0">
                <a:solidFill>
                  <a:srgbClr val="F26B38"/>
                </a:solidFill>
                <a:latin typeface="Aptos Display" pitchFamily="34" charset="0"/>
                <a:ea typeface="Aptos Display" pitchFamily="34" charset="-122"/>
                <a:cs typeface="Aptos Display" pitchFamily="34" charset="-120"/>
              </a:rPr>
              <a:t>Budget</a:t>
            </a:r>
          </a:p>
        </p:txBody>
      </p:sp>
      <mc:AlternateContent xmlns:mc="http://schemas.openxmlformats.org/markup-compatibility/2006" xmlns:a14="http://schemas.microsoft.com/office/drawing/2010/main">
        <mc:Choice Requires="a14">
          <p:sp>
            <p:nvSpPr>
              <p:cNvPr id="14" name="Text 11"/>
              <p:cNvSpPr/>
              <p:nvPr>
                <p:custDataLst>
                  <p:tags r:id="rId6"/>
                </p:custDataLst>
              </p:nvPr>
            </p:nvSpPr>
            <p:spPr>
              <a:xfrm>
                <a:off x="7242175" y="3502660"/>
                <a:ext cx="4732020" cy="440055"/>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The average sampling interval converges toward</a:t>
                </a:r>
                <a:r>
                  <a:rPr lang="en-US" dirty="0">
                    <a:solidFill>
                      <a:srgbClr val="111827"/>
                    </a:solidFill>
                    <a:latin typeface="Aptos" pitchFamily="34" charset="0"/>
                    <a:ea typeface="Aptos" pitchFamily="34" charset="-122"/>
                    <a:cs typeface="Aptos" pitchFamily="34" charset="-120"/>
                  </a:rPr>
                  <a:t> </a:t>
                </a:r>
                <a14:m>
                  <m:oMath xmlns:m="http://schemas.openxmlformats.org/officeDocument/2006/math">
                    <m:r>
                      <a:rPr lang="en-US" dirty="0">
                        <a:solidFill>
                          <a:srgbClr val="111827"/>
                        </a:solidFill>
                        <a:latin typeface="Cambria Math" panose="02040503050406030204" pitchFamily="18" charset="0"/>
                        <a:ea typeface="Aptos" pitchFamily="34" charset="-122"/>
                        <a:cs typeface="Aptos" pitchFamily="34" charset="-120"/>
                      </a:rPr>
                      <m:t>1/</m:t>
                    </m:r>
                    <m:sSub>
                      <m:sSubPr>
                        <m:ctrlPr>
                          <a:rPr lang="en-US" i="1" dirty="0">
                            <a:solidFill>
                              <a:srgbClr val="111827"/>
                            </a:solidFill>
                            <a:latin typeface="Cambria Math" panose="02040503050406030204" pitchFamily="18" charset="0"/>
                            <a:ea typeface="Aptos" pitchFamily="34" charset="-122"/>
                            <a:cs typeface="Cambria Math" panose="02040503050406030204" charset="0"/>
                          </a:rPr>
                        </m:ctrlPr>
                      </m:sSubPr>
                      <m:e>
                        <m:r>
                          <a:rPr lang="en-US" i="1" dirty="0">
                            <a:solidFill>
                              <a:srgbClr val="111827"/>
                            </a:solidFill>
                            <a:latin typeface="Cambria Math" panose="02040503050406030204" charset="0"/>
                            <a:ea typeface="Aptos" pitchFamily="34" charset="-122"/>
                            <a:cs typeface="Cambria Math" panose="02040503050406030204" charset="0"/>
                          </a:rPr>
                          <m:t>𝑓</m:t>
                        </m:r>
                      </m:e>
                      <m:sub>
                        <m:r>
                          <a:rPr lang="en-US" i="1" dirty="0">
                            <a:solidFill>
                              <a:srgbClr val="111827"/>
                            </a:solidFill>
                            <a:latin typeface="Cambria Math" panose="02040503050406030204" charset="0"/>
                            <a:ea typeface="Aptos" pitchFamily="34" charset="-122"/>
                            <a:cs typeface="Cambria Math" panose="02040503050406030204" charset="0"/>
                          </a:rPr>
                          <m:t>𝑚𝑎𝑥</m:t>
                        </m:r>
                      </m:sub>
                    </m:sSub>
                  </m:oMath>
                </a14:m>
                <a:r>
                  <a:rPr lang="en-US" dirty="0">
                    <a:solidFill>
                      <a:srgbClr val="111827"/>
                    </a:solidFill>
                    <a:latin typeface="Aptos" pitchFamily="34" charset="0"/>
                    <a:ea typeface="Aptos" pitchFamily="34" charset="-122"/>
                    <a:cs typeface="Aptos" pitchFamily="34" charset="-120"/>
                  </a:rPr>
                  <a:t>.</a:t>
                </a:r>
              </a:p>
            </p:txBody>
          </p:sp>
        </mc:Choice>
        <mc:Fallback xmlns="">
          <p:sp>
            <p:nvSpPr>
              <p:cNvPr id="14" name="Text 11"/>
              <p:cNvSpPr>
                <a:spLocks noRot="1" noChangeAspect="1" noMove="1" noResize="1" noEditPoints="1" noAdjustHandles="1" noChangeArrowheads="1" noChangeShapeType="1" noTextEdit="1"/>
              </p:cNvSpPr>
              <p:nvPr>
                <p:custDataLst>
                  <p:tags r:id="rId12"/>
                </p:custDataLst>
              </p:nvPr>
            </p:nvSpPr>
            <p:spPr>
              <a:xfrm>
                <a:off x="7242175" y="3502660"/>
                <a:ext cx="4732020" cy="440055"/>
              </a:xfrm>
              <a:prstGeom prst="rect">
                <a:avLst/>
              </a:prstGeom>
              <a:blipFill rotWithShape="1">
                <a:blip r:embed="rId13"/>
                <a:stretch>
                  <a:fillRect t="-27417" b="-20924"/>
                </a:stretch>
              </a:blipFill>
            </p:spPr>
            <p:txBody>
              <a:bodyPr/>
              <a:lstStyle/>
              <a:p>
                <a:r>
                  <a:rPr lang="zh-CN" altLang="en-US">
                    <a:noFill/>
                  </a:rPr>
                  <a:t> </a:t>
                </a:r>
              </a:p>
            </p:txBody>
          </p:sp>
        </mc:Fallback>
      </mc:AlternateContent>
      <p:sp>
        <p:nvSpPr>
          <p:cNvPr id="15" name="Shape 12"/>
          <p:cNvSpPr/>
          <p:nvPr>
            <p:custDataLst>
              <p:tags r:id="rId7"/>
            </p:custDataLst>
          </p:nvPr>
        </p:nvSpPr>
        <p:spPr>
          <a:xfrm>
            <a:off x="7086600" y="4491355"/>
            <a:ext cx="4900295" cy="1323340"/>
          </a:xfrm>
          <a:prstGeom prst="roundRect">
            <a:avLst>
              <a:gd name="adj" fmla="val 7059"/>
            </a:avLst>
          </a:prstGeom>
          <a:solidFill>
            <a:srgbClr val="F2FBF6"/>
          </a:solidFill>
          <a:ln w="12700">
            <a:solidFill>
              <a:srgbClr val="D3EFDD"/>
            </a:solidFill>
            <a:prstDash val="solid"/>
          </a:ln>
        </p:spPr>
        <p:txBody>
          <a:bodyPr/>
          <a:lstStyle/>
          <a:p>
            <a:endParaRPr lang="en-CN"/>
          </a:p>
        </p:txBody>
      </p:sp>
      <p:sp>
        <p:nvSpPr>
          <p:cNvPr id="16" name="Text 13"/>
          <p:cNvSpPr/>
          <p:nvPr>
            <p:custDataLst>
              <p:tags r:id="rId8"/>
            </p:custDataLst>
          </p:nvPr>
        </p:nvSpPr>
        <p:spPr>
          <a:xfrm>
            <a:off x="7261225" y="4567555"/>
            <a:ext cx="4443095" cy="255905"/>
          </a:xfrm>
          <a:prstGeom prst="rect">
            <a:avLst/>
          </a:prstGeom>
          <a:noFill/>
        </p:spPr>
        <p:txBody>
          <a:bodyPr wrap="square" lIns="0" tIns="0" rIns="0" bIns="0" rtlCol="0" anchor="ctr"/>
          <a:lstStyle/>
          <a:p>
            <a:pPr marL="0" indent="0">
              <a:buNone/>
            </a:pPr>
            <a:r>
              <a:rPr lang="en-US" altLang="zh-CN" sz="2400" b="1" dirty="0">
                <a:solidFill>
                  <a:srgbClr val="2BB673"/>
                </a:solidFill>
                <a:latin typeface="Aptos Display" pitchFamily="34" charset="0"/>
                <a:ea typeface="Aptos Display" pitchFamily="34" charset="-122"/>
                <a:cs typeface="Aptos Display" pitchFamily="34" charset="-120"/>
              </a:rPr>
              <a:t>Fair MSE improvement</a:t>
            </a:r>
          </a:p>
        </p:txBody>
      </p:sp>
      <p:sp>
        <p:nvSpPr>
          <p:cNvPr id="17" name="Text 14"/>
          <p:cNvSpPr/>
          <p:nvPr>
            <p:custDataLst>
              <p:tags r:id="rId9"/>
            </p:custDataLst>
          </p:nvPr>
        </p:nvSpPr>
        <p:spPr>
          <a:xfrm>
            <a:off x="7086600" y="4821555"/>
            <a:ext cx="4933315" cy="1099820"/>
          </a:xfrm>
          <a:prstGeom prst="rect">
            <a:avLst/>
          </a:prstGeom>
          <a:noFill/>
        </p:spPr>
        <p:txBody>
          <a:bodyPr wrap="square" lIns="0" tIns="0" rIns="0" bIns="0" rtlCol="0" anchor="ctr">
            <a:noAutofit/>
          </a:bodyPr>
          <a:lstStyle/>
          <a:p>
            <a:pPr marL="0" indent="0">
              <a:buNone/>
            </a:pPr>
            <a:r>
              <a:rPr lang="en-US" altLang="zh-CN" dirty="0">
                <a:solidFill>
                  <a:srgbClr val="111827"/>
                </a:solidFill>
                <a:latin typeface="Aptos" pitchFamily="34" charset="0"/>
                <a:ea typeface="Aptos" pitchFamily="34" charset="-122"/>
                <a:cs typeface="Aptos" pitchFamily="34" charset="-120"/>
              </a:rPr>
              <a:t>The MSE gain is not achieved by over-sampling. Instead, the policy improves estimation accuracy while still satisfying the sampling constraint.</a:t>
            </a:r>
          </a:p>
        </p:txBody>
      </p:sp>
      <p:sp>
        <p:nvSpPr>
          <p:cNvPr id="20" name="Text 17"/>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14</a:t>
            </a:r>
            <a:endParaRPr lang="en-US" sz="880" dirty="0"/>
          </a:p>
        </p:txBody>
      </p:sp>
      <p:pic>
        <p:nvPicPr>
          <p:cNvPr id="8" name="图片 7"/>
          <p:cNvPicPr>
            <a:picLocks noChangeAspect="1"/>
          </p:cNvPicPr>
          <p:nvPr/>
        </p:nvPicPr>
        <p:blipFill>
          <a:blip r:embed="rId14"/>
          <a:stretch>
            <a:fillRect/>
          </a:stretch>
        </p:blipFill>
        <p:spPr>
          <a:xfrm>
            <a:off x="346710" y="1454785"/>
            <a:ext cx="6584950" cy="2495550"/>
          </a:xfrm>
          <a:prstGeom prst="rect">
            <a:avLst/>
          </a:prstGeom>
        </p:spPr>
      </p:pic>
      <p:sp>
        <p:nvSpPr>
          <p:cNvPr id="4" name="文本框 3"/>
          <p:cNvSpPr txBox="1"/>
          <p:nvPr/>
        </p:nvSpPr>
        <p:spPr>
          <a:xfrm>
            <a:off x="754380" y="4345305"/>
            <a:ext cx="5650865" cy="1537970"/>
          </a:xfrm>
          <a:prstGeom prst="rect">
            <a:avLst/>
          </a:prstGeom>
        </p:spPr>
        <p:txBody>
          <a:bodyPr wrap="square">
            <a:spAutoFit/>
          </a:bodyPr>
          <a:lstStyle/>
          <a:p>
            <a:pPr algn="l">
              <a:buClrTx/>
              <a:buSzTx/>
              <a:buFontTx/>
            </a:pPr>
            <a:r>
              <a:rPr lang="en-US" sz="2400" b="1" dirty="0">
                <a:solidFill>
                  <a:srgbClr val="F26B38"/>
                </a:solidFill>
                <a:latin typeface="Aptos Display" pitchFamily="34" charset="0"/>
                <a:ea typeface="Aptos Display" pitchFamily="34" charset="-122"/>
                <a:cs typeface="Aptos Display" pitchFamily="34" charset="-120"/>
              </a:rPr>
              <a:t>Purpose</a:t>
            </a:r>
          </a:p>
          <a:p>
            <a:endParaRPr lang="en-US" altLang="zh-CN" sz="1600"/>
          </a:p>
          <a:p>
            <a:r>
              <a:rPr lang="en-US" altLang="zh-CN"/>
              <a:t>To check whether the proposed policies satisfy the long-term sampling frequency constraint and whether PR averaging improves constraint stability.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en-CN"/>
          </a:p>
        </p:txBody>
      </p:sp>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4" name="Shape 2"/>
          <p:cNvSpPr/>
          <p:nvPr/>
        </p:nvSpPr>
        <p:spPr>
          <a:xfrm>
            <a:off x="9921240" y="-1143000"/>
            <a:ext cx="3291840" cy="3291840"/>
          </a:xfrm>
          <a:prstGeom prst="arc">
            <a:avLst/>
          </a:prstGeom>
          <a:solidFill>
            <a:srgbClr val="FFFFFF">
              <a:alpha val="0"/>
            </a:srgbClr>
          </a:solidFill>
          <a:ln w="25400">
            <a:solidFill>
              <a:srgbClr val="EAF2FF">
                <a:alpha val="50000"/>
              </a:srgbClr>
            </a:solidFill>
            <a:prstDash val="solid"/>
          </a:ln>
        </p:spPr>
        <p:txBody>
          <a:bodyPr/>
          <a:lstStyle/>
          <a:p>
            <a:endParaRPr lang="en-CN"/>
          </a:p>
        </p:txBody>
      </p:sp>
      <p:sp>
        <p:nvSpPr>
          <p:cNvPr id="5" name="Shape 3"/>
          <p:cNvSpPr/>
          <p:nvPr/>
        </p:nvSpPr>
        <p:spPr>
          <a:xfrm>
            <a:off x="10405872" y="-640080"/>
            <a:ext cx="2103120" cy="2103120"/>
          </a:xfrm>
          <a:prstGeom prst="arc">
            <a:avLst/>
          </a:prstGeom>
          <a:solidFill>
            <a:srgbClr val="FFFFFF">
              <a:alpha val="0"/>
            </a:srgbClr>
          </a:solidFill>
          <a:ln w="15240">
            <a:solidFill>
              <a:srgbClr val="EAF2FF">
                <a:alpha val="65000"/>
              </a:srgbClr>
            </a:solidFill>
            <a:prstDash val="solid"/>
          </a:ln>
        </p:spPr>
        <p:txBody>
          <a:bodyPr/>
          <a:lstStyle/>
          <a:p>
            <a:endParaRPr lang="en-CN"/>
          </a:p>
        </p:txBody>
      </p:sp>
      <p:sp>
        <p:nvSpPr>
          <p:cNvPr id="6" name="Text 4"/>
          <p:cNvSpPr/>
          <p:nvPr/>
        </p:nvSpPr>
        <p:spPr>
          <a:xfrm>
            <a:off x="566928" y="384048"/>
            <a:ext cx="9875520" cy="502920"/>
          </a:xfrm>
          <a:prstGeom prst="rect">
            <a:avLst/>
          </a:prstGeom>
          <a:noFill/>
        </p:spPr>
        <p:txBody>
          <a:bodyPr wrap="square" lIns="254" tIns="254" rIns="254" bIns="254" rtlCol="0" anchor="ctr">
            <a:noAutofit/>
          </a:bodyPr>
          <a:lstStyle/>
          <a:p>
            <a:pPr marL="0" indent="0">
              <a:buNone/>
            </a:pPr>
            <a:r>
              <a:rPr lang="en-US" sz="3200" b="1" dirty="0">
                <a:solidFill>
                  <a:srgbClr val="0B1F3A"/>
                </a:solidFill>
                <a:latin typeface="Aptos Display" pitchFamily="34" charset="0"/>
                <a:ea typeface="Aptos Display" pitchFamily="34" charset="-122"/>
                <a:cs typeface="Aptos Display" pitchFamily="34" charset="-120"/>
              </a:rPr>
              <a:t>Key Takeaways</a:t>
            </a:r>
          </a:p>
        </p:txBody>
      </p:sp>
      <p:sp>
        <p:nvSpPr>
          <p:cNvPr id="7" name="Text 5"/>
          <p:cNvSpPr/>
          <p:nvPr/>
        </p:nvSpPr>
        <p:spPr>
          <a:xfrm>
            <a:off x="603504" y="932688"/>
            <a:ext cx="9601200" cy="292608"/>
          </a:xfrm>
          <a:prstGeom prst="rect">
            <a:avLst/>
          </a:prstGeom>
          <a:noFill/>
        </p:spPr>
        <p:txBody>
          <a:bodyPr wrap="square" lIns="254" tIns="254" rIns="254" bIns="254" rtlCol="0" anchor="ctr">
            <a:normAutofit/>
          </a:bodyPr>
          <a:lstStyle/>
          <a:p>
            <a:pPr marL="0" indent="0">
              <a:buNone/>
            </a:pPr>
            <a:r>
              <a:rPr lang="en-US" dirty="0">
                <a:solidFill>
                  <a:srgbClr val="58616D"/>
                </a:solidFill>
                <a:latin typeface="Aptos" pitchFamily="34" charset="0"/>
                <a:ea typeface="Aptos" pitchFamily="34" charset="-122"/>
                <a:cs typeface="Aptos" pitchFamily="34" charset="-120"/>
              </a:rPr>
              <a:t>Four messages to remember.</a:t>
            </a:r>
            <a:endParaRPr lang="en-US" dirty="0"/>
          </a:p>
        </p:txBody>
      </p:sp>
      <p:sp>
        <p:nvSpPr>
          <p:cNvPr id="8" name="Shape 6"/>
          <p:cNvSpPr/>
          <p:nvPr>
            <p:custDataLst>
              <p:tags r:id="rId1"/>
            </p:custDataLst>
          </p:nvPr>
        </p:nvSpPr>
        <p:spPr>
          <a:xfrm>
            <a:off x="749808" y="1508760"/>
            <a:ext cx="4754880" cy="1143000"/>
          </a:xfrm>
          <a:prstGeom prst="roundRect">
            <a:avLst>
              <a:gd name="adj" fmla="val 4800"/>
            </a:avLst>
          </a:prstGeom>
          <a:solidFill>
            <a:srgbClr val="F4F8FF"/>
          </a:solidFill>
          <a:ln w="12700">
            <a:solidFill>
              <a:srgbClr val="D8E6FA"/>
            </a:solidFill>
            <a:prstDash val="solid"/>
          </a:ln>
        </p:spPr>
        <p:txBody>
          <a:bodyPr/>
          <a:lstStyle/>
          <a:p>
            <a:endParaRPr lang="en-CN"/>
          </a:p>
        </p:txBody>
      </p:sp>
      <p:sp>
        <p:nvSpPr>
          <p:cNvPr id="9" name="Text 7"/>
          <p:cNvSpPr/>
          <p:nvPr>
            <p:custDataLst>
              <p:tags r:id="rId2"/>
            </p:custDataLst>
          </p:nvPr>
        </p:nvSpPr>
        <p:spPr>
          <a:xfrm>
            <a:off x="914400" y="1636776"/>
            <a:ext cx="4425696" cy="256032"/>
          </a:xfrm>
          <a:prstGeom prst="rect">
            <a:avLst/>
          </a:prstGeom>
          <a:noFill/>
        </p:spPr>
        <p:txBody>
          <a:bodyPr wrap="square" lIns="0" tIns="0" rIns="0" bIns="0" rtlCol="0" anchor="ctr"/>
          <a:lstStyle/>
          <a:p>
            <a:pPr marL="0" indent="0">
              <a:buNone/>
            </a:pPr>
            <a:r>
              <a:rPr lang="en-US" sz="2800" b="1" dirty="0">
                <a:solidFill>
                  <a:srgbClr val="1E63B5"/>
                </a:solidFill>
                <a:latin typeface="Aptos Display" pitchFamily="34" charset="0"/>
                <a:ea typeface="Aptos Display" pitchFamily="34" charset="-122"/>
                <a:cs typeface="Aptos Display" pitchFamily="34" charset="-120"/>
              </a:rPr>
              <a:t>Structure</a:t>
            </a:r>
          </a:p>
        </p:txBody>
      </p:sp>
      <p:sp>
        <p:nvSpPr>
          <p:cNvPr id="10" name="Text 8"/>
          <p:cNvSpPr/>
          <p:nvPr>
            <p:custDataLst>
              <p:tags r:id="rId3"/>
            </p:custDataLst>
          </p:nvPr>
        </p:nvSpPr>
        <p:spPr>
          <a:xfrm>
            <a:off x="914400" y="1975104"/>
            <a:ext cx="4425696" cy="576072"/>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Threshold policies reduce online control to scalar learning.</a:t>
            </a:r>
          </a:p>
        </p:txBody>
      </p:sp>
      <p:sp>
        <p:nvSpPr>
          <p:cNvPr id="11" name="Shape 9"/>
          <p:cNvSpPr/>
          <p:nvPr>
            <p:custDataLst>
              <p:tags r:id="rId4"/>
            </p:custDataLst>
          </p:nvPr>
        </p:nvSpPr>
        <p:spPr>
          <a:xfrm>
            <a:off x="5980176" y="1508760"/>
            <a:ext cx="4754880" cy="1143000"/>
          </a:xfrm>
          <a:prstGeom prst="roundRect">
            <a:avLst>
              <a:gd name="adj" fmla="val 4800"/>
            </a:avLst>
          </a:prstGeom>
          <a:solidFill>
            <a:srgbClr val="FFFFFF"/>
          </a:solidFill>
          <a:ln w="12700">
            <a:solidFill>
              <a:srgbClr val="D8E6FA"/>
            </a:solidFill>
            <a:prstDash val="solid"/>
          </a:ln>
        </p:spPr>
        <p:txBody>
          <a:bodyPr/>
          <a:lstStyle/>
          <a:p>
            <a:endParaRPr lang="en-CN"/>
          </a:p>
        </p:txBody>
      </p:sp>
      <p:sp>
        <p:nvSpPr>
          <p:cNvPr id="12" name="Text 10"/>
          <p:cNvSpPr/>
          <p:nvPr>
            <p:custDataLst>
              <p:tags r:id="rId5"/>
            </p:custDataLst>
          </p:nvPr>
        </p:nvSpPr>
        <p:spPr>
          <a:xfrm>
            <a:off x="6144895" y="1555115"/>
            <a:ext cx="4425950" cy="337820"/>
          </a:xfrm>
          <a:prstGeom prst="rect">
            <a:avLst/>
          </a:prstGeom>
          <a:noFill/>
        </p:spPr>
        <p:txBody>
          <a:bodyPr wrap="square" lIns="0" tIns="0" rIns="0" bIns="0" rtlCol="0" anchor="ctr"/>
          <a:lstStyle/>
          <a:p>
            <a:pPr marL="0" indent="0">
              <a:buNone/>
            </a:pPr>
            <a:r>
              <a:rPr lang="en-US" sz="2800" b="1" dirty="0">
                <a:solidFill>
                  <a:srgbClr val="F26B38"/>
                </a:solidFill>
                <a:latin typeface="Aptos Display" pitchFamily="34" charset="0"/>
                <a:ea typeface="Aptos Display" pitchFamily="34" charset="-122"/>
                <a:cs typeface="Aptos Display" pitchFamily="34" charset="-120"/>
              </a:rPr>
              <a:t>Unknown statistics</a:t>
            </a:r>
          </a:p>
        </p:txBody>
      </p:sp>
      <mc:AlternateContent xmlns:mc="http://schemas.openxmlformats.org/markup-compatibility/2006" xmlns:a14="http://schemas.microsoft.com/office/drawing/2010/main">
        <mc:Choice Requires="a14">
          <p:sp>
            <p:nvSpPr>
              <p:cNvPr id="13" name="Text 11"/>
              <p:cNvSpPr/>
              <p:nvPr>
                <p:custDataLst>
                  <p:tags r:id="rId6"/>
                </p:custDataLst>
              </p:nvPr>
            </p:nvSpPr>
            <p:spPr>
              <a:xfrm>
                <a:off x="6144768" y="1975104"/>
                <a:ext cx="4425696" cy="576072"/>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Learn </a:t>
                </a:r>
                <a14:m>
                  <m:oMath xmlns:m="http://schemas.openxmlformats.org/officeDocument/2006/math">
                    <m:sSup>
                      <m:sSupPr>
                        <m:ctrlPr>
                          <a:rPr lang="en-US" i="1" dirty="0">
                            <a:solidFill>
                              <a:srgbClr val="111827"/>
                            </a:solidFill>
                            <a:latin typeface="Cambria Math" panose="02040503050406030204" pitchFamily="18" charset="0"/>
                            <a:ea typeface="Aptos" pitchFamily="34" charset="-122"/>
                            <a:cs typeface="Cambria Math" panose="02040503050406030204" charset="0"/>
                          </a:rPr>
                        </m:ctrlPr>
                      </m:sSupPr>
                      <m:e>
                        <m:r>
                          <a:rPr lang="en-US" i="1" dirty="0">
                            <a:solidFill>
                              <a:srgbClr val="111827"/>
                            </a:solidFill>
                            <a:latin typeface="Cambria Math" panose="02040503050406030204" charset="0"/>
                            <a:ea typeface="Aptos" pitchFamily="34" charset="-122"/>
                            <a:cs typeface="Cambria Math" panose="02040503050406030204" charset="0"/>
                          </a:rPr>
                          <m:t>𝛽</m:t>
                        </m:r>
                      </m:e>
                      <m:sup>
                        <m:r>
                          <a:rPr lang="en-US" i="1" dirty="0">
                            <a:solidFill>
                              <a:srgbClr val="111827"/>
                            </a:solidFill>
                            <a:latin typeface="Cambria Math" panose="02040503050406030204" charset="0"/>
                            <a:ea typeface="Aptos" pitchFamily="34" charset="-122"/>
                            <a:cs typeface="Cambria Math" panose="02040503050406030204" charset="0"/>
                          </a:rPr>
                          <m:t>∗</m:t>
                        </m:r>
                      </m:sup>
                    </m:sSup>
                  </m:oMath>
                </a14:m>
                <a:r>
                  <a:rPr lang="en-US" dirty="0">
                    <a:solidFill>
                      <a:srgbClr val="111827"/>
                    </a:solidFill>
                    <a:latin typeface="Aptos" pitchFamily="34" charset="0"/>
                    <a:ea typeface="Aptos" pitchFamily="34" charset="-122"/>
                    <a:cs typeface="Aptos" pitchFamily="34" charset="-120"/>
                  </a:rPr>
                  <a:t> directly; no full delay-distribution estimation.</a:t>
                </a:r>
                <a:endParaRPr lang="en-US" dirty="0"/>
              </a:p>
            </p:txBody>
          </p:sp>
        </mc:Choice>
        <mc:Fallback xmlns="">
          <p:sp>
            <p:nvSpPr>
              <p:cNvPr id="13" name="Text 11"/>
              <p:cNvSpPr>
                <a:spLocks noRot="1" noChangeAspect="1" noMove="1" noResize="1" noEditPoints="1" noAdjustHandles="1" noChangeArrowheads="1" noChangeShapeType="1" noTextEdit="1"/>
              </p:cNvSpPr>
              <p:nvPr>
                <p:custDataLst>
                  <p:tags r:id="rId15"/>
                </p:custDataLst>
              </p:nvPr>
            </p:nvSpPr>
            <p:spPr>
              <a:xfrm>
                <a:off x="6144768" y="1975104"/>
                <a:ext cx="4425696" cy="576072"/>
              </a:xfrm>
              <a:prstGeom prst="rect">
                <a:avLst/>
              </a:prstGeom>
              <a:blipFill rotWithShape="1">
                <a:blip r:embed="rId16"/>
                <a:stretch>
                  <a:fillRect l="-11" t="-1477" r="6" b="66"/>
                </a:stretch>
              </a:blipFill>
            </p:spPr>
            <p:txBody>
              <a:bodyPr/>
              <a:lstStyle/>
              <a:p>
                <a:r>
                  <a:rPr lang="zh-CN" altLang="en-US">
                    <a:noFill/>
                  </a:rPr>
                  <a:t> </a:t>
                </a:r>
              </a:p>
            </p:txBody>
          </p:sp>
        </mc:Fallback>
      </mc:AlternateContent>
      <p:sp>
        <p:nvSpPr>
          <p:cNvPr id="14" name="Shape 12"/>
          <p:cNvSpPr/>
          <p:nvPr>
            <p:custDataLst>
              <p:tags r:id="rId7"/>
            </p:custDataLst>
          </p:nvPr>
        </p:nvSpPr>
        <p:spPr>
          <a:xfrm>
            <a:off x="749808" y="3136392"/>
            <a:ext cx="4754880" cy="1143000"/>
          </a:xfrm>
          <a:prstGeom prst="roundRect">
            <a:avLst>
              <a:gd name="adj" fmla="val 4800"/>
            </a:avLst>
          </a:prstGeom>
          <a:solidFill>
            <a:srgbClr val="F4F8FF"/>
          </a:solidFill>
          <a:ln w="12700">
            <a:solidFill>
              <a:srgbClr val="D8E6FA"/>
            </a:solidFill>
            <a:prstDash val="solid"/>
          </a:ln>
        </p:spPr>
        <p:txBody>
          <a:bodyPr/>
          <a:lstStyle/>
          <a:p>
            <a:endParaRPr lang="en-CN"/>
          </a:p>
        </p:txBody>
      </p:sp>
      <p:sp>
        <p:nvSpPr>
          <p:cNvPr id="15" name="Text 13"/>
          <p:cNvSpPr/>
          <p:nvPr>
            <p:custDataLst>
              <p:tags r:id="rId8"/>
            </p:custDataLst>
          </p:nvPr>
        </p:nvSpPr>
        <p:spPr>
          <a:xfrm>
            <a:off x="914400" y="3264408"/>
            <a:ext cx="4425696" cy="256032"/>
          </a:xfrm>
          <a:prstGeom prst="rect">
            <a:avLst/>
          </a:prstGeom>
          <a:noFill/>
        </p:spPr>
        <p:txBody>
          <a:bodyPr wrap="square" lIns="0" tIns="0" rIns="0" bIns="0" rtlCol="0" anchor="ctr"/>
          <a:lstStyle/>
          <a:p>
            <a:pPr marL="0" indent="0">
              <a:buNone/>
            </a:pPr>
            <a:r>
              <a:rPr lang="en-US" sz="2800" b="1" dirty="0">
                <a:solidFill>
                  <a:srgbClr val="C83F49"/>
                </a:solidFill>
                <a:latin typeface="Aptos Display" pitchFamily="34" charset="0"/>
                <a:ea typeface="Aptos Display" pitchFamily="34" charset="-122"/>
                <a:cs typeface="Aptos Display" pitchFamily="34" charset="-120"/>
              </a:rPr>
              <a:t>Optimality</a:t>
            </a:r>
          </a:p>
        </p:txBody>
      </p:sp>
      <p:sp>
        <p:nvSpPr>
          <p:cNvPr id="16" name="Text 14"/>
          <p:cNvSpPr/>
          <p:nvPr>
            <p:custDataLst>
              <p:tags r:id="rId9"/>
            </p:custDataLst>
          </p:nvPr>
        </p:nvSpPr>
        <p:spPr>
          <a:xfrm>
            <a:off x="914400" y="3602736"/>
            <a:ext cx="4425696" cy="576072"/>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O(1/k) matches the minimax lower bound.</a:t>
            </a:r>
          </a:p>
        </p:txBody>
      </p:sp>
      <p:sp>
        <p:nvSpPr>
          <p:cNvPr id="17" name="Shape 15"/>
          <p:cNvSpPr/>
          <p:nvPr>
            <p:custDataLst>
              <p:tags r:id="rId10"/>
            </p:custDataLst>
          </p:nvPr>
        </p:nvSpPr>
        <p:spPr>
          <a:xfrm>
            <a:off x="5980176" y="3136392"/>
            <a:ext cx="4754880" cy="1143000"/>
          </a:xfrm>
          <a:prstGeom prst="roundRect">
            <a:avLst>
              <a:gd name="adj" fmla="val 4800"/>
            </a:avLst>
          </a:prstGeom>
          <a:solidFill>
            <a:srgbClr val="FFFFFF"/>
          </a:solidFill>
          <a:ln w="12700">
            <a:solidFill>
              <a:srgbClr val="D8E6FA"/>
            </a:solidFill>
            <a:prstDash val="solid"/>
          </a:ln>
        </p:spPr>
        <p:txBody>
          <a:bodyPr/>
          <a:lstStyle/>
          <a:p>
            <a:endParaRPr lang="en-CN"/>
          </a:p>
        </p:txBody>
      </p:sp>
      <p:sp>
        <p:nvSpPr>
          <p:cNvPr id="18" name="Text 16"/>
          <p:cNvSpPr/>
          <p:nvPr>
            <p:custDataLst>
              <p:tags r:id="rId11"/>
            </p:custDataLst>
          </p:nvPr>
        </p:nvSpPr>
        <p:spPr>
          <a:xfrm>
            <a:off x="6144768" y="3264408"/>
            <a:ext cx="4425696" cy="256032"/>
          </a:xfrm>
          <a:prstGeom prst="rect">
            <a:avLst/>
          </a:prstGeom>
          <a:noFill/>
        </p:spPr>
        <p:txBody>
          <a:bodyPr wrap="square" lIns="0" tIns="0" rIns="0" bIns="0" rtlCol="0" anchor="ctr"/>
          <a:lstStyle/>
          <a:p>
            <a:pPr marL="0" indent="0">
              <a:buNone/>
            </a:pPr>
            <a:r>
              <a:rPr lang="en-US" sz="2800" b="1" dirty="0">
                <a:solidFill>
                  <a:srgbClr val="2BB673"/>
                </a:solidFill>
                <a:latin typeface="Aptos Display" pitchFamily="34" charset="0"/>
                <a:ea typeface="Aptos Display" pitchFamily="34" charset="-122"/>
                <a:cs typeface="Aptos Display" pitchFamily="34" charset="-120"/>
              </a:rPr>
              <a:t>Stability</a:t>
            </a:r>
          </a:p>
        </p:txBody>
      </p:sp>
      <p:sp>
        <p:nvSpPr>
          <p:cNvPr id="19" name="Text 17"/>
          <p:cNvSpPr/>
          <p:nvPr>
            <p:custDataLst>
              <p:tags r:id="rId12"/>
            </p:custDataLst>
          </p:nvPr>
        </p:nvSpPr>
        <p:spPr>
          <a:xfrm>
            <a:off x="6144768" y="3602736"/>
            <a:ext cx="4425696" cy="576072"/>
          </a:xfrm>
          <a:prstGeom prst="rect">
            <a:avLst/>
          </a:prstGeom>
          <a:noFill/>
        </p:spPr>
        <p:txBody>
          <a:bodyPr wrap="square" lIns="0" tIns="0" rIns="0" bIns="0" rtlCol="0" anchor="ctr">
            <a:normAutofit/>
          </a:bodyPr>
          <a:lstStyle/>
          <a:p>
            <a:pPr marL="0" indent="0">
              <a:buNone/>
            </a:pPr>
            <a:r>
              <a:rPr lang="en-US" dirty="0">
                <a:solidFill>
                  <a:srgbClr val="111827"/>
                </a:solidFill>
                <a:latin typeface="Aptos" pitchFamily="34" charset="0"/>
                <a:ea typeface="Aptos" pitchFamily="34" charset="-122"/>
                <a:cs typeface="Aptos" pitchFamily="34" charset="-120"/>
              </a:rPr>
              <a:t>PR averaging makes learning faster and smoother.</a:t>
            </a:r>
          </a:p>
        </p:txBody>
      </p:sp>
      <p:sp>
        <p:nvSpPr>
          <p:cNvPr id="20" name="Shape 18"/>
          <p:cNvSpPr/>
          <p:nvPr/>
        </p:nvSpPr>
        <p:spPr>
          <a:xfrm>
            <a:off x="750570" y="5266690"/>
            <a:ext cx="9993630" cy="704215"/>
          </a:xfrm>
          <a:prstGeom prst="roundRect">
            <a:avLst>
              <a:gd name="adj" fmla="val 8333"/>
            </a:avLst>
          </a:prstGeom>
          <a:solidFill>
            <a:srgbClr val="F8FAFC"/>
          </a:solidFill>
          <a:ln w="12700">
            <a:solidFill>
              <a:srgbClr val="DFE7F2"/>
            </a:solidFill>
            <a:prstDash val="solid"/>
          </a:ln>
        </p:spPr>
        <p:txBody>
          <a:bodyPr/>
          <a:lstStyle/>
          <a:p>
            <a:endParaRPr lang="en-CN"/>
          </a:p>
        </p:txBody>
      </p:sp>
      <p:sp>
        <p:nvSpPr>
          <p:cNvPr id="22" name="Text 20"/>
          <p:cNvSpPr/>
          <p:nvPr/>
        </p:nvSpPr>
        <p:spPr>
          <a:xfrm>
            <a:off x="887095" y="5434330"/>
            <a:ext cx="9692640" cy="349250"/>
          </a:xfrm>
          <a:prstGeom prst="rect">
            <a:avLst/>
          </a:prstGeom>
          <a:noFill/>
        </p:spPr>
        <p:txBody>
          <a:bodyPr wrap="square" lIns="0" tIns="0" rIns="0" bIns="0" rtlCol="0" anchor="ctr">
            <a:noAutofit/>
          </a:bodyPr>
          <a:lstStyle/>
          <a:p>
            <a:pPr marL="0" indent="0">
              <a:buNone/>
            </a:pPr>
            <a:r>
              <a:rPr lang="en-US" dirty="0">
                <a:solidFill>
                  <a:srgbClr val="111827"/>
                </a:solidFill>
                <a:latin typeface="Aptos" pitchFamily="34" charset="0"/>
                <a:ea typeface="Aptos" pitchFamily="34" charset="-122"/>
                <a:cs typeface="Aptos" pitchFamily="34" charset="-120"/>
              </a:rPr>
              <a:t>MSE-optimal sampling over unknown unreliable channels can be learned online with tight regret guarantees.</a:t>
            </a:r>
          </a:p>
        </p:txBody>
      </p:sp>
      <p:sp>
        <p:nvSpPr>
          <p:cNvPr id="24" name="Text 22"/>
          <p:cNvSpPr/>
          <p:nvPr/>
        </p:nvSpPr>
        <p:spPr>
          <a:xfrm>
            <a:off x="11292840" y="6492240"/>
            <a:ext cx="411480" cy="210312"/>
          </a:xfrm>
          <a:prstGeom prst="rect">
            <a:avLst/>
          </a:prstGeom>
          <a:solidFill>
            <a:srgbClr val="1E63B5"/>
          </a:solidFill>
          <a:ln>
            <a:solidFill>
              <a:srgbClr val="1E63B5"/>
            </a:solidFill>
          </a:ln>
        </p:spPr>
        <p:txBody>
          <a:bodyPr wrap="square" lIns="0" tIns="0" rIns="0" bIns="0" rtlCol="0" anchor="ctr"/>
          <a:lstStyle/>
          <a:p>
            <a:pPr marL="0" indent="0" algn="ctr">
              <a:buNone/>
            </a:pPr>
            <a:r>
              <a:rPr lang="en-US" sz="880" b="1" dirty="0">
                <a:solidFill>
                  <a:srgbClr val="FFFFFF"/>
                </a:solidFill>
                <a:latin typeface="Aptos" pitchFamily="34" charset="0"/>
                <a:ea typeface="Aptos" pitchFamily="34" charset="-122"/>
                <a:cs typeface="Aptos" pitchFamily="34" charset="-120"/>
              </a:rPr>
              <a:t>15</a:t>
            </a:r>
            <a:endParaRPr lang="en-US" sz="8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1"/>
          <p:cNvSpPr/>
          <p:nvPr/>
        </p:nvSpPr>
        <p:spPr>
          <a:xfrm>
            <a:off x="0" y="0"/>
            <a:ext cx="12191695" cy="100584"/>
          </a:xfrm>
          <a:prstGeom prst="rect">
            <a:avLst/>
          </a:prstGeom>
          <a:solidFill>
            <a:srgbClr val="1E63B5"/>
          </a:solidFill>
          <a:ln w="12700">
            <a:solidFill>
              <a:srgbClr val="1E63B5"/>
            </a:solidFill>
            <a:prstDash val="solid"/>
          </a:ln>
        </p:spPr>
        <p:txBody>
          <a:bodyPr/>
          <a:lstStyle/>
          <a:p>
            <a:endParaRPr lang="en-CN"/>
          </a:p>
        </p:txBody>
      </p:sp>
      <p:sp>
        <p:nvSpPr>
          <p:cNvPr id="4" name="Shape 2"/>
          <p:cNvSpPr/>
          <p:nvPr/>
        </p:nvSpPr>
        <p:spPr>
          <a:xfrm>
            <a:off x="9921240" y="-1143000"/>
            <a:ext cx="3291840" cy="3291840"/>
          </a:xfrm>
          <a:prstGeom prst="arc">
            <a:avLst/>
          </a:prstGeom>
          <a:solidFill>
            <a:srgbClr val="FFFFFF">
              <a:alpha val="0"/>
            </a:srgbClr>
          </a:solidFill>
          <a:ln w="25400">
            <a:solidFill>
              <a:srgbClr val="EAF2FF">
                <a:alpha val="50000"/>
              </a:srgbClr>
            </a:solidFill>
            <a:prstDash val="solid"/>
          </a:ln>
        </p:spPr>
        <p:txBody>
          <a:bodyPr/>
          <a:lstStyle/>
          <a:p>
            <a:endParaRPr lang="en-CN"/>
          </a:p>
        </p:txBody>
      </p:sp>
      <p:sp>
        <p:nvSpPr>
          <p:cNvPr id="5" name="Shape 3"/>
          <p:cNvSpPr/>
          <p:nvPr/>
        </p:nvSpPr>
        <p:spPr>
          <a:xfrm>
            <a:off x="10405872" y="-640080"/>
            <a:ext cx="2103120" cy="2103120"/>
          </a:xfrm>
          <a:prstGeom prst="arc">
            <a:avLst/>
          </a:prstGeom>
          <a:solidFill>
            <a:srgbClr val="FFFFFF">
              <a:alpha val="0"/>
            </a:srgbClr>
          </a:solidFill>
          <a:ln w="15240">
            <a:solidFill>
              <a:srgbClr val="EAF2FF">
                <a:alpha val="65000"/>
              </a:srgbClr>
            </a:solidFill>
            <a:prstDash val="solid"/>
          </a:ln>
        </p:spPr>
        <p:txBody>
          <a:bodyPr/>
          <a:lstStyle/>
          <a:p>
            <a:endParaRPr lang="en-CN"/>
          </a:p>
        </p:txBody>
      </p:sp>
      <p:sp>
        <p:nvSpPr>
          <p:cNvPr id="7" name="Text 5"/>
          <p:cNvSpPr/>
          <p:nvPr/>
        </p:nvSpPr>
        <p:spPr>
          <a:xfrm>
            <a:off x="822960" y="1078992"/>
            <a:ext cx="6035040" cy="594360"/>
          </a:xfrm>
          <a:prstGeom prst="rect">
            <a:avLst/>
          </a:prstGeom>
          <a:noFill/>
        </p:spPr>
        <p:txBody>
          <a:bodyPr wrap="square" lIns="0" tIns="0" rIns="0" bIns="0" rtlCol="0" anchor="ct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Thank you</a:t>
            </a:r>
            <a:endParaRPr lang="en-US" sz="3800" dirty="0"/>
          </a:p>
        </p:txBody>
      </p:sp>
      <p:sp>
        <p:nvSpPr>
          <p:cNvPr id="8" name="Text 6"/>
          <p:cNvSpPr/>
          <p:nvPr/>
        </p:nvSpPr>
        <p:spPr>
          <a:xfrm>
            <a:off x="822960" y="1847088"/>
            <a:ext cx="3291840" cy="384048"/>
          </a:xfrm>
          <a:prstGeom prst="rect">
            <a:avLst/>
          </a:prstGeom>
          <a:noFill/>
        </p:spPr>
        <p:txBody>
          <a:bodyPr wrap="square" lIns="0" tIns="0" rIns="0" bIns="0" rtlCol="0" anchor="ctr"/>
          <a:lstStyle/>
          <a:p>
            <a:pPr marL="0" indent="0">
              <a:buNone/>
            </a:pPr>
            <a:r>
              <a:rPr lang="en-US" sz="3200" dirty="0">
                <a:latin typeface="Aptos" pitchFamily="34" charset="0"/>
                <a:ea typeface="Aptos" pitchFamily="34" charset="-122"/>
                <a:cs typeface="Aptos" pitchFamily="34" charset="-120"/>
              </a:rPr>
              <a:t>Questions?</a:t>
            </a:r>
            <a:endParaRPr lang="en-US" sz="3200" dirty="0"/>
          </a:p>
        </p:txBody>
      </p:sp>
      <p:sp>
        <p:nvSpPr>
          <p:cNvPr id="9" name="Shape 7"/>
          <p:cNvSpPr/>
          <p:nvPr>
            <p:custDataLst>
              <p:tags r:id="rId1"/>
            </p:custDataLst>
          </p:nvPr>
        </p:nvSpPr>
        <p:spPr>
          <a:xfrm>
            <a:off x="914400" y="2860040"/>
            <a:ext cx="164592" cy="164592"/>
          </a:xfrm>
          <a:prstGeom prst="ellipse">
            <a:avLst/>
          </a:prstGeom>
          <a:solidFill>
            <a:srgbClr val="3DB8E8"/>
          </a:solidFill>
          <a:ln w="12700">
            <a:solidFill>
              <a:srgbClr val="3DB8E8"/>
            </a:solidFill>
            <a:prstDash val="solid"/>
          </a:ln>
        </p:spPr>
        <p:txBody>
          <a:bodyPr/>
          <a:lstStyle/>
          <a:p>
            <a:endParaRPr lang="en-CN" sz="2400"/>
          </a:p>
        </p:txBody>
      </p:sp>
      <p:sp>
        <p:nvSpPr>
          <p:cNvPr id="10" name="Text 8"/>
          <p:cNvSpPr/>
          <p:nvPr>
            <p:custDataLst>
              <p:tags r:id="rId2"/>
            </p:custDataLst>
          </p:nvPr>
        </p:nvSpPr>
        <p:spPr>
          <a:xfrm>
            <a:off x="1234440" y="2816352"/>
            <a:ext cx="8046720" cy="274320"/>
          </a:xfrm>
          <a:prstGeom prst="rect">
            <a:avLst/>
          </a:prstGeom>
          <a:noFill/>
        </p:spPr>
        <p:txBody>
          <a:bodyPr wrap="square" lIns="0" tIns="0" rIns="0" bIns="0" rtlCol="0" anchor="ctr"/>
          <a:lstStyle/>
          <a:p>
            <a:pPr marL="0" indent="0">
              <a:buNone/>
            </a:pPr>
            <a:r>
              <a:rPr lang="en-US" sz="2400" dirty="0">
                <a:latin typeface="Aptos" pitchFamily="34" charset="0"/>
                <a:ea typeface="Aptos" pitchFamily="34" charset="-122"/>
                <a:cs typeface="Aptos" pitchFamily="34" charset="-120"/>
              </a:rPr>
              <a:t>Online threshold learning for MSE-optimal remote estimation</a:t>
            </a:r>
          </a:p>
        </p:txBody>
      </p:sp>
      <p:sp>
        <p:nvSpPr>
          <p:cNvPr id="11" name="Shape 9"/>
          <p:cNvSpPr/>
          <p:nvPr>
            <p:custDataLst>
              <p:tags r:id="rId3"/>
            </p:custDataLst>
          </p:nvPr>
        </p:nvSpPr>
        <p:spPr>
          <a:xfrm>
            <a:off x="914400" y="3254248"/>
            <a:ext cx="164592" cy="164592"/>
          </a:xfrm>
          <a:prstGeom prst="ellipse">
            <a:avLst/>
          </a:prstGeom>
          <a:solidFill>
            <a:srgbClr val="3DB8E8"/>
          </a:solidFill>
          <a:ln w="12700">
            <a:solidFill>
              <a:srgbClr val="3DB8E8"/>
            </a:solidFill>
            <a:prstDash val="solid"/>
          </a:ln>
        </p:spPr>
        <p:txBody>
          <a:bodyPr/>
          <a:lstStyle/>
          <a:p>
            <a:endParaRPr lang="en-CN" sz="2400"/>
          </a:p>
        </p:txBody>
      </p:sp>
      <p:sp>
        <p:nvSpPr>
          <p:cNvPr id="12" name="Text 10"/>
          <p:cNvSpPr/>
          <p:nvPr>
            <p:custDataLst>
              <p:tags r:id="rId4"/>
            </p:custDataLst>
          </p:nvPr>
        </p:nvSpPr>
        <p:spPr>
          <a:xfrm>
            <a:off x="1234440" y="3383280"/>
            <a:ext cx="8046720" cy="274320"/>
          </a:xfrm>
          <a:prstGeom prst="rect">
            <a:avLst/>
          </a:prstGeom>
          <a:noFill/>
        </p:spPr>
        <p:txBody>
          <a:bodyPr wrap="square" lIns="0" tIns="0" rIns="0" bIns="0" rtlCol="0" anchor="ctr"/>
          <a:lstStyle/>
          <a:p>
            <a:pPr marL="0" indent="0">
              <a:buNone/>
            </a:pPr>
            <a:r>
              <a:rPr lang="en-US" sz="2400" dirty="0">
                <a:latin typeface="Aptos" pitchFamily="34" charset="0"/>
                <a:ea typeface="Aptos" pitchFamily="34" charset="-122"/>
                <a:cs typeface="Aptos" pitchFamily="34" charset="-120"/>
              </a:rPr>
              <a:t>Handles unknown delay statistics and unreliable transmission</a:t>
            </a:r>
          </a:p>
        </p:txBody>
      </p:sp>
      <p:sp>
        <p:nvSpPr>
          <p:cNvPr id="13" name="Shape 11"/>
          <p:cNvSpPr/>
          <p:nvPr>
            <p:custDataLst>
              <p:tags r:id="rId5"/>
            </p:custDataLst>
          </p:nvPr>
        </p:nvSpPr>
        <p:spPr>
          <a:xfrm>
            <a:off x="914400" y="4004056"/>
            <a:ext cx="164592" cy="164592"/>
          </a:xfrm>
          <a:prstGeom prst="ellipse">
            <a:avLst/>
          </a:prstGeom>
          <a:solidFill>
            <a:srgbClr val="3DB8E8"/>
          </a:solidFill>
          <a:ln w="12700">
            <a:solidFill>
              <a:srgbClr val="3DB8E8"/>
            </a:solidFill>
            <a:prstDash val="solid"/>
          </a:ln>
        </p:spPr>
        <p:txBody>
          <a:bodyPr/>
          <a:lstStyle/>
          <a:p>
            <a:endParaRPr lang="en-CN" sz="2400"/>
          </a:p>
        </p:txBody>
      </p:sp>
      <p:sp>
        <p:nvSpPr>
          <p:cNvPr id="14" name="Text 12"/>
          <p:cNvSpPr/>
          <p:nvPr>
            <p:custDataLst>
              <p:tags r:id="rId6"/>
            </p:custDataLst>
          </p:nvPr>
        </p:nvSpPr>
        <p:spPr>
          <a:xfrm>
            <a:off x="1234440" y="3950208"/>
            <a:ext cx="8046720" cy="274320"/>
          </a:xfrm>
          <a:prstGeom prst="rect">
            <a:avLst/>
          </a:prstGeom>
          <a:noFill/>
        </p:spPr>
        <p:txBody>
          <a:bodyPr wrap="square" lIns="0" tIns="0" rIns="0" bIns="0" rtlCol="0" anchor="ctr"/>
          <a:lstStyle/>
          <a:p>
            <a:pPr marL="0" indent="0">
              <a:buNone/>
            </a:pPr>
            <a:r>
              <a:rPr lang="en-US" sz="2400" dirty="0">
                <a:latin typeface="Aptos" pitchFamily="34" charset="0"/>
                <a:ea typeface="Aptos" pitchFamily="34" charset="-122"/>
                <a:cs typeface="Aptos" pitchFamily="34" charset="-120"/>
              </a:rPr>
              <a:t>Minimax-optimal convergence plus PR-enhanced stability</a:t>
            </a:r>
          </a:p>
        </p:txBody>
      </p:sp>
      <p:sp>
        <p:nvSpPr>
          <p:cNvPr id="16" name="Text 14"/>
          <p:cNvSpPr/>
          <p:nvPr/>
        </p:nvSpPr>
        <p:spPr>
          <a:xfrm>
            <a:off x="11292840" y="6492240"/>
            <a:ext cx="411480" cy="210312"/>
          </a:xfrm>
          <a:prstGeom prst="rect">
            <a:avLst/>
          </a:prstGeom>
          <a:solidFill>
            <a:srgbClr val="FFFFFF"/>
          </a:solidFill>
          <a:ln>
            <a:solidFill>
              <a:srgbClr val="FFFFFF"/>
            </a:solidFill>
          </a:ln>
        </p:spPr>
        <p:txBody>
          <a:bodyPr wrap="square" lIns="0" tIns="0" rIns="0" bIns="0" rtlCol="0" anchor="ctr"/>
          <a:lstStyle/>
          <a:p>
            <a:pPr marL="0" indent="0" algn="ctr">
              <a:buNone/>
            </a:pPr>
            <a:r>
              <a:rPr lang="en-US" sz="880" b="1" dirty="0">
                <a:solidFill>
                  <a:srgbClr val="0B1F3A"/>
                </a:solidFill>
                <a:latin typeface="Aptos" pitchFamily="34" charset="0"/>
                <a:ea typeface="Aptos" pitchFamily="34" charset="-122"/>
                <a:cs typeface="Aptos" pitchFamily="34" charset="-120"/>
              </a:rPr>
              <a:t>17</a:t>
            </a:r>
            <a:endParaRPr lang="en-US" sz="880" dirty="0"/>
          </a:p>
        </p:txBody>
      </p:sp>
      <p:sp>
        <p:nvSpPr>
          <p:cNvPr id="15" name="TextBox 14">
            <a:extLst>
              <a:ext uri="{FF2B5EF4-FFF2-40B4-BE49-F238E27FC236}">
                <a16:creationId xmlns:a16="http://schemas.microsoft.com/office/drawing/2014/main" id="{999F29AA-F783-DB2A-AD71-1C1B86A0B7BD}"/>
              </a:ext>
            </a:extLst>
          </p:cNvPr>
          <p:cNvSpPr txBox="1"/>
          <p:nvPr/>
        </p:nvSpPr>
        <p:spPr>
          <a:xfrm>
            <a:off x="618684" y="5238742"/>
            <a:ext cx="10771731" cy="369332"/>
          </a:xfrm>
          <a:prstGeom prst="rect">
            <a:avLst/>
          </a:prstGeom>
          <a:noFill/>
        </p:spPr>
        <p:txBody>
          <a:bodyPr wrap="none" rtlCol="0">
            <a:spAutoFit/>
          </a:bodyPr>
          <a:lstStyle/>
          <a:p>
            <a:r>
              <a:rPr lang="en-CN" dirty="0"/>
              <a:t>For further detailed information, feel free to contact my former m.s. student Miao Pan 22351015@zju.edu.cn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01.36,&quot;left&quot;:39.6,&quot;top&quot;:123.44000000000001,&quot;width&quot;:846}"/>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13.84,&quot;left&quot;:57.6,&quot;top&quot;:111.6,&quot;width&quot;:794.1600000000001}"/>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76.7,&quot;left&quot;:74.25,&quot;top&quot;:142.9,&quot;width&quot;:846.8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60.xml><?xml version="1.0" encoding="utf-8"?>
<p:tagLst xmlns:a="http://schemas.openxmlformats.org/drawingml/2006/main" xmlns:r="http://schemas.openxmlformats.org/officeDocument/2006/relationships" xmlns:p="http://schemas.openxmlformats.org/presentationml/2006/main">
  <p:tag name="KSO_WM_DIAGRAM_VIRTUALLY_FRAME" val="{&quot;height&quot;:365.8,&quot;left&quot;:54,&quot;top&quot;:-95.8,&quot;width&quot;:883.8}"/>
</p:tagLst>
</file>

<file path=ppt/tags/tag61.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2.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3.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46.25,&quot;left&quot;:558,&quot;top&quot;:111.6,&quot;width&quot;:277.2}"/>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77.xml><?xml version="1.0" encoding="utf-8"?>
<p:tagLst xmlns:p="http://schemas.openxmlformats.org/presentationml/2006/main">
  <p:tag name="KSO_WM_DIAGRAM_VIRTUALLY_FRAME" val="{&quot;height&quot;:346.25,&quot;left&quot;:558,&quot;top&quot;:111.6,&quot;width&quot;:277.2}"/>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80.xml><?xml version="1.0" encoding="utf-8"?>
<p:tagLst xmlns:p="http://schemas.openxmlformats.org/presentationml/2006/main">
  <p:tag name="KSO_WM_DIAGRAM_VIRTUALLY_FRAME" val="{&quot;height&quot;:346.25,&quot;left&quot;:558,&quot;top&quot;:111.6,&quot;width&quot;:277.2}"/>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83.xml><?xml version="1.0" encoding="utf-8"?>
<p:tagLst xmlns:p="http://schemas.openxmlformats.org/presentationml/2006/main">
  <p:tag name="KSO_WM_DIAGRAM_VIRTUALLY_FRAME" val="{&quot;height&quot;:346.25,&quot;left&quot;:558,&quot;top&quot;:111.6,&quot;width&quot;:277.2}"/>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59.45,&quot;left&quot;:558,&quot;top&quot;:111.6,&quot;width&quot;:334.2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86.xml><?xml version="1.0" encoding="utf-8"?>
<p:tagLst xmlns:p="http://schemas.openxmlformats.org/presentationml/2006/main">
  <p:tag name="KSO_WM_DIAGRAM_VIRTUALLY_FRAME" val="{&quot;height&quot;:346.25,&quot;left&quot;:558,&quot;top&quot;:111.6,&quot;width&quot;:277.2}"/>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89.xml><?xml version="1.0" encoding="utf-8"?>
<p:tagLst xmlns:p="http://schemas.openxmlformats.org/presentationml/2006/main">
  <p:tag name="KSO_WM_DIAGRAM_VIRTUALLY_FRAME" val="{&quot;height&quot;:346.25,&quot;left&quot;:558,&quot;top&quot;:111.6,&quot;width&quot;:277.2}"/>
</p:tagLst>
</file>

<file path=ppt/tags/tag90.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92.xml><?xml version="1.0" encoding="utf-8"?>
<p:tagLst xmlns:p="http://schemas.openxmlformats.org/presentationml/2006/main">
  <p:tag name="KSO_WM_DIAGRAM_VIRTUALLY_FRAME" val="{&quot;height&quot;:346.25,&quot;left&quot;:558,&quot;top&quot;:111.6,&quot;width&quot;:277.2}"/>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87.15,&quot;left&quot;:558,&quot;top&quot;:111.6,&quot;width&quot;:284.2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54.65,&quot;left&quot;:558,&quot;top&quot;:111.6,&quot;width&quot;:399.9}"/>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08.xml><?xml version="1.0" encoding="utf-8"?>
<p:tagLst xmlns:p="http://schemas.openxmlformats.org/presentationml/2006/main">
  <p:tag name="KSO_WM_DIAGRAM_VIRTUALLY_FRAME" val="{&quot;height&quot;:387.15,&quot;left&quot;:558,&quot;top&quot;:111.6,&quot;width&quot;:284.25}"/>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18.xml><?xml version="1.0" encoding="utf-8"?>
<p:tagLst xmlns:p="http://schemas.openxmlformats.org/presentationml/2006/main">
  <p:tag name="KSO_WM_DIAGRAM_VIRTUALLY_FRAME" val="{&quot;height&quot;:354.65,&quot;left&quot;:558,&quot;top&quot;:111.6,&quot;width&quot;:399.9}"/>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218.16000000000003,&quot;left&quot;:59.04,&quot;top&quot;:118.8,&quot;width&quot;:786.24}"/>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110.88000000000002,&quot;left&quot;:72,&quot;top&quot;:221.76,&quot;width&quot;:658.8}"/>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110.88000000000002,&quot;left&quot;:72,&quot;top&quot;:221.76,&quot;width&quot;:658.8}"/>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110.88000000000002,&quot;left&quot;:72,&quot;top&quot;:221.76,&quot;width&quot;:658.8}"/>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110.88000000000002,&quot;left&quot;:72,&quot;top&quot;:221.76,&quot;width&quot;:658.8}"/>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110.88000000000002,&quot;left&quot;:72,&quot;top&quot;:221.76,&quot;width&quot;:658.8}"/>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110.88000000000002,&quot;left&quot;:72,&quot;top&quot;:221.76,&quot;width&quot;:658.8}"/>
</p:tagLst>
</file>

<file path=ppt/tags/tag128.xml><?xml version="1.0" encoding="utf-8"?>
<p:tagLst xmlns:p="http://schemas.openxmlformats.org/presentationml/2006/main">
  <p:tag name="KSO_WM_DIAGRAM_VIRTUALLY_FRAME" val="{&quot;height&quot;:218.16000000000003,&quot;left&quot;:59.04,&quot;top&quot;:118.8,&quot;width&quot;:786.2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TotalTime>
  <Words>3323</Words>
  <Application>Microsoft Macintosh PowerPoint</Application>
  <PresentationFormat>Widescreen</PresentationFormat>
  <Paragraphs>235</Paragraphs>
  <Slides>16</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Aptos</vt:lpstr>
      <vt:lpstr>Aptos Display</vt:lpstr>
      <vt:lpstr>Arial</vt:lpstr>
      <vt:lpstr>Cambria Math</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Regret-Optimal and Stability-Enhanced Online Sampling</dc:title>
  <dc:subject>INFOCOM 2026 presentation</dc:subject>
  <dc:creator>OpenAI</dc:creator>
  <cp:lastModifiedBy>13957897451@163.com</cp:lastModifiedBy>
  <cp:revision>68</cp:revision>
  <dcterms:created xsi:type="dcterms:W3CDTF">2026-05-04T11:55:00Z</dcterms:created>
  <dcterms:modified xsi:type="dcterms:W3CDTF">2026-05-19T07:49:56Z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97344977311C4FEB9DA4BD563E352341_12</vt:lpwstr>
  </property>
  <property fmtid="{D5CDD505-2E9C-101B-9397-08002B2CF9AE}" pid="3" name="KSOProductBuildVer">
    <vt:lpwstr>2052-12.1.0.23542</vt:lpwstr>
  </property>
</Properties>
</file>